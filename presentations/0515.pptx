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84" r:id="rId2"/>
    <p:sldMasterId id="2147483696" r:id="rId3"/>
  </p:sldMasterIdLst>
  <p:notesMasterIdLst>
    <p:notesMasterId r:id="rId19"/>
  </p:notesMasterIdLst>
  <p:sldIdLst>
    <p:sldId id="266" r:id="rId4"/>
    <p:sldId id="279" r:id="rId5"/>
    <p:sldId id="267" r:id="rId6"/>
    <p:sldId id="268" r:id="rId7"/>
    <p:sldId id="269" r:id="rId8"/>
    <p:sldId id="280" r:id="rId9"/>
    <p:sldId id="270" r:id="rId10"/>
    <p:sldId id="271" r:id="rId11"/>
    <p:sldId id="283" r:id="rId12"/>
    <p:sldId id="282" r:id="rId13"/>
    <p:sldId id="281" r:id="rId14"/>
    <p:sldId id="275" r:id="rId15"/>
    <p:sldId id="285" r:id="rId16"/>
    <p:sldId id="284" r:id="rId17"/>
    <p:sldId id="278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2A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14"/>
    <p:restoredTop sz="71712"/>
  </p:normalViewPr>
  <p:slideViewPr>
    <p:cSldViewPr snapToGrid="0" showGuides="1">
      <p:cViewPr>
        <p:scale>
          <a:sx n="75" d="100"/>
          <a:sy n="75" d="100"/>
        </p:scale>
        <p:origin x="1768" y="472"/>
      </p:cViewPr>
      <p:guideLst>
        <p:guide orient="horz" pos="2160"/>
        <p:guide pos="39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49FB0D-D056-F141-AC25-247FA2CB7DF1}" type="datetimeFigureOut">
              <a:rPr kumimoji="1" lang="ko-KR" altLang="en-US" smtClean="0"/>
              <a:t>2026. 5. 21.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0053CD-2273-D24D-9F1E-9DD2E143991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05240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저는 </a:t>
            </a:r>
            <a:r>
              <a:rPr kumimoji="1" lang="en-US" altLang="ko-KR" dirty="0" err="1"/>
              <a:t>etf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기존과 다른 방식으로 </a:t>
            </a:r>
            <a:r>
              <a:rPr kumimoji="1" lang="ko-KR" altLang="en-US" dirty="0" err="1"/>
              <a:t>자산배분하는</a:t>
            </a:r>
            <a:r>
              <a:rPr kumimoji="1" lang="ko-KR" altLang="en-US" dirty="0"/>
              <a:t> 전략을 해봤습니다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053CD-2273-D24D-9F1E-9DD2E1439919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63498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053CD-2273-D24D-9F1E-9DD2E1439919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846081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우선 저는 컨센서스 데이터를 활용하여 자산배분을 해보려 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실제 증권사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퀀트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리포트에서도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보시다시피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목표가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변화같은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컨센서스 기반 데이터를 종목 선택 신호로 사용하기 때문입니다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광범위한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ETF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 반도체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ETF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밸류에이션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글로벌 사이클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기술 경쟁 등 여러 요인이 섞여 있는 반면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전력설비는 가시적인 경로를 가지고 있기 때문에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컨센서스 신호를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사용하는데에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적합하다고 판단했습니다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053CD-2273-D24D-9F1E-9DD2E1439919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46854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전략을 만들기 전에 먼저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ETF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복제하는 과정을 거쳤습니다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이유는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ETF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이미 담고 있는 종목 안에서 기존과 다른 자산배분을 해보는 것이기 때문입니다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먼저 이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ETF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추종하는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iSelect AI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전력핵심설비 지수의 방법론을 확인했습니다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방법론상 최종 비중은 유동시가총액 가중 방식이고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개별 종목에는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20%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ceiling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제약이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적용되는것을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확인한 후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KRX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데이터마켓에서 수집한 실제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ETF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일별 구성종목과 비중 데이터를 사용했습니다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 replication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포트폴리오를 만들었고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이것을 최종 전략의 벤치마크로 설정했습니다 같은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ETF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구성종목 안에서 기존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비중보다 더 나은 자산배분을 할 수 있는지 확인하기 위해서 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053CD-2273-D24D-9F1E-9DD2E1439919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718283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KRX PDF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데이터는 실제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etf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종목과 비중으로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벤치마크만드는데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사용하였습니다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번째로 데이터 가이드의 수정주가와 거래대금을 사용했습니다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수정주가는 종목별 일간 수익률을 계산하는 데 사용했고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최적화에서 필요한 공분산 행렬도 수정주가 수익률로 추정했습니다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거래대금은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capacity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점검하는 데 사용했습니다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번째로 컨센서스 데이터를 사용했습니다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2024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부터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2027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까지의 결산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EPS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컨센서스를 가져왔고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 다음 연도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거래일 변화율을 만들었습니다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목표주가 괴리율과 투자의견 포인트를 사용했습니다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세 데이터는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계산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하는데에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사용하였고 각각 이익 전망 변화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애널리스트가 보는 상승 여력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투자의견의 방향성을 나타냅니다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분석 기간은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일부터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2026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일까지입니다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최적화 할 때 사용할 공분산은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리밸런싱일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거래일의 수정주가 수익률을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롤링하여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추정했습니다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capacity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분석은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리밸런싱일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거래일 평균 거래대금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 ADV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기준으로 계산했습니다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053CD-2273-D24D-9F1E-9DD2E1439919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586069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미래편향을 방지하기 위해 </a:t>
            </a:r>
            <a:r>
              <a:rPr kumimoji="1" lang="ko-KR" altLang="en-US" dirty="0" err="1"/>
              <a:t>벡테스트를</a:t>
            </a:r>
            <a:r>
              <a:rPr kumimoji="1" lang="ko-KR" altLang="en-US" dirty="0"/>
              <a:t> 진행할 때 실제로 종목이 편입되기 전에는 비중을 </a:t>
            </a:r>
            <a:r>
              <a:rPr kumimoji="1" lang="en-US" altLang="ko-KR" dirty="0"/>
              <a:t>0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하고 점수를 적용하였습니다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이 </a:t>
            </a:r>
            <a:r>
              <a:rPr kumimoji="1" lang="ko-KR" altLang="en-US" dirty="0" err="1"/>
              <a:t>히트맵은</a:t>
            </a:r>
            <a:r>
              <a:rPr kumimoji="1" lang="ko-KR" altLang="en-US" dirty="0"/>
              <a:t> 최종 전략 비중에서 </a:t>
            </a:r>
            <a:r>
              <a:rPr kumimoji="1" lang="en" altLang="ko-KR" dirty="0"/>
              <a:t>PDF </a:t>
            </a:r>
            <a:r>
              <a:rPr kumimoji="1" lang="ko-KR" altLang="en-US" dirty="0"/>
              <a:t>비중을 뺀 </a:t>
            </a:r>
            <a:r>
              <a:rPr kumimoji="1" lang="en" altLang="ko-KR" dirty="0"/>
              <a:t>active weight</a:t>
            </a:r>
            <a:r>
              <a:rPr kumimoji="1" lang="ko-KR" altLang="en-US" dirty="0"/>
              <a:t>입니다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붉은색은 </a:t>
            </a:r>
            <a:r>
              <a:rPr kumimoji="1" lang="en" altLang="ko-KR" dirty="0"/>
              <a:t>ETF</a:t>
            </a:r>
            <a:r>
              <a:rPr kumimoji="1" lang="ko-KR" altLang="en-US" dirty="0"/>
              <a:t>보다 더 담은 종목</a:t>
            </a:r>
            <a:r>
              <a:rPr kumimoji="1" lang="en-US" altLang="ko-KR" dirty="0"/>
              <a:t>, </a:t>
            </a:r>
            <a:r>
              <a:rPr kumimoji="1" lang="ko-KR" altLang="en-US" dirty="0"/>
              <a:t>푸른색은 덜 담은 종목입니다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보시면 편입되기 전에는 비중변화가 보이지 않는 것을 볼 수 있습니다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053CD-2273-D24D-9F1E-9DD2E1439919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301004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최종 전략에서 사용하는 점수는 세 가지 신호를 동일가중으로 합친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Consensus Score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번째는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EPS revision 1M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이는 최근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거래일 동안 다음 연도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EPS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컨센서스가 얼마나 변했는지를 보는 지표입니다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(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전력설비 기업은 수주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마진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실적 기대가 바뀌면 애널리스트의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EPS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추정치에 반영될 수 있기 때문에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최근 이익 전망이 상향되는 종목을 선호하는 신호로 사용했습니다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번째는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 upside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이는 목표주가와 현재가의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괴리율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애널리스트가 보는 상승 여력을 의미합니다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(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단순히 가격이 많이 오른 종목을 따라가는 것이 아니라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주가 대비 목표주가가 얼마나 위에 있는지를 통해 애널리스트의 가격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센티멘트를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반영했습니다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번째는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Rating point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투자의견 점수입니다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점수가 높을수록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Buy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의견을 의미합니다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세 신호는 단위가 다르므로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날짜의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ETF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구성종목 안에서 각각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z-score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표준화한 뒤 합쳤습니다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가중치는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씩 동일가중으로 두었습니다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이유는 세 신호의 주간 평균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모두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0.04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0.05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수준으로 비슷했기 때문입니다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053CD-2273-D24D-9F1E-9DD2E1439919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217441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다음으로는 제가 만든 세 신호가 실제로 다음 수익률과 어느 정도 관련이 있는지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점수를 확인해 보았습니다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Information Coefficient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약자입니다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리밸런싱일에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계산한 종목별 점수 순위와 다음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리밸런싱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구간의 실제 수익률 순위가 얼마나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비슷한지를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보는 지표입니다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양수이면 계산한 순위와 다음구간 실제 순위가 비슷했다는 뜻입니다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결과를 보면 세 개의 단일 신호는 모두 평균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0.04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0.05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정도로 양수였습니다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오른쪽 아래에 넣은 표는 삼성증권 리포트의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팩터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검증 예시입니다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리포트도 저와 마찬가지로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팩터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점수와 이후 수익률의 관계를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검증하고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이 자료는 증권사에서도 이런 방식으로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팩터의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예측력을 확인한다는 방법론적 참고 근거로 넣었습니다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053CD-2273-D24D-9F1E-9DD2E1439919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736552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운용 파라미터와 비용 가정입니다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운용 파라미터는 컨센서스 변화 포착과 거래비용 통제 사이의 절충으로 설정했습니다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i="0" dirty="0"/>
            </a:b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리밸런싱은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주간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트레킹 에러 허용은 연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20%,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개별 최대비중은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50%,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one-way turnover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30%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제한했습니다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i="0" dirty="0"/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공분산은 직전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거래일 수익률로 추정하고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30%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shrinkage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적용해 테마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ETF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불안정한 공분산 추정을 완화했습니다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i="0" dirty="0"/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비용은 수수료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슬리피지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매도세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펀드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총보수ㆍ비용을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모두 반영했습니다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비용 반영 후에도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대비 초과성과가 유지되었습니다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kumimoji="1" lang="ko-KR" altLang="en-US" i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053CD-2273-D24D-9F1E-9DD2E1439919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30340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Consensus Score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실제 포트폴리오 비중으로 바꾸는 단계입니다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함수는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ETF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실제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비중을 기준으로 얼마나 더 담고 덜 담을지를 정합니다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비중이 아니라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대비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active weight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최적화했습니다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목적함수는 세 부분으로 나눌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 항은 점수 방향 노출입니다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Consensus Score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높은 종목을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보다 더 담고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점수가 낮은 종목을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보다 덜 담으면 이 값이 커집니다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 항은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active risk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패널티입니다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전략 비중에서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비중을 뺀 값이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active weight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active weight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공분산 행렬을 적용하면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대비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active return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분산을 계산할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값이 커질수록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ETF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벤치마크와 다르게 움직이는 위험이 커지기 때문에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패널티를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줍니다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루트르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씌우면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TE)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번째 항은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turnover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패널티입니다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.(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비중변화제곱의합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이번 비중이 직전 비중과 너무 많이 달라지면 거래비용과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슬리피지가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커질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비중 변화가 과도하지 않도록 마이너스항을 넣었습니다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제약조건도 함께 둡니다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현금을 남기지 않고 전액 투자하였고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long-only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로 하였습니다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또 한 종목에 너무 쏠리지 않도록 개별 종목 최대비중을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50%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제한하였고 종목이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아예빠지는것을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방지하기 위해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프로이상 보유 제약조건을 걸었습니다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tracking error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20%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이하로 제한했고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리밸런싱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시점에 과거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거래일 공분산으로 추정한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대비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active risk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앞으로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ETF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너무 다르게 움직일 가능성을 일정 수준 안으로 제한한 것입니다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</a:t>
            </a:r>
          </a:p>
          <a:p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one-way turnover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30%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이하로 제한했습니다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053CD-2273-D24D-9F1E-9DD2E1439919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81123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적용하기 전과 후를 비교한 결과입니다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최적화 적용 전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전략을 보면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대비 초과성과가 있었고 이는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Consensus Score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자체에도 정보가 있었다는 뜻으로 볼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최적화를 적용하면 비슷한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risk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더 나은 성과를 보여줍니다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IR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information ratio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약자로 ‘벤치마크에서 다르게 움직인 위험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단위당 얼마나 성과를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냈는가’를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보여줍니다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비슷한 변동성 수준에서 성과들이 모두 개선됨을 확인할 수 있었습니다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053CD-2273-D24D-9F1E-9DD2E1439919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902161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성과가 좋아도 실제로 운용 가능한 전략인지 확인해야 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capacity,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이 전략이 어느 정도 자금 규모까지 시장 충격 없이 운용 가능한지를 점검했습니다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평균 거래대금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 ADV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기준으로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capacity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계산했습니다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평균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일일 거래대금을 의미합니다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특히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LS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마린솔루션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에코에너지 같은 종목은 상대적으로 거래대금이 작기 때문에 병목으로 작용하였고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일분할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매매 방식을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적용할경우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기준값은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99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억으로 나왔습니다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</a:t>
            </a:r>
          </a:p>
          <a:p>
            <a:r>
              <a:rPr lang="ko-KR" altLang="en-US" dirty="0"/>
              <a:t>순서를 다시 정리하면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매 </a:t>
            </a:r>
            <a:r>
              <a:rPr lang="ko-KR" altLang="en-US" dirty="0" err="1"/>
              <a:t>리밸런싱일마다</a:t>
            </a:r>
            <a:r>
              <a:rPr lang="ko-KR" altLang="en-US" dirty="0"/>
              <a:t> 이 공식으로 종목별 </a:t>
            </a:r>
            <a:r>
              <a:rPr lang="en" altLang="ko-KR" dirty="0"/>
              <a:t>capacity </a:t>
            </a:r>
            <a:r>
              <a:rPr lang="ko-KR" altLang="en-US" dirty="0"/>
              <a:t>계산</a:t>
            </a:r>
          </a:p>
          <a:p>
            <a:r>
              <a:rPr lang="ko-KR" altLang="en-US" dirty="0"/>
              <a:t>그날 전략 </a:t>
            </a:r>
            <a:r>
              <a:rPr lang="en" altLang="ko-KR" dirty="0"/>
              <a:t>capacity = </a:t>
            </a:r>
            <a:r>
              <a:rPr lang="ko-KR" altLang="en-US" dirty="0"/>
              <a:t>종목별 중 최솟값</a:t>
            </a:r>
          </a:p>
          <a:p>
            <a:r>
              <a:rPr lang="ko-KR" altLang="en-US" dirty="0"/>
              <a:t>백테스트 전체 기간 동안 이걸 반복 → </a:t>
            </a:r>
            <a:r>
              <a:rPr lang="en" altLang="ko-KR" dirty="0"/>
              <a:t>capacity </a:t>
            </a:r>
            <a:r>
              <a:rPr lang="ko-KR" altLang="en-US" dirty="0"/>
              <a:t>시계열 완성</a:t>
            </a:r>
          </a:p>
          <a:p>
            <a:r>
              <a:rPr lang="ko-KR" altLang="en-US" b="1" dirty="0"/>
              <a:t>그 시계열의 하위 </a:t>
            </a:r>
            <a:r>
              <a:rPr lang="en-US" altLang="ko-KR" b="1" dirty="0"/>
              <a:t>5% = </a:t>
            </a:r>
            <a:r>
              <a:rPr lang="en" altLang="ko-KR" b="1" dirty="0"/>
              <a:t>p05 capacity</a:t>
            </a:r>
            <a:endParaRPr lang="en" altLang="ko-KR" dirty="0"/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053CD-2273-D24D-9F1E-9DD2E1439919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278730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추가로 고정 </a:t>
            </a:r>
            <a:r>
              <a:rPr kumimoji="1" lang="ko-KR" altLang="en-US" dirty="0" err="1"/>
              <a:t>슬리피지</a:t>
            </a:r>
            <a:r>
              <a:rPr kumimoji="1" lang="ko-KR" altLang="en-US" dirty="0"/>
              <a:t> </a:t>
            </a:r>
            <a:r>
              <a:rPr kumimoji="1" lang="en-US" altLang="ko-KR" dirty="0"/>
              <a:t>3</a:t>
            </a:r>
            <a:r>
              <a:rPr kumimoji="1" lang="en" altLang="ko-KR" dirty="0"/>
              <a:t>bp </a:t>
            </a:r>
            <a:r>
              <a:rPr kumimoji="1" lang="ko-KR" altLang="en-US" dirty="0"/>
              <a:t>가정이 너무 낙관적일 수 있어서</a:t>
            </a:r>
            <a:r>
              <a:rPr kumimoji="1" lang="en-US" altLang="ko-KR" dirty="0"/>
              <a:t>, 20</a:t>
            </a:r>
            <a:r>
              <a:rPr kumimoji="1" lang="ko-KR" altLang="en-US" dirty="0"/>
              <a:t>일 평균 거래대금 대비 주문 참여율에 따라 </a:t>
            </a:r>
            <a:r>
              <a:rPr kumimoji="1" lang="ko-KR" altLang="en-US" dirty="0" err="1"/>
              <a:t>슬리피지가</a:t>
            </a:r>
            <a:r>
              <a:rPr kumimoji="1" lang="ko-KR" altLang="en-US" dirty="0"/>
              <a:t> 커지는 동적 비용 시나리오를 적용했습니다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이는 전략 자체를 다시 최적화한 것이 아니라</a:t>
            </a:r>
            <a:r>
              <a:rPr kumimoji="1" lang="en-US" altLang="ko-KR" dirty="0"/>
              <a:t>, </a:t>
            </a:r>
            <a:r>
              <a:rPr kumimoji="1" lang="ko-KR" altLang="en-US" dirty="0"/>
              <a:t>동일한 비중 경로에 더 보수적인 체결비용을 얹어 본 거래비용 강건성 검증입니다</a:t>
            </a:r>
            <a:r>
              <a:rPr kumimoji="1" lang="en-US" altLang="ko-KR" dirty="0"/>
              <a:t> 100</a:t>
            </a:r>
            <a:r>
              <a:rPr kumimoji="1" lang="ko-KR" altLang="en-US" dirty="0"/>
              <a:t>억 원 운용</a:t>
            </a:r>
            <a:r>
              <a:rPr kumimoji="1" lang="en-US" altLang="ko-KR" dirty="0"/>
              <a:t>, 3</a:t>
            </a:r>
            <a:r>
              <a:rPr kumimoji="1" lang="ko-KR" altLang="en-US" dirty="0"/>
              <a:t>일 분할 체결</a:t>
            </a:r>
            <a:r>
              <a:rPr kumimoji="1" lang="en-US" altLang="ko-KR" dirty="0"/>
              <a:t>, ADV </a:t>
            </a:r>
            <a:r>
              <a:rPr kumimoji="1" lang="ko-KR" altLang="en-US" dirty="0"/>
              <a:t>참여율 기반 시장충격 비용을 반영해도 </a:t>
            </a:r>
            <a:r>
              <a:rPr kumimoji="1" lang="en-US" altLang="ko-KR" dirty="0"/>
              <a:t>PDF </a:t>
            </a:r>
            <a:r>
              <a:rPr kumimoji="1" lang="ko-KR" altLang="en-US" dirty="0"/>
              <a:t>대비 초과성과는 유지되었습니다</a:t>
            </a:r>
            <a:r>
              <a:rPr kumimoji="1" lang="en-US" altLang="ko-KR" dirty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예시 설명</a:t>
            </a:r>
            <a:r>
              <a:rPr kumimoji="1" lang="en-US" altLang="ko-KR" dirty="0"/>
              <a:t>: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억 원 전략에서 어떤 종목 비중을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15%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늘리면 총 주문금액은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억 원입니다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이걸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일에 나눠 체결한다고 두면 하루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억 원이고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종목의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억 원이면 하루 참여율은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5%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kumimoji="1" lang="en-US" altLang="ko-KR" dirty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참여율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5%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에서는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bp × sqrt(0.05)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약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11.18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bp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추가되고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총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슬리피지는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bp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더해서 약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14.18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bp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 50bp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동적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슬리피지의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상한입니다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100%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참여했을 때 추가되는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슬리피지를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50bp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가정했다는 의미입니다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053CD-2273-D24D-9F1E-9DD2E1439919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722695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최종 전략이 운 좋게 그 날짜 순서에만 맞춘 건 아닌지를 두 가지 방법으로 점검했습니다</a:t>
            </a:r>
            <a:r>
              <a:rPr kumimoji="1" lang="en-US" altLang="ko-KR" dirty="0"/>
              <a:t>.</a:t>
            </a:r>
          </a:p>
          <a:p>
            <a:pPr marL="228600" indent="-228600">
              <a:buAutoNum type="arabicParenR"/>
            </a:pPr>
            <a:r>
              <a:rPr kumimoji="1" lang="en" altLang="ko-KR" dirty="0"/>
              <a:t>Block bootstrap</a:t>
            </a:r>
            <a:r>
              <a:rPr kumimoji="1" lang="ko-KR" altLang="en-US" dirty="0"/>
              <a:t> 방식은</a:t>
            </a:r>
            <a:r>
              <a:rPr kumimoji="1" lang="en" altLang="ko-KR" dirty="0"/>
              <a:t> </a:t>
            </a:r>
            <a:r>
              <a:rPr kumimoji="1" lang="ko-KR" altLang="en-US" dirty="0"/>
              <a:t>과거 </a:t>
            </a:r>
            <a:r>
              <a:rPr kumimoji="1" lang="en-US" altLang="ko-KR" dirty="0"/>
              <a:t>1</a:t>
            </a:r>
            <a:r>
              <a:rPr kumimoji="1" lang="ko-KR" altLang="en-US" dirty="0"/>
              <a:t>주 단위 수익률 조각을 다시 섞어 </a:t>
            </a:r>
            <a:r>
              <a:rPr kumimoji="1" lang="en-US" altLang="ko-KR" dirty="0"/>
              <a:t>2,000</a:t>
            </a:r>
            <a:r>
              <a:rPr kumimoji="1" lang="ko-KR" altLang="en-US" dirty="0"/>
              <a:t>개 경로를 만듭니다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전략</a:t>
            </a:r>
            <a:r>
              <a:rPr kumimoji="1" lang="en-US" altLang="ko-KR" dirty="0"/>
              <a:t>·</a:t>
            </a:r>
            <a:r>
              <a:rPr kumimoji="1" lang="en" altLang="ko-KR" dirty="0"/>
              <a:t>PDF </a:t>
            </a:r>
            <a:r>
              <a:rPr kumimoji="1" lang="ko-KR" altLang="en-US" dirty="0"/>
              <a:t>수익률은 같은 날짜 쌍으로 묶어 함께 뽑아서 상관관계는 보존합니다</a:t>
            </a:r>
            <a:r>
              <a:rPr kumimoji="1" lang="en-US" altLang="ko-KR" dirty="0"/>
              <a:t>.</a:t>
            </a:r>
          </a:p>
          <a:p>
            <a:pPr marL="228600" indent="-228600">
              <a:buAutoNum type="arabicParenR"/>
            </a:pPr>
            <a:r>
              <a:rPr kumimoji="1" lang="en" altLang="ko-KR" dirty="0"/>
              <a:t>Monte Carlo (Student-t) </a:t>
            </a:r>
            <a:r>
              <a:rPr kumimoji="1" lang="ko-KR" altLang="en-US" dirty="0"/>
              <a:t>방식은 </a:t>
            </a:r>
            <a:r>
              <a:rPr kumimoji="1" lang="en" altLang="ko-KR" dirty="0"/>
              <a:t>PDF</a:t>
            </a:r>
            <a:r>
              <a:rPr kumimoji="1" lang="ko-KR" altLang="en-US" dirty="0"/>
              <a:t>와 </a:t>
            </a:r>
            <a:r>
              <a:rPr kumimoji="1" lang="en" altLang="ko-KR" dirty="0"/>
              <a:t>active return</a:t>
            </a:r>
            <a:r>
              <a:rPr kumimoji="1" lang="ko-KR" altLang="en-US" dirty="0"/>
              <a:t>의 평균</a:t>
            </a:r>
            <a:r>
              <a:rPr kumimoji="1" lang="en-US" altLang="ko-KR" dirty="0"/>
              <a:t>·</a:t>
            </a:r>
            <a:r>
              <a:rPr kumimoji="1" lang="ko-KR" altLang="en-US" dirty="0"/>
              <a:t>공분산으로 새 가상 경로를 생성합니다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꼬리 두꺼운 분포를 써서 더 다양한 경로를 만들지만</a:t>
            </a:r>
            <a:r>
              <a:rPr kumimoji="1" lang="en-US" altLang="ko-KR" dirty="0"/>
              <a:t>, </a:t>
            </a:r>
            <a:r>
              <a:rPr kumimoji="1" lang="ko-KR" altLang="en-US" dirty="0"/>
              <a:t>분포 가정에 의존합니다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결과적으로 두 방법 모두 </a:t>
            </a:r>
            <a:r>
              <a:rPr kumimoji="1" lang="en-US" altLang="ko-KR" dirty="0"/>
              <a:t>2,000</a:t>
            </a:r>
            <a:r>
              <a:rPr kumimoji="1" lang="ko-KR" altLang="en-US" dirty="0"/>
              <a:t>개 경로 중 </a:t>
            </a:r>
            <a:r>
              <a:rPr kumimoji="1" lang="en-US" altLang="ko-KR" dirty="0"/>
              <a:t>86~88%</a:t>
            </a:r>
            <a:r>
              <a:rPr kumimoji="1" lang="ko-KR" altLang="en-US" dirty="0"/>
              <a:t>에서 </a:t>
            </a:r>
            <a:r>
              <a:rPr kumimoji="1" lang="en" altLang="ko-KR" dirty="0"/>
              <a:t>PDF </a:t>
            </a:r>
            <a:r>
              <a:rPr kumimoji="1" lang="ko-KR" altLang="en-US" dirty="0"/>
              <a:t>대비 초과성과 양수가 나왔습니다</a:t>
            </a:r>
            <a:r>
              <a:rPr kumimoji="1" lang="en-US" altLang="ko-KR" dirty="0"/>
              <a:t>. </a:t>
            </a:r>
            <a:r>
              <a:rPr kumimoji="1" lang="ko-KR" altLang="en-US" dirty="0" err="1"/>
              <a:t>컨센서스기반비중최적화전략이</a:t>
            </a:r>
            <a:r>
              <a:rPr kumimoji="1" lang="ko-KR" altLang="en-US" dirty="0"/>
              <a:t> 단일 경로에만 우연히 맞은 결과는 </a:t>
            </a:r>
            <a:r>
              <a:rPr kumimoji="1" lang="ko-KR" altLang="en-US" dirty="0" err="1"/>
              <a:t>아니다라는</a:t>
            </a:r>
            <a:r>
              <a:rPr kumimoji="1" lang="ko-KR" altLang="en-US" dirty="0"/>
              <a:t> 보조 근거로 볼 수 있습니다</a:t>
            </a:r>
            <a:r>
              <a:rPr kumimoji="1" lang="en-US" altLang="ko-KR" dirty="0"/>
              <a:t>.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053CD-2273-D24D-9F1E-9DD2E1439919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36874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A9E70F-BB18-0F76-387A-9E559D0A5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EEB3239-1BFA-6CD5-201E-1172F33D68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C866DB-07B4-A55B-2233-08C89B078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2026. 5. 21.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37B972-5CB8-256B-D3F4-21A2E4AFB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BDD27E-1AF3-8D07-D77D-03AC26DBC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13406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8D898F-EB6A-5CE9-AF32-464A0A9A2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54A126-228D-7E88-8FCC-003FE2BE5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BF6A9B-A113-AC99-A4D6-C940DB7F4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2026. 5. 21.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61AF4B-523B-92C5-F56E-C39A69FBE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611549-45B1-54B4-839A-E2115BA6E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15839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FA1F3E-5B49-FBD2-2503-E14B33EA0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FB0FA5-2FDC-E4B7-478E-C2C71F96D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DD23AE-62B2-F6C1-6DE9-73E5A42D5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2026. 5. 21.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4E0099-C8D8-F43B-1A8E-CB52510D7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8A135E-165A-B916-3C99-2F896A87B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63875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854E8B-C957-FC28-B1FC-6D49C9812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BCD3F1-1FAF-6C47-AEBC-656E60D212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523AA8-348E-9E83-5F39-37F17000E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075D9B-51BB-16CD-721B-C18E8076C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2026. 5. 21.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7A96EC-4EEC-72F5-750A-C5CC636B2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EC9987-674C-69D3-50AD-064FAEBBF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06459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56C96C-83DD-B0B6-87A4-6232F4978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F9E600-AFF5-154B-A522-981FBC10B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E5C67E5-A6D3-7698-54A1-AE7CF45841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436799-1B2E-E149-5E05-E22C11595E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2920609-54F2-87B3-64F8-D985285433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42741A9-07BA-D158-92A7-4D1BF989B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2026. 5. 21.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059D850-7E75-CDD4-8A5E-E4B397C59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46D2E97-6150-9502-639D-C7C9FFCD5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69627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E1F5E-33E2-6900-F0BD-1FF282FE8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0FD91D5-CE28-9B68-D6A2-8024CD684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2026. 5. 21.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B8709BB-C8F6-5C15-81FA-ED75D84B2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E3797AF-FAB1-0A11-898C-2F4123354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35975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2A7040F-40CA-3B55-10DF-86032322B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2026. 5. 21.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E61FC8B-5350-4973-7060-F74358BF9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90E7D0-EAC0-E751-1EC1-81A71AAD9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76110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7EBD92-920A-4DBD-0254-C055DE1A1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77598F-D867-D123-E37D-7CD266598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3D50FE4-8F64-7664-C322-4C930F5F76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2C95D1-ED0B-10BC-1172-3BDDB5338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2026. 5. 21.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AD23DE-E6ED-8E68-2ED8-94EA3583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38E339-D371-156F-143B-CE2B3D427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86845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B5F7C-BCC3-DF8B-C476-582498ACB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7B95FDB-DB13-AEAC-CD66-58FE0913C3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AA78F1-AA1A-BDCA-A502-987B8FC885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1F5F35-8959-B229-C8FE-37D55CBC1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2026. 5. 21.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D3A538-9E3A-BD4C-CC9A-5F316D426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9AD19E-AB5C-DE1B-4DBB-6752E65B2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08284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74B5B8-8E34-00E7-A255-DA7C054BE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B71F7D3-2AD3-958B-FF65-9F31E977BE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D0313F-6184-78AB-2CF2-B15532EA0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2026. 5. 21.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BC4045-7581-DEDE-A957-66C3B138B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254762-9D71-3560-3BEA-B9F76926D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0393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95DC0A9-B672-E632-A620-AA9CA57518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0E5AA4E-57DC-0C36-61E5-8F516AAF46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74BACC-26C9-028B-9B95-47CBE9CB0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2026. 5. 21.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8AEC1A-B531-C96C-C86E-44D68C029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3886FA-E271-6B73-E31A-78C0626C6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43590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2026. 5. 21.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69797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2026. 5. 21.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022509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2026. 5. 21.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566693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2026. 5. 21.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630805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2026. 5. 21.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942212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2026. 5. 21.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237733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2026. 5. 21.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054914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2026. 5. 21.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192577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2026. 5. 21.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673710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2026. 5. 21.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873464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2026. 5. 21.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820919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A9E70F-BB18-0F76-387A-9E559D0A5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EEB3239-1BFA-6CD5-201E-1172F33D68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C866DB-07B4-A55B-2233-08C89B078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2026. 5. 21.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37B972-5CB8-256B-D3F4-21A2E4AFB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BDD27E-1AF3-8D07-D77D-03AC26DBC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134060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8D898F-EB6A-5CE9-AF32-464A0A9A2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54A126-228D-7E88-8FCC-003FE2BE5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BF6A9B-A113-AC99-A4D6-C940DB7F4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2026. 5. 21.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61AF4B-523B-92C5-F56E-C39A69FBE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611549-45B1-54B4-839A-E2115BA6E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158391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FA1F3E-5B49-FBD2-2503-E14B33EA0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FB0FA5-2FDC-E4B7-478E-C2C71F96D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DD23AE-62B2-F6C1-6DE9-73E5A42D5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2026. 5. 21.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4E0099-C8D8-F43B-1A8E-CB52510D7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8A135E-165A-B916-3C99-2F896A87B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638750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854E8B-C957-FC28-B1FC-6D49C9812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BCD3F1-1FAF-6C47-AEBC-656E60D212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523AA8-348E-9E83-5F39-37F17000E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075D9B-51BB-16CD-721B-C18E8076C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2026. 5. 21.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7A96EC-4EEC-72F5-750A-C5CC636B2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EC9987-674C-69D3-50AD-064FAEBBF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064593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56C96C-83DD-B0B6-87A4-6232F4978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F9E600-AFF5-154B-A522-981FBC10B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E5C67E5-A6D3-7698-54A1-AE7CF45841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436799-1B2E-E149-5E05-E22C11595E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2920609-54F2-87B3-64F8-D985285433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42741A9-07BA-D158-92A7-4D1BF989B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2026. 5. 21.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059D850-7E75-CDD4-8A5E-E4B397C59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46D2E97-6150-9502-639D-C7C9FFCD5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696270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E1F5E-33E2-6900-F0BD-1FF282FE8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0FD91D5-CE28-9B68-D6A2-8024CD684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2026. 5. 21.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B8709BB-C8F6-5C15-81FA-ED75D84B2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E3797AF-FAB1-0A11-898C-2F4123354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359758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2A7040F-40CA-3B55-10DF-86032322B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2026. 5. 21.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E61FC8B-5350-4973-7060-F74358BF9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90E7D0-EAC0-E751-1EC1-81A71AAD9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761102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7EBD92-920A-4DBD-0254-C055DE1A1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77598F-D867-D123-E37D-7CD266598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3D50FE4-8F64-7664-C322-4C930F5F76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2C95D1-ED0B-10BC-1172-3BDDB5338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2026. 5. 21.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AD23DE-E6ED-8E68-2ED8-94EA3583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38E339-D371-156F-143B-CE2B3D427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868450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B5F7C-BCC3-DF8B-C476-582498ACB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7B95FDB-DB13-AEAC-CD66-58FE0913C3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AA78F1-AA1A-BDCA-A502-987B8FC885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1F5F35-8959-B229-C8FE-37D55CBC1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2026. 5. 21.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D3A538-9E3A-BD4C-CC9A-5F316D426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9AD19E-AB5C-DE1B-4DBB-6752E65B2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082848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74B5B8-8E34-00E7-A255-DA7C054BE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B71F7D3-2AD3-958B-FF65-9F31E977BE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D0313F-6184-78AB-2CF2-B15532EA0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2026. 5. 21.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BC4045-7581-DEDE-A957-66C3B138B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254762-9D71-3560-3BEA-B9F76926D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03933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95DC0A9-B672-E632-A620-AA9CA57518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0E5AA4E-57DC-0C36-61E5-8F516AAF46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74BACC-26C9-028B-9B95-47CBE9CB0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2026. 5. 21.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8AEC1A-B531-C96C-C86E-44D68C029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3886FA-E271-6B73-E31A-78C0626C6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43590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29B27C5-3382-8137-BD22-06EFA81C9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4C87DB-8169-495D-55AC-530659316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70951E-3796-938A-E993-0AF3980939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0C1918-1F87-CF40-934B-C222A50351F9}" type="datetimeFigureOut">
              <a:rPr kumimoji="1" lang="ko-KR" altLang="en-US" smtClean="0"/>
              <a:t>2026. 5. 21.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E54C45-E8BB-B439-3667-8806CC4C11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480365-823E-8E81-C28E-E6D87DC478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92742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0C1918-1F87-CF40-934B-C222A50351F9}" type="datetimeFigureOut">
              <a:rPr kumimoji="1" lang="ko-KR" altLang="en-US" smtClean="0"/>
              <a:t>2026. 5. 21.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83040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29B27C5-3382-8137-BD22-06EFA81C9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4C87DB-8169-495D-55AC-530659316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70951E-3796-938A-E993-0AF3980939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0C1918-1F87-CF40-934B-C222A50351F9}" type="datetimeFigureOut">
              <a:rPr kumimoji="1" lang="ko-KR" altLang="en-US" smtClean="0"/>
              <a:t>2026. 5. 21.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E54C45-E8BB-B439-3667-8806CC4C11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480365-823E-8E81-C28E-E6D87DC478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92742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eftBar">
            <a:extLst>
              <a:ext uri="{FF2B5EF4-FFF2-40B4-BE49-F238E27FC236}">
                <a16:creationId xmlns:a16="http://schemas.microsoft.com/office/drawing/2014/main" id="{1E3FC832-EAC2-C04E-A74B-822D84B1CD18}"/>
              </a:ext>
            </a:extLst>
          </p:cNvPr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A4A9FC2-F35A-9C0C-1030-BBA8C994BE9D}"/>
              </a:ext>
            </a:extLst>
          </p:cNvPr>
          <p:cNvSpPr/>
          <p:nvPr/>
        </p:nvSpPr>
        <p:spPr>
          <a:xfrm>
            <a:off x="9489057" y="0"/>
            <a:ext cx="2702943" cy="6858000"/>
          </a:xfrm>
          <a:prstGeom prst="rect">
            <a:avLst/>
          </a:prstGeom>
          <a:solidFill>
            <a:srgbClr val="982A2F">
              <a:lumMod val="40000"/>
              <a:lumOff val="6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2980029-09A5-C8D8-F1D9-07F369C07CEA}"/>
              </a:ext>
            </a:extLst>
          </p:cNvPr>
          <p:cNvSpPr/>
          <p:nvPr/>
        </p:nvSpPr>
        <p:spPr>
          <a:xfrm>
            <a:off x="9563819" y="0"/>
            <a:ext cx="2628181" cy="6858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F61261-E557-5BCC-12E4-AB4AC182AC25}"/>
              </a:ext>
            </a:extLst>
          </p:cNvPr>
          <p:cNvSpPr txBox="1"/>
          <p:nvPr/>
        </p:nvSpPr>
        <p:spPr>
          <a:xfrm rot="16200000">
            <a:off x="7649506" y="2459502"/>
            <a:ext cx="80075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0" b="1" dirty="0">
                <a:solidFill>
                  <a:prstClr val="white">
                    <a:alpha val="38000"/>
                  </a:prstClr>
                </a:solidFill>
                <a:latin typeface="Pretendard"/>
                <a:ea typeface="Noto Sans KR" panose="020B0200000000000000" pitchFamily="34" charset="-128"/>
              </a:rPr>
              <a:t>QUANTIFI</a:t>
            </a:r>
            <a:endParaRPr lang="ko-KR" altLang="en-US" sz="12000" b="1" dirty="0">
              <a:solidFill>
                <a:prstClr val="white">
                  <a:alpha val="38000"/>
                </a:prstClr>
              </a:solidFill>
              <a:latin typeface="Pretendard"/>
              <a:ea typeface="Noto Sans KR" panose="020B0200000000000000" pitchFamily="34" charset="-128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005A5F4-7107-DBE6-D16B-3E56DDB2D428}"/>
              </a:ext>
            </a:extLst>
          </p:cNvPr>
          <p:cNvSpPr/>
          <p:nvPr/>
        </p:nvSpPr>
        <p:spPr>
          <a:xfrm>
            <a:off x="782128" y="1380226"/>
            <a:ext cx="5313872" cy="753374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1" i="0" u="none" strike="noStrike" kern="0" cap="none" spc="0" normalizeH="0" baseline="0" noProof="0" dirty="0">
                <a:ln>
                  <a:noFill/>
                </a:ln>
                <a:solidFill>
                  <a:srgbClr val="982A2F"/>
                </a:solidFill>
                <a:effectLst/>
                <a:uLnTx/>
                <a:uFillTx/>
                <a:latin typeface="Noto Sans KR" panose="020B0200000000000000" pitchFamily="34" charset="-128"/>
                <a:ea typeface="Noto Sans KR" panose="020B0200000000000000" pitchFamily="34" charset="-128"/>
                <a:cs typeface="+mn-cs"/>
              </a:rPr>
              <a:t>2026</a:t>
            </a:r>
            <a:r>
              <a:rPr kumimoji="0" lang="ko-KR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982A2F"/>
                </a:solidFill>
                <a:effectLst/>
                <a:uLnTx/>
                <a:uFillTx/>
                <a:latin typeface="Noto Sans KR" panose="020B0200000000000000" pitchFamily="34" charset="-128"/>
                <a:ea typeface="Noto Sans KR" panose="020B0200000000000000" pitchFamily="34" charset="-128"/>
                <a:cs typeface="+mn-cs"/>
              </a:rPr>
              <a:t>년 개인 프로젝트</a:t>
            </a:r>
          </a:p>
        </p:txBody>
      </p:sp>
      <p:cxnSp>
        <p:nvCxnSpPr>
          <p:cNvPr id="33" name="직선 연결선 10">
            <a:extLst>
              <a:ext uri="{FF2B5EF4-FFF2-40B4-BE49-F238E27FC236}">
                <a16:creationId xmlns:a16="http://schemas.microsoft.com/office/drawing/2014/main" id="{9E8CBFDD-417D-A06E-E9B9-F652357D6BFE}"/>
              </a:ext>
            </a:extLst>
          </p:cNvPr>
          <p:cNvCxnSpPr>
            <a:cxnSpLocks/>
          </p:cNvCxnSpPr>
          <p:nvPr/>
        </p:nvCxnSpPr>
        <p:spPr>
          <a:xfrm>
            <a:off x="782128" y="3670663"/>
            <a:ext cx="7220311" cy="0"/>
          </a:xfrm>
          <a:prstGeom prst="line">
            <a:avLst/>
          </a:prstGeom>
          <a:noFill/>
          <a:ln w="28575" cap="flat" cmpd="sng" algn="ctr">
            <a:solidFill>
              <a:srgbClr val="E8E8E8">
                <a:lumMod val="90000"/>
              </a:srgbClr>
            </a:solidFill>
            <a:prstDash val="solid"/>
            <a:miter lim="800000"/>
          </a:ln>
          <a:effectLst/>
        </p:spPr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E1366B1-EC7E-0E8E-C033-54EAD8597991}"/>
              </a:ext>
            </a:extLst>
          </p:cNvPr>
          <p:cNvSpPr txBox="1"/>
          <p:nvPr/>
        </p:nvSpPr>
        <p:spPr>
          <a:xfrm>
            <a:off x="822386" y="5129363"/>
            <a:ext cx="1622560" cy="1179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982A2F"/>
                </a:solidFill>
                <a:latin typeface="Pretendard"/>
                <a:ea typeface="Pretendard"/>
              </a:rPr>
              <a:t>2026.05.22</a:t>
            </a:r>
          </a:p>
          <a:p>
            <a:pPr>
              <a:lnSpc>
                <a:spcPct val="200000"/>
              </a:lnSpc>
            </a:pPr>
            <a:r>
              <a:rPr lang="ko-KR" altLang="en-US" b="1" dirty="0">
                <a:solidFill>
                  <a:srgbClr val="E8E8E8">
                    <a:lumMod val="90000"/>
                  </a:srgbClr>
                </a:solidFill>
                <a:latin typeface="Pretendard"/>
                <a:ea typeface="Pretendard"/>
              </a:rPr>
              <a:t>류지연</a:t>
            </a:r>
            <a:endParaRPr lang="en-US" altLang="ko-KR" b="1" dirty="0">
              <a:solidFill>
                <a:srgbClr val="E8E8E8">
                  <a:lumMod val="90000"/>
                </a:srgbClr>
              </a:solidFill>
              <a:latin typeface="Pretendard"/>
              <a:ea typeface="Pretendard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889B7DB-49A9-E32C-723A-80F53B85A5E6}"/>
              </a:ext>
            </a:extLst>
          </p:cNvPr>
          <p:cNvSpPr/>
          <p:nvPr/>
        </p:nvSpPr>
        <p:spPr>
          <a:xfrm>
            <a:off x="782129" y="1380226"/>
            <a:ext cx="80514" cy="753374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37" name="Text 0">
            <a:extLst>
              <a:ext uri="{FF2B5EF4-FFF2-40B4-BE49-F238E27FC236}">
                <a16:creationId xmlns:a16="http://schemas.microsoft.com/office/drawing/2014/main" id="{D95134E6-30DA-F683-FCF5-2AF2274861F5}"/>
              </a:ext>
            </a:extLst>
          </p:cNvPr>
          <p:cNvSpPr/>
          <p:nvPr/>
        </p:nvSpPr>
        <p:spPr>
          <a:xfrm>
            <a:off x="955857" y="2757732"/>
            <a:ext cx="6898989" cy="842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KODEX </a:t>
            </a:r>
            <a:r>
              <a:rPr lang="en-US" sz="2850" b="1" dirty="0" err="1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AI전력핵심설비</a:t>
            </a:r>
            <a:r>
              <a:rPr lang="en-US" sz="2850" b="1" dirty="0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 ETF</a:t>
            </a:r>
          </a:p>
          <a:p>
            <a:pPr marL="0" indent="0" algn="l">
              <a:lnSpc>
                <a:spcPct val="96000"/>
              </a:lnSpc>
              <a:buNone/>
            </a:pPr>
            <a:r>
              <a:rPr lang="ko-KR" altLang="en-US" sz="2850" b="1" dirty="0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컨센서스 데이터</a:t>
            </a:r>
            <a:r>
              <a:rPr lang="en-US" sz="2850" b="1" dirty="0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 allocation </a:t>
            </a:r>
            <a:r>
              <a:rPr lang="ko-KR" altLang="en-US" sz="2850" b="1" dirty="0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최적화 </a:t>
            </a:r>
            <a:r>
              <a:rPr lang="en-US" sz="2850" b="1" dirty="0" err="1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전략</a:t>
            </a:r>
            <a:endParaRPr lang="en-US" sz="285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7132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A33362-D8A8-AF13-567E-882A2DD49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eftBar">
            <a:extLst>
              <a:ext uri="{FF2B5EF4-FFF2-40B4-BE49-F238E27FC236}">
                <a16:creationId xmlns:a16="http://schemas.microsoft.com/office/drawing/2014/main" id="{DD0DD046-05D6-8E70-E5D5-35A7FB0CC65D}"/>
              </a:ext>
            </a:extLst>
          </p:cNvPr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0C970EB-A64D-850B-F9A6-F025C67BDF23}"/>
              </a:ext>
            </a:extLst>
          </p:cNvPr>
          <p:cNvSpPr/>
          <p:nvPr/>
        </p:nvSpPr>
        <p:spPr>
          <a:xfrm>
            <a:off x="9489057" y="0"/>
            <a:ext cx="2702943" cy="6858000"/>
          </a:xfrm>
          <a:prstGeom prst="rect">
            <a:avLst/>
          </a:prstGeom>
          <a:solidFill>
            <a:srgbClr val="982A2F">
              <a:lumMod val="40000"/>
              <a:lumOff val="6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13DD29E-D1E4-818B-C8F3-DADF33AA5A4B}"/>
              </a:ext>
            </a:extLst>
          </p:cNvPr>
          <p:cNvSpPr/>
          <p:nvPr/>
        </p:nvSpPr>
        <p:spPr>
          <a:xfrm>
            <a:off x="9563819" y="0"/>
            <a:ext cx="2628181" cy="6858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7247BE-95DC-56A2-13F5-9F8A327A2988}"/>
              </a:ext>
            </a:extLst>
          </p:cNvPr>
          <p:cNvSpPr txBox="1"/>
          <p:nvPr/>
        </p:nvSpPr>
        <p:spPr>
          <a:xfrm rot="16200000">
            <a:off x="7649506" y="2459502"/>
            <a:ext cx="80075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0" b="1" dirty="0">
                <a:solidFill>
                  <a:prstClr val="white">
                    <a:alpha val="38000"/>
                  </a:prstClr>
                </a:solidFill>
                <a:latin typeface="Pretendard"/>
                <a:ea typeface="Noto Sans KR" panose="020B0200000000000000" pitchFamily="34" charset="-128"/>
              </a:rPr>
              <a:t>QUANTIFI</a:t>
            </a:r>
            <a:endParaRPr lang="ko-KR" altLang="en-US" sz="12000" b="1" dirty="0">
              <a:solidFill>
                <a:prstClr val="white">
                  <a:alpha val="38000"/>
                </a:prstClr>
              </a:solidFill>
              <a:latin typeface="Pretendard"/>
              <a:ea typeface="Noto Sans KR" panose="020B0200000000000000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CD9936-B301-401F-E31C-C39FA7F406F1}"/>
              </a:ext>
            </a:extLst>
          </p:cNvPr>
          <p:cNvSpPr txBox="1"/>
          <p:nvPr/>
        </p:nvSpPr>
        <p:spPr>
          <a:xfrm>
            <a:off x="512912" y="312908"/>
            <a:ext cx="19752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>
                <a:ln>
                  <a:noFill/>
                </a:ln>
                <a:solidFill>
                  <a:srgbClr val="982A2F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Contents</a:t>
            </a:r>
            <a:endParaRPr kumimoji="0" lang="ko-KR" altLang="en-US" sz="3200" b="1" i="0" u="none" strike="noStrike" kern="1200" cap="none" spc="0" normalizeH="0" baseline="0" noProof="0">
              <a:ln>
                <a:noFill/>
              </a:ln>
              <a:solidFill>
                <a:srgbClr val="982A2F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4EDC7E-B6BB-F604-2B08-6153A7513AF7}"/>
              </a:ext>
            </a:extLst>
          </p:cNvPr>
          <p:cNvSpPr txBox="1"/>
          <p:nvPr/>
        </p:nvSpPr>
        <p:spPr>
          <a:xfrm>
            <a:off x="1424871" y="1434998"/>
            <a:ext cx="29566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982A2F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ETF </a:t>
            </a:r>
            <a:r>
              <a:rPr lang="en-US" altLang="ko-KR" sz="2000" b="1" dirty="0">
                <a:solidFill>
                  <a:srgbClr val="982A2F"/>
                </a:solidFill>
                <a:latin typeface="Pretendard"/>
                <a:ea typeface="Pretendard"/>
              </a:rPr>
              <a:t>Replication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982A2F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BFE95C-4639-0F9A-E61A-03031C311A4A}"/>
              </a:ext>
            </a:extLst>
          </p:cNvPr>
          <p:cNvSpPr txBox="1"/>
          <p:nvPr/>
        </p:nvSpPr>
        <p:spPr>
          <a:xfrm>
            <a:off x="1424870" y="2416243"/>
            <a:ext cx="2888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dirty="0">
                <a:solidFill>
                  <a:srgbClr val="982A2F"/>
                </a:solidFill>
                <a:latin typeface="Pretendard"/>
                <a:ea typeface="Pretendard"/>
              </a:rPr>
              <a:t>Consensus Score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982A2F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F99DD7-0EF7-FF04-7B72-87F79E079B21}"/>
              </a:ext>
            </a:extLst>
          </p:cNvPr>
          <p:cNvSpPr txBox="1"/>
          <p:nvPr/>
        </p:nvSpPr>
        <p:spPr>
          <a:xfrm>
            <a:off x="1424871" y="4378735"/>
            <a:ext cx="12602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982A2F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Capacity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45E0D1F9-6DDE-0C54-D8A4-F8C494B33E4C}"/>
              </a:ext>
            </a:extLst>
          </p:cNvPr>
          <p:cNvGrpSpPr/>
          <p:nvPr/>
        </p:nvGrpSpPr>
        <p:grpSpPr>
          <a:xfrm>
            <a:off x="908036" y="1434998"/>
            <a:ext cx="654346" cy="3343847"/>
            <a:chOff x="6095998" y="1795217"/>
            <a:chExt cx="654346" cy="334384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FA3FD84-122F-BD0D-9AB5-5CD01CDABE04}"/>
                </a:ext>
              </a:extLst>
            </p:cNvPr>
            <p:cNvSpPr txBox="1"/>
            <p:nvPr/>
          </p:nvSpPr>
          <p:spPr>
            <a:xfrm>
              <a:off x="6096000" y="1795217"/>
              <a:ext cx="57784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"/>
                  <a:ea typeface="Pretendard"/>
                  <a:cs typeface="+mn-cs"/>
                </a:rPr>
                <a:t>01.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7F2E58A-70DC-58D2-7B75-2E2692EEC0E2}"/>
                </a:ext>
              </a:extLst>
            </p:cNvPr>
            <p:cNvSpPr txBox="1"/>
            <p:nvPr/>
          </p:nvSpPr>
          <p:spPr>
            <a:xfrm>
              <a:off x="6095999" y="2776463"/>
              <a:ext cx="5778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1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"/>
                  <a:ea typeface="Pretendard"/>
                  <a:cs typeface="+mn-cs"/>
                </a:rPr>
                <a:t>02. 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38C7B95-DFCA-575D-5B57-F843F6386321}"/>
                </a:ext>
              </a:extLst>
            </p:cNvPr>
            <p:cNvSpPr txBox="1"/>
            <p:nvPr/>
          </p:nvSpPr>
          <p:spPr>
            <a:xfrm>
              <a:off x="6096000" y="3757709"/>
              <a:ext cx="5778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1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"/>
                  <a:ea typeface="Pretendard"/>
                  <a:cs typeface="+mn-cs"/>
                </a:rPr>
                <a:t>03.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8352572-DFBD-7A66-7BD3-DC5CAB1C77AA}"/>
                </a:ext>
              </a:extLst>
            </p:cNvPr>
            <p:cNvSpPr txBox="1"/>
            <p:nvPr/>
          </p:nvSpPr>
          <p:spPr>
            <a:xfrm>
              <a:off x="6095998" y="4738954"/>
              <a:ext cx="6543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"/>
                  <a:ea typeface="Pretendard"/>
                  <a:cs typeface="+mn-cs"/>
                </a:rPr>
                <a:t>04. </a:t>
              </a:r>
            </a:p>
          </p:txBody>
        </p:sp>
      </p:grpSp>
      <p:cxnSp>
        <p:nvCxnSpPr>
          <p:cNvPr id="12" name="직선 연결선 32">
            <a:extLst>
              <a:ext uri="{FF2B5EF4-FFF2-40B4-BE49-F238E27FC236}">
                <a16:creationId xmlns:a16="http://schemas.microsoft.com/office/drawing/2014/main" id="{F6CF5F54-6707-391A-FD59-6B92CC289035}"/>
              </a:ext>
            </a:extLst>
          </p:cNvPr>
          <p:cNvCxnSpPr>
            <a:cxnSpLocks/>
          </p:cNvCxnSpPr>
          <p:nvPr/>
        </p:nvCxnSpPr>
        <p:spPr>
          <a:xfrm>
            <a:off x="908036" y="1835108"/>
            <a:ext cx="4326837" cy="0"/>
          </a:xfrm>
          <a:prstGeom prst="line">
            <a:avLst/>
          </a:prstGeom>
          <a:ln w="15875">
            <a:solidFill>
              <a:schemeClr val="bg1">
                <a:lumMod val="50000"/>
                <a:alpha val="7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0DA400E-EA0F-CEBE-0C37-FC3ADC78105A}"/>
              </a:ext>
            </a:extLst>
          </p:cNvPr>
          <p:cNvSpPr txBox="1"/>
          <p:nvPr/>
        </p:nvSpPr>
        <p:spPr>
          <a:xfrm>
            <a:off x="1424871" y="3397487"/>
            <a:ext cx="2843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982A2F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O</a:t>
            </a:r>
            <a:r>
              <a:rPr lang="en-US" altLang="ko-KR" sz="2000" b="1" dirty="0" err="1">
                <a:solidFill>
                  <a:srgbClr val="982A2F"/>
                </a:solidFill>
                <a:latin typeface="Pretendard"/>
                <a:ea typeface="Pretendard"/>
              </a:rPr>
              <a:t>ptimization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982A2F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cxnSp>
        <p:nvCxnSpPr>
          <p:cNvPr id="14" name="직선 연결선 34">
            <a:extLst>
              <a:ext uri="{FF2B5EF4-FFF2-40B4-BE49-F238E27FC236}">
                <a16:creationId xmlns:a16="http://schemas.microsoft.com/office/drawing/2014/main" id="{0E5964F5-1BB8-DE91-825C-CB88AC1EB9D3}"/>
              </a:ext>
            </a:extLst>
          </p:cNvPr>
          <p:cNvCxnSpPr>
            <a:cxnSpLocks/>
          </p:cNvCxnSpPr>
          <p:nvPr/>
        </p:nvCxnSpPr>
        <p:spPr>
          <a:xfrm>
            <a:off x="908036" y="2816353"/>
            <a:ext cx="4326837" cy="0"/>
          </a:xfrm>
          <a:prstGeom prst="line">
            <a:avLst/>
          </a:prstGeom>
          <a:ln w="15875">
            <a:solidFill>
              <a:schemeClr val="bg1">
                <a:lumMod val="50000"/>
                <a:alpha val="7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35">
            <a:extLst>
              <a:ext uri="{FF2B5EF4-FFF2-40B4-BE49-F238E27FC236}">
                <a16:creationId xmlns:a16="http://schemas.microsoft.com/office/drawing/2014/main" id="{0ECD98EE-D77C-1750-5B04-FF4307DCDB77}"/>
              </a:ext>
            </a:extLst>
          </p:cNvPr>
          <p:cNvCxnSpPr>
            <a:cxnSpLocks/>
          </p:cNvCxnSpPr>
          <p:nvPr/>
        </p:nvCxnSpPr>
        <p:spPr>
          <a:xfrm>
            <a:off x="908035" y="3797597"/>
            <a:ext cx="4326837" cy="0"/>
          </a:xfrm>
          <a:prstGeom prst="line">
            <a:avLst/>
          </a:prstGeom>
          <a:ln w="15875">
            <a:solidFill>
              <a:schemeClr val="bg1">
                <a:lumMod val="50000"/>
                <a:alpha val="7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36">
            <a:extLst>
              <a:ext uri="{FF2B5EF4-FFF2-40B4-BE49-F238E27FC236}">
                <a16:creationId xmlns:a16="http://schemas.microsoft.com/office/drawing/2014/main" id="{5FB5F9DA-0099-0DD2-F6F0-7BEFBDDD8E32}"/>
              </a:ext>
            </a:extLst>
          </p:cNvPr>
          <p:cNvCxnSpPr>
            <a:cxnSpLocks/>
          </p:cNvCxnSpPr>
          <p:nvPr/>
        </p:nvCxnSpPr>
        <p:spPr>
          <a:xfrm>
            <a:off x="908035" y="4778845"/>
            <a:ext cx="4326837" cy="0"/>
          </a:xfrm>
          <a:prstGeom prst="line">
            <a:avLst/>
          </a:prstGeom>
          <a:ln w="15875">
            <a:solidFill>
              <a:schemeClr val="bg1">
                <a:lumMod val="50000"/>
                <a:alpha val="7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046D361-CF35-4C5D-D4A6-67B40BA669B3}"/>
              </a:ext>
            </a:extLst>
          </p:cNvPr>
          <p:cNvSpPr txBox="1"/>
          <p:nvPr/>
        </p:nvSpPr>
        <p:spPr>
          <a:xfrm>
            <a:off x="921890" y="5403971"/>
            <a:ext cx="646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05. </a:t>
            </a:r>
          </a:p>
        </p:txBody>
      </p:sp>
      <p:cxnSp>
        <p:nvCxnSpPr>
          <p:cNvPr id="18" name="직선 연결선 36">
            <a:extLst>
              <a:ext uri="{FF2B5EF4-FFF2-40B4-BE49-F238E27FC236}">
                <a16:creationId xmlns:a16="http://schemas.microsoft.com/office/drawing/2014/main" id="{03B82D85-F4F9-D11D-D792-C9D2E9094A10}"/>
              </a:ext>
            </a:extLst>
          </p:cNvPr>
          <p:cNvCxnSpPr>
            <a:cxnSpLocks/>
          </p:cNvCxnSpPr>
          <p:nvPr/>
        </p:nvCxnSpPr>
        <p:spPr>
          <a:xfrm>
            <a:off x="935744" y="5845645"/>
            <a:ext cx="4326837" cy="0"/>
          </a:xfrm>
          <a:prstGeom prst="line">
            <a:avLst/>
          </a:prstGeom>
          <a:ln w="15875">
            <a:solidFill>
              <a:schemeClr val="bg1">
                <a:lumMod val="50000"/>
                <a:alpha val="7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F913A88-FBF8-3538-A9B3-DB02A8F04049}"/>
              </a:ext>
            </a:extLst>
          </p:cNvPr>
          <p:cNvSpPr txBox="1"/>
          <p:nvPr/>
        </p:nvSpPr>
        <p:spPr>
          <a:xfrm>
            <a:off x="1466434" y="5403971"/>
            <a:ext cx="15456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982A2F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208326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51AA075-1844-A046-AF4C-7AC4CB02E1A6}"/>
              </a:ext>
            </a:extLst>
          </p:cNvPr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B5FB00-000F-A249-B042-B60E70D89898}"/>
              </a:ext>
            </a:extLst>
          </p:cNvPr>
          <p:cNvSpPr txBox="1"/>
          <p:nvPr/>
        </p:nvSpPr>
        <p:spPr>
          <a:xfrm>
            <a:off x="762000" y="4572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>
                <a:solidFill>
                  <a:srgbClr val="982A2F"/>
                </a:solidFill>
                <a:latin typeface="Pretendard"/>
                <a:ea typeface="Pretendard"/>
              </a:rPr>
              <a:t>01</a:t>
            </a:r>
            <a:endParaRPr lang="ko-KR" altLang="en-US" sz="1200" b="1">
              <a:solidFill>
                <a:srgbClr val="982A2F"/>
              </a:solidFill>
              <a:latin typeface="Pretendard"/>
              <a:ea typeface="Pretendar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9AB50C-70B6-9C4F-A831-04B43A75D314}"/>
              </a:ext>
            </a:extLst>
          </p:cNvPr>
          <p:cNvSpPr txBox="1"/>
          <p:nvPr/>
        </p:nvSpPr>
        <p:spPr>
          <a:xfrm>
            <a:off x="762000" y="762000"/>
            <a:ext cx="10668000" cy="58477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3200" b="1" dirty="0">
                <a:solidFill>
                  <a:srgbClr val="0E2841"/>
                </a:solidFill>
                <a:latin typeface="Pretendard"/>
                <a:ea typeface="Pretendard"/>
              </a:rPr>
              <a:t>AI </a:t>
            </a:r>
            <a:r>
              <a:rPr lang="ko-KR" altLang="en-US" sz="3200" b="1" dirty="0">
                <a:solidFill>
                  <a:srgbClr val="0E2841"/>
                </a:solidFill>
                <a:latin typeface="Pretendard"/>
                <a:ea typeface="Pretendard"/>
              </a:rPr>
              <a:t>전력핵심설비 </a:t>
            </a:r>
            <a:r>
              <a:rPr lang="en" altLang="ko-KR" sz="3200" b="1" dirty="0">
                <a:solidFill>
                  <a:srgbClr val="0E2841"/>
                </a:solidFill>
                <a:latin typeface="Pretendard"/>
                <a:ea typeface="Pretendard"/>
              </a:rPr>
              <a:t>ETF</a:t>
            </a:r>
            <a:r>
              <a:rPr lang="ko-KR" altLang="en-US" sz="3200" b="1" dirty="0">
                <a:solidFill>
                  <a:srgbClr val="0E2841"/>
                </a:solidFill>
                <a:latin typeface="Pretendard"/>
                <a:ea typeface="Pretendard"/>
              </a:rPr>
              <a:t>로 선정한 이유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01CF8E-F860-E345-8A0D-00D5210A1720}"/>
              </a:ext>
            </a:extLst>
          </p:cNvPr>
          <p:cNvSpPr txBox="1"/>
          <p:nvPr/>
        </p:nvSpPr>
        <p:spPr>
          <a:xfrm>
            <a:off x="762000" y="1447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400" dirty="0">
                <a:solidFill>
                  <a:srgbClr val="7B7B7B"/>
                </a:solidFill>
                <a:latin typeface="Pretendard"/>
                <a:ea typeface="Pretendard"/>
              </a:rPr>
              <a:t>ETF</a:t>
            </a:r>
            <a:r>
              <a:rPr lang="ko-KR" altLang="en-US" sz="1400" dirty="0">
                <a:solidFill>
                  <a:srgbClr val="7B7B7B"/>
                </a:solidFill>
                <a:latin typeface="Pretendard"/>
                <a:ea typeface="Pretendard"/>
              </a:rPr>
              <a:t>가 담고 있는 종목 내부에서 컨센서스 신호의 유효성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950C7D7-5F68-B44C-9757-BA7777724931}"/>
              </a:ext>
            </a:extLst>
          </p:cNvPr>
          <p:cNvSpPr/>
          <p:nvPr/>
        </p:nvSpPr>
        <p:spPr>
          <a:xfrm>
            <a:off x="1041400" y="2286000"/>
            <a:ext cx="1879600" cy="1143000"/>
          </a:xfrm>
          <a:prstGeom prst="rect">
            <a:avLst/>
          </a:prstGeom>
          <a:solidFill>
            <a:srgbClr val="F4F4F7"/>
          </a:solidFill>
          <a:ln w="6350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altLang="ko-KR" sz="1300" b="1">
                <a:solidFill>
                  <a:srgbClr val="0E2841"/>
                </a:solidFill>
                <a:latin typeface="Pretendard"/>
                <a:ea typeface="Pretendard"/>
              </a:rPr>
              <a:t>AI·</a:t>
            </a:r>
            <a:r>
              <a:rPr lang="ko-KR" altLang="en-US" sz="1300" b="1">
                <a:solidFill>
                  <a:srgbClr val="0E2841"/>
                </a:solidFill>
                <a:latin typeface="Pretendard"/>
                <a:ea typeface="Pretendard"/>
              </a:rPr>
              <a:t>데이터센터
투자 확대</a:t>
            </a:r>
          </a:p>
        </p:txBody>
      </p:sp>
      <p:sp>
        <p:nvSpPr>
          <p:cNvPr id="8" name="오른쪽 화살표[R] 7">
            <a:extLst>
              <a:ext uri="{FF2B5EF4-FFF2-40B4-BE49-F238E27FC236}">
                <a16:creationId xmlns:a16="http://schemas.microsoft.com/office/drawing/2014/main" id="{AEA5206D-1372-D04F-BE64-B70AAB9C2978}"/>
              </a:ext>
            </a:extLst>
          </p:cNvPr>
          <p:cNvSpPr/>
          <p:nvPr/>
        </p:nvSpPr>
        <p:spPr>
          <a:xfrm>
            <a:off x="2933700" y="2755900"/>
            <a:ext cx="152400" cy="203200"/>
          </a:xfrm>
          <a:prstGeom prst="rightArrow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1947163-EE59-3941-955B-853D77C3E1B4}"/>
              </a:ext>
            </a:extLst>
          </p:cNvPr>
          <p:cNvSpPr/>
          <p:nvPr/>
        </p:nvSpPr>
        <p:spPr>
          <a:xfrm>
            <a:off x="3098800" y="2286000"/>
            <a:ext cx="1879600" cy="1143000"/>
          </a:xfrm>
          <a:prstGeom prst="rect">
            <a:avLst/>
          </a:prstGeom>
          <a:solidFill>
            <a:srgbClr val="F4F4F7"/>
          </a:solidFill>
          <a:ln w="6350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0E2841"/>
                </a:solidFill>
                <a:latin typeface="Pretendard"/>
                <a:ea typeface="Pretendard"/>
              </a:rPr>
              <a:t>전력 사용량
증가</a:t>
            </a:r>
          </a:p>
        </p:txBody>
      </p:sp>
      <p:sp>
        <p:nvSpPr>
          <p:cNvPr id="10" name="오른쪽 화살표[R] 9">
            <a:extLst>
              <a:ext uri="{FF2B5EF4-FFF2-40B4-BE49-F238E27FC236}">
                <a16:creationId xmlns:a16="http://schemas.microsoft.com/office/drawing/2014/main" id="{5B73FCDC-C6AE-884F-AEB9-E59C82D3F4E7}"/>
              </a:ext>
            </a:extLst>
          </p:cNvPr>
          <p:cNvSpPr/>
          <p:nvPr/>
        </p:nvSpPr>
        <p:spPr>
          <a:xfrm>
            <a:off x="4991100" y="2755900"/>
            <a:ext cx="152400" cy="203200"/>
          </a:xfrm>
          <a:prstGeom prst="rightArrow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23FDDD4-D7DB-344F-AB3A-63C1966F85A7}"/>
              </a:ext>
            </a:extLst>
          </p:cNvPr>
          <p:cNvSpPr/>
          <p:nvPr/>
        </p:nvSpPr>
        <p:spPr>
          <a:xfrm>
            <a:off x="5156200" y="2286000"/>
            <a:ext cx="1879600" cy="1143000"/>
          </a:xfrm>
          <a:prstGeom prst="rect">
            <a:avLst/>
          </a:prstGeom>
          <a:solidFill>
            <a:srgbClr val="F4F4F7"/>
          </a:solidFill>
          <a:ln w="6350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0E2841"/>
                </a:solidFill>
                <a:latin typeface="Pretendard"/>
                <a:ea typeface="Pretendard"/>
              </a:rPr>
              <a:t>전력망</a:t>
            </a:r>
            <a:r>
              <a:rPr lang="en-US" altLang="ko-KR" sz="1300" b="1">
                <a:solidFill>
                  <a:srgbClr val="0E2841"/>
                </a:solidFill>
                <a:latin typeface="Pretendard"/>
                <a:ea typeface="Pretendard"/>
              </a:rPr>
              <a:t>·</a:t>
            </a:r>
            <a:r>
              <a:rPr lang="ko-KR" altLang="en-US" sz="1300" b="1">
                <a:solidFill>
                  <a:srgbClr val="0E2841"/>
                </a:solidFill>
                <a:latin typeface="Pretendard"/>
                <a:ea typeface="Pretendard"/>
              </a:rPr>
              <a:t>변압기</a:t>
            </a:r>
            <a:r>
              <a:rPr lang="en-US" altLang="ko-KR" sz="1300" b="1">
                <a:solidFill>
                  <a:srgbClr val="0E2841"/>
                </a:solidFill>
                <a:latin typeface="Pretendard"/>
                <a:ea typeface="Pretendard"/>
              </a:rPr>
              <a:t>·
</a:t>
            </a:r>
            <a:r>
              <a:rPr lang="ko-KR" altLang="en-US" sz="1300" b="1">
                <a:solidFill>
                  <a:srgbClr val="0E2841"/>
                </a:solidFill>
                <a:latin typeface="Pretendard"/>
                <a:ea typeface="Pretendard"/>
              </a:rPr>
              <a:t>전선</a:t>
            </a:r>
            <a:r>
              <a:rPr lang="en-US" altLang="ko-KR" sz="1300" b="1">
                <a:solidFill>
                  <a:srgbClr val="0E2841"/>
                </a:solidFill>
                <a:latin typeface="Pretendard"/>
                <a:ea typeface="Pretendard"/>
              </a:rPr>
              <a:t>·</a:t>
            </a:r>
            <a:r>
              <a:rPr lang="ko-KR" altLang="en-US" sz="1300" b="1">
                <a:solidFill>
                  <a:srgbClr val="0E2841"/>
                </a:solidFill>
                <a:latin typeface="Pretendard"/>
                <a:ea typeface="Pretendard"/>
              </a:rPr>
              <a:t>전력기기 투자</a:t>
            </a:r>
          </a:p>
        </p:txBody>
      </p:sp>
      <p:sp>
        <p:nvSpPr>
          <p:cNvPr id="12" name="오른쪽 화살표[R] 11">
            <a:extLst>
              <a:ext uri="{FF2B5EF4-FFF2-40B4-BE49-F238E27FC236}">
                <a16:creationId xmlns:a16="http://schemas.microsoft.com/office/drawing/2014/main" id="{5E22A69A-4C31-B04C-AD4C-DBC7F5870710}"/>
              </a:ext>
            </a:extLst>
          </p:cNvPr>
          <p:cNvSpPr/>
          <p:nvPr/>
        </p:nvSpPr>
        <p:spPr>
          <a:xfrm>
            <a:off x="7048500" y="2755900"/>
            <a:ext cx="152400" cy="203200"/>
          </a:xfrm>
          <a:prstGeom prst="rightArrow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266C3E6-8903-E740-B53B-52E6CC7F17E6}"/>
              </a:ext>
            </a:extLst>
          </p:cNvPr>
          <p:cNvSpPr/>
          <p:nvPr/>
        </p:nvSpPr>
        <p:spPr>
          <a:xfrm>
            <a:off x="7213600" y="2286000"/>
            <a:ext cx="1879600" cy="1143000"/>
          </a:xfrm>
          <a:prstGeom prst="rect">
            <a:avLst/>
          </a:prstGeom>
          <a:solidFill>
            <a:srgbClr val="F4F4F7"/>
          </a:solidFill>
          <a:ln w="6350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0E2841"/>
                </a:solidFill>
                <a:latin typeface="Pretendard"/>
                <a:ea typeface="Pretendard"/>
              </a:rPr>
              <a:t>수주</a:t>
            </a:r>
            <a:r>
              <a:rPr lang="en-US" altLang="ko-KR" sz="1300" b="1">
                <a:solidFill>
                  <a:srgbClr val="0E2841"/>
                </a:solidFill>
                <a:latin typeface="Pretendard"/>
                <a:ea typeface="Pretendard"/>
              </a:rPr>
              <a:t>·</a:t>
            </a:r>
            <a:r>
              <a:rPr lang="ko-KR" altLang="en-US" sz="1300" b="1">
                <a:solidFill>
                  <a:srgbClr val="0E2841"/>
                </a:solidFill>
                <a:latin typeface="Pretendard"/>
                <a:ea typeface="Pretendard"/>
              </a:rPr>
              <a:t>매출</a:t>
            </a:r>
            <a:r>
              <a:rPr lang="en-US" altLang="ko-KR" sz="1300" b="1">
                <a:solidFill>
                  <a:srgbClr val="0E2841"/>
                </a:solidFill>
                <a:latin typeface="Pretendard"/>
                <a:ea typeface="Pretendard"/>
              </a:rPr>
              <a:t>·</a:t>
            </a:r>
            <a:r>
              <a:rPr lang="en" altLang="ko-KR" sz="1300" b="1">
                <a:solidFill>
                  <a:srgbClr val="0E2841"/>
                </a:solidFill>
                <a:latin typeface="Pretendard"/>
                <a:ea typeface="Pretendard"/>
              </a:rPr>
              <a:t>EPS
</a:t>
            </a:r>
            <a:r>
              <a:rPr lang="ko-KR" altLang="en-US" sz="1300" b="1">
                <a:solidFill>
                  <a:srgbClr val="0E2841"/>
                </a:solidFill>
                <a:latin typeface="Pretendard"/>
                <a:ea typeface="Pretendard"/>
              </a:rPr>
              <a:t>전망 변화</a:t>
            </a:r>
          </a:p>
        </p:txBody>
      </p:sp>
      <p:sp>
        <p:nvSpPr>
          <p:cNvPr id="14" name="오른쪽 화살표[R] 13">
            <a:extLst>
              <a:ext uri="{FF2B5EF4-FFF2-40B4-BE49-F238E27FC236}">
                <a16:creationId xmlns:a16="http://schemas.microsoft.com/office/drawing/2014/main" id="{8B68FE47-6A03-6842-83D3-EEF4A71A555E}"/>
              </a:ext>
            </a:extLst>
          </p:cNvPr>
          <p:cNvSpPr/>
          <p:nvPr/>
        </p:nvSpPr>
        <p:spPr>
          <a:xfrm>
            <a:off x="9105900" y="2755900"/>
            <a:ext cx="152400" cy="203200"/>
          </a:xfrm>
          <a:prstGeom prst="rightArrow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8443E22-D170-174D-ABC6-9580DF2DB957}"/>
              </a:ext>
            </a:extLst>
          </p:cNvPr>
          <p:cNvSpPr/>
          <p:nvPr/>
        </p:nvSpPr>
        <p:spPr>
          <a:xfrm>
            <a:off x="9271000" y="2286000"/>
            <a:ext cx="1879600" cy="1143000"/>
          </a:xfrm>
          <a:prstGeom prst="rect">
            <a:avLst/>
          </a:prstGeom>
          <a:solidFill>
            <a:srgbClr val="982A2F"/>
          </a:solidFill>
          <a:ln w="6350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sz="1300" b="1" dirty="0">
                <a:solidFill>
                  <a:srgbClr val="FFFFFF"/>
                </a:solidFill>
                <a:latin typeface="Pretendard"/>
                <a:ea typeface="Pretendard"/>
              </a:rPr>
              <a:t>컨센서스
반영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BC80D99-A7DA-8D48-AF8B-C71A0F02FCD3}"/>
              </a:ext>
            </a:extLst>
          </p:cNvPr>
          <p:cNvSpPr/>
          <p:nvPr/>
        </p:nvSpPr>
        <p:spPr>
          <a:xfrm>
            <a:off x="1046618" y="4031611"/>
            <a:ext cx="3556000" cy="1651000"/>
          </a:xfrm>
          <a:prstGeom prst="rect">
            <a:avLst/>
          </a:prstGeom>
          <a:solidFill>
            <a:srgbClr val="F4F4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409EF10-42D1-7844-808B-BD26A163AC37}"/>
              </a:ext>
            </a:extLst>
          </p:cNvPr>
          <p:cNvSpPr/>
          <p:nvPr/>
        </p:nvSpPr>
        <p:spPr>
          <a:xfrm>
            <a:off x="1046618" y="4031611"/>
            <a:ext cx="38100" cy="1651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5333B6-6AEA-4348-952A-D5F2329DCB20}"/>
              </a:ext>
            </a:extLst>
          </p:cNvPr>
          <p:cNvSpPr txBox="1"/>
          <p:nvPr/>
        </p:nvSpPr>
        <p:spPr>
          <a:xfrm>
            <a:off x="1249818" y="4234811"/>
            <a:ext cx="32004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982A2F"/>
                </a:solidFill>
                <a:latin typeface="Pretendard"/>
                <a:ea typeface="Pretendard"/>
              </a:rPr>
              <a:t>직접적 실적 연결고리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E4014B-417F-194E-BB43-30D331A21C76}"/>
              </a:ext>
            </a:extLst>
          </p:cNvPr>
          <p:cNvSpPr txBox="1"/>
          <p:nvPr/>
        </p:nvSpPr>
        <p:spPr>
          <a:xfrm>
            <a:off x="1249818" y="4666611"/>
            <a:ext cx="32004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  <a:latin typeface="Pretendard"/>
                <a:ea typeface="Pretendard"/>
              </a:rPr>
              <a:t>광범위한 </a:t>
            </a:r>
            <a:r>
              <a:rPr lang="en" altLang="ko-KR" sz="1400">
                <a:solidFill>
                  <a:srgbClr val="595959"/>
                </a:solidFill>
                <a:latin typeface="Pretendard"/>
                <a:ea typeface="Pretendard"/>
              </a:rPr>
              <a:t>AI ETF</a:t>
            </a:r>
            <a:r>
              <a:rPr lang="ko-KR" altLang="en-US" sz="1400">
                <a:solidFill>
                  <a:srgbClr val="595959"/>
                </a:solidFill>
                <a:latin typeface="Pretendard"/>
                <a:ea typeface="Pretendard"/>
              </a:rPr>
              <a:t>보다 전력설비는 수요 → 수주 → </a:t>
            </a:r>
            <a:r>
              <a:rPr lang="en" altLang="ko-KR" sz="1400">
                <a:solidFill>
                  <a:srgbClr val="595959"/>
                </a:solidFill>
                <a:latin typeface="Pretendard"/>
                <a:ea typeface="Pretendard"/>
              </a:rPr>
              <a:t>EPS </a:t>
            </a:r>
            <a:r>
              <a:rPr lang="ko-KR" altLang="en-US" sz="1400">
                <a:solidFill>
                  <a:srgbClr val="595959"/>
                </a:solidFill>
                <a:latin typeface="Pretendard"/>
                <a:ea typeface="Pretendard"/>
              </a:rPr>
              <a:t>경로가 더 명확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BC8CDD15-A232-3A80-1B45-BE7DD57D3C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356350"/>
            <a:ext cx="1515291" cy="493985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2BDD3135-E6B1-2286-6131-9F65705FC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9558" y="3619501"/>
            <a:ext cx="3908861" cy="3081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737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E24E927-65C8-AA4D-B9AA-46881BBA0314}"/>
              </a:ext>
            </a:extLst>
          </p:cNvPr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B43560-9917-9B44-8CFD-BE452E55BFB5}"/>
              </a:ext>
            </a:extLst>
          </p:cNvPr>
          <p:cNvSpPr txBox="1"/>
          <p:nvPr/>
        </p:nvSpPr>
        <p:spPr>
          <a:xfrm>
            <a:off x="762000" y="457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 dirty="0">
                <a:solidFill>
                  <a:srgbClr val="982A2F"/>
                </a:solidFill>
                <a:latin typeface="Pretendard"/>
                <a:ea typeface="Pretendard"/>
              </a:rPr>
              <a:t>02</a:t>
            </a:r>
            <a:endParaRPr lang="ko-KR" altLang="en-US" sz="1200" b="1" dirty="0">
              <a:solidFill>
                <a:srgbClr val="982A2F"/>
              </a:solidFill>
              <a:latin typeface="Pretendard"/>
              <a:ea typeface="Pretendar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0703B8-1073-F74A-8F29-DE9FDB2D2773}"/>
              </a:ext>
            </a:extLst>
          </p:cNvPr>
          <p:cNvSpPr txBox="1"/>
          <p:nvPr/>
        </p:nvSpPr>
        <p:spPr>
          <a:xfrm>
            <a:off x="762000" y="762000"/>
            <a:ext cx="10668000" cy="58477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 dirty="0">
                <a:solidFill>
                  <a:srgbClr val="0E2841"/>
                </a:solidFill>
                <a:latin typeface="Pretendard"/>
                <a:ea typeface="Pretendard"/>
              </a:rPr>
              <a:t>ETF replication</a:t>
            </a:r>
            <a:endParaRPr lang="ko-KR" altLang="en-US" sz="3200" b="1" dirty="0">
              <a:solidFill>
                <a:srgbClr val="0E2841"/>
              </a:solidFill>
              <a:latin typeface="Pretendard"/>
              <a:ea typeface="Pretendard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964D8C-4443-134C-BABF-DC7056C0C7A2}"/>
              </a:ext>
            </a:extLst>
          </p:cNvPr>
          <p:cNvSpPr/>
          <p:nvPr/>
        </p:nvSpPr>
        <p:spPr>
          <a:xfrm>
            <a:off x="7976191" y="4338407"/>
            <a:ext cx="3570767" cy="609600"/>
          </a:xfrm>
          <a:prstGeom prst="rect">
            <a:avLst/>
          </a:prstGeom>
          <a:solidFill>
            <a:srgbClr val="F4F4F7"/>
          </a:solidFill>
          <a:ln w="12700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35A2CE-2E98-4E4A-9467-B51E18F16B6D}"/>
              </a:ext>
            </a:extLst>
          </p:cNvPr>
          <p:cNvSpPr txBox="1"/>
          <p:nvPr/>
        </p:nvSpPr>
        <p:spPr>
          <a:xfrm>
            <a:off x="8153991" y="4414607"/>
            <a:ext cx="1831163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400" b="1" dirty="0">
                <a:solidFill>
                  <a:srgbClr val="982A2F"/>
                </a:solidFill>
                <a:latin typeface="Pretendard"/>
                <a:ea typeface="Pretendard"/>
              </a:rPr>
              <a:t>PDF replication</a:t>
            </a:r>
            <a:endParaRPr lang="ko-KR" altLang="en-US" sz="1400" b="1" dirty="0">
              <a:solidFill>
                <a:srgbClr val="982A2F"/>
              </a:solidFill>
              <a:latin typeface="Pretendard"/>
              <a:ea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26B00F-10FB-5D42-BE30-A92C80EFF32D}"/>
              </a:ext>
            </a:extLst>
          </p:cNvPr>
          <p:cNvSpPr txBox="1"/>
          <p:nvPr/>
        </p:nvSpPr>
        <p:spPr>
          <a:xfrm>
            <a:off x="8153991" y="4668607"/>
            <a:ext cx="3296093" cy="27699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dirty="0">
                <a:solidFill>
                  <a:srgbClr val="595959"/>
                </a:solidFill>
                <a:latin typeface="Pretendard"/>
                <a:ea typeface="Pretendard"/>
              </a:rPr>
              <a:t>← 본 전략의 직접 벤치마크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D69D36B-BE5A-6341-8C0E-35CBB7CCF8C0}"/>
              </a:ext>
            </a:extLst>
          </p:cNvPr>
          <p:cNvSpPr/>
          <p:nvPr/>
        </p:nvSpPr>
        <p:spPr>
          <a:xfrm>
            <a:off x="7970229" y="2528938"/>
            <a:ext cx="3561907" cy="609600"/>
          </a:xfrm>
          <a:prstGeom prst="rect">
            <a:avLst/>
          </a:prstGeom>
          <a:solidFill>
            <a:srgbClr val="FA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D83FE3-C0B7-444D-88D4-2F2FB20F150E}"/>
              </a:ext>
            </a:extLst>
          </p:cNvPr>
          <p:cNvSpPr txBox="1"/>
          <p:nvPr/>
        </p:nvSpPr>
        <p:spPr>
          <a:xfrm>
            <a:off x="8149802" y="2561118"/>
            <a:ext cx="1836616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400" b="1" dirty="0">
                <a:solidFill>
                  <a:srgbClr val="0E2841"/>
                </a:solidFill>
                <a:latin typeface="Pretendard"/>
                <a:ea typeface="Pretendard"/>
              </a:rPr>
              <a:t>Underlying Index</a:t>
            </a:r>
            <a:endParaRPr lang="ko-KR" altLang="en-US" sz="1400" b="1" dirty="0">
              <a:solidFill>
                <a:srgbClr val="0E2841"/>
              </a:solidFill>
              <a:latin typeface="Pretendard"/>
              <a:ea typeface="Pretendar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505FE3-9069-3B42-838D-51212307D0C3}"/>
              </a:ext>
            </a:extLst>
          </p:cNvPr>
          <p:cNvSpPr txBox="1"/>
          <p:nvPr/>
        </p:nvSpPr>
        <p:spPr>
          <a:xfrm>
            <a:off x="8139169" y="2848505"/>
            <a:ext cx="3305908" cy="27699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200" dirty="0">
                <a:solidFill>
                  <a:srgbClr val="595959"/>
                </a:solidFill>
                <a:latin typeface="Pretendard"/>
                <a:ea typeface="Pretendard"/>
              </a:rPr>
              <a:t>iSelect </a:t>
            </a:r>
            <a:r>
              <a:rPr lang="ko-KR" altLang="en-US" sz="1200" dirty="0">
                <a:solidFill>
                  <a:srgbClr val="595959"/>
                </a:solidFill>
                <a:latin typeface="Pretendard"/>
                <a:ea typeface="Pretendard"/>
              </a:rPr>
              <a:t>기초지수</a:t>
            </a:r>
            <a:r>
              <a:rPr lang="en-US" altLang="ko-KR" sz="1200" dirty="0">
                <a:solidFill>
                  <a:srgbClr val="595959"/>
                </a:solidFill>
                <a:latin typeface="Pretendard"/>
                <a:ea typeface="Pretendard"/>
              </a:rPr>
              <a:t>, </a:t>
            </a:r>
            <a:r>
              <a:rPr lang="ko-KR" altLang="en-US" sz="1200" dirty="0">
                <a:solidFill>
                  <a:srgbClr val="595959"/>
                </a:solidFill>
                <a:latin typeface="Pretendard"/>
                <a:ea typeface="Pretendard"/>
              </a:rPr>
              <a:t>공식 비교지수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2F4C90E-BD94-2778-898D-9DB0431020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356350"/>
            <a:ext cx="1515291" cy="493985"/>
          </a:xfrm>
          <a:prstGeom prst="rect">
            <a:avLst/>
          </a:prstGeom>
        </p:spPr>
      </p:pic>
      <p:sp>
        <p:nvSpPr>
          <p:cNvPr id="30" name="Text 3">
            <a:extLst>
              <a:ext uri="{FF2B5EF4-FFF2-40B4-BE49-F238E27FC236}">
                <a16:creationId xmlns:a16="http://schemas.microsoft.com/office/drawing/2014/main" id="{9CA499E1-BFE2-F263-D041-D4CAF68EE5A8}"/>
              </a:ext>
            </a:extLst>
          </p:cNvPr>
          <p:cNvSpPr/>
          <p:nvPr/>
        </p:nvSpPr>
        <p:spPr>
          <a:xfrm>
            <a:off x="852334" y="1387828"/>
            <a:ext cx="5154791" cy="394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latinLnBrk="0">
              <a:lnSpc>
                <a:spcPct val="128000"/>
              </a:lnSpc>
            </a:pPr>
            <a:r>
              <a:rPr lang="en-US" sz="1050" dirty="0">
                <a:solidFill>
                  <a:srgbClr val="666666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KODEX AI전력핵심설비 ETF의 기초지수 방법론과 실제 PDF 비중 데이터를 최대한 복제하여 분석의 기초를 마련합니다.</a:t>
            </a:r>
            <a:endParaRPr lang="en-US" sz="1050" dirty="0">
              <a:solidFill>
                <a:prstClr val="black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AA69026A-D353-E7DA-D9FE-F2D4336AB9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486" y="2260940"/>
            <a:ext cx="2868930" cy="1559595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2230BBDB-CF55-AAE7-4DD9-8927E82F81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790" y="4376819"/>
            <a:ext cx="3073400" cy="1028700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41E408B2-32DC-EE80-DAEB-C8B1DD8E9D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11" y="3801394"/>
            <a:ext cx="2798294" cy="457559"/>
          </a:xfrm>
          <a:prstGeom prst="rect">
            <a:avLst/>
          </a:prstGeom>
        </p:spPr>
      </p:pic>
      <p:sp>
        <p:nvSpPr>
          <p:cNvPr id="34" name="Shape 2">
            <a:extLst>
              <a:ext uri="{FF2B5EF4-FFF2-40B4-BE49-F238E27FC236}">
                <a16:creationId xmlns:a16="http://schemas.microsoft.com/office/drawing/2014/main" id="{6A5BA69F-74B0-18C4-9087-75E962BE1B1B}"/>
              </a:ext>
            </a:extLst>
          </p:cNvPr>
          <p:cNvSpPr/>
          <p:nvPr/>
        </p:nvSpPr>
        <p:spPr>
          <a:xfrm>
            <a:off x="3676317" y="4031673"/>
            <a:ext cx="3893344" cy="1358037"/>
          </a:xfrm>
          <a:prstGeom prst="rect">
            <a:avLst/>
          </a:prstGeom>
          <a:solidFill>
            <a:srgbClr val="FFFFFF"/>
          </a:solidFill>
          <a:ln w="9144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E8212309-6CF0-F16C-F265-BC1110031021}"/>
              </a:ext>
            </a:extLst>
          </p:cNvPr>
          <p:cNvSpPr/>
          <p:nvPr/>
        </p:nvSpPr>
        <p:spPr>
          <a:xfrm>
            <a:off x="3868764" y="4153345"/>
            <a:ext cx="3536155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PDF </a:t>
            </a:r>
            <a:r>
              <a:rPr lang="en-US" sz="1400" b="1" dirty="0" err="1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복제</a:t>
            </a:r>
            <a:r>
              <a:rPr lang="en-US" sz="140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 </a:t>
            </a:r>
            <a:r>
              <a:rPr lang="en-US" sz="1400" b="1" dirty="0" err="1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포트폴리오</a:t>
            </a:r>
            <a:r>
              <a:rPr lang="ko-KR" altLang="en-US" sz="140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 </a:t>
            </a:r>
            <a:r>
              <a:rPr lang="en-US" altLang="ko-KR" sz="140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(Portfolio Deposit File)</a:t>
            </a:r>
            <a:endParaRPr lang="en-US" sz="14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12986F18-3C9D-DF84-B5EF-A4025E24373C}"/>
              </a:ext>
            </a:extLst>
          </p:cNvPr>
          <p:cNvSpPr/>
          <p:nvPr/>
        </p:nvSpPr>
        <p:spPr>
          <a:xfrm>
            <a:off x="3868765" y="4666990"/>
            <a:ext cx="3571125" cy="629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KRX PDF에서 수집한 실제 ETF 구성종목/비중을 </a:t>
            </a:r>
            <a:r>
              <a:rPr lang="en-US" sz="1100" dirty="0" err="1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사용하며</a:t>
            </a:r>
            <a:r>
              <a:rPr lang="en-US" sz="1100" dirty="0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,</a:t>
            </a:r>
          </a:p>
          <a:p>
            <a:pPr marL="0" indent="0" algn="l">
              <a:lnSpc>
                <a:spcPct val="128000"/>
              </a:lnSpc>
              <a:buNone/>
            </a:pPr>
            <a:r>
              <a:rPr lang="en-US" sz="1100" dirty="0" err="1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당일</a:t>
            </a:r>
            <a:r>
              <a:rPr lang="en-US" sz="1100" dirty="0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 수익률 계산에는 전일 PDF </a:t>
            </a:r>
            <a:r>
              <a:rPr lang="en-US" sz="1100" dirty="0" err="1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비중을</a:t>
            </a:r>
            <a:r>
              <a:rPr lang="en-US" sz="1100" dirty="0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 </a:t>
            </a:r>
            <a:r>
              <a:rPr lang="en-US" sz="1100" dirty="0" err="1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적용한</a:t>
            </a:r>
            <a:endParaRPr lang="en-US" sz="1100" dirty="0">
              <a:solidFill>
                <a:srgbClr val="555555"/>
              </a:solidFill>
              <a:latin typeface="Noto Sans KR" panose="020B0200000000000000" pitchFamily="34" charset="-128"/>
              <a:ea typeface="Noto Sans KR" panose="020B0200000000000000" pitchFamily="34" charset="-128"/>
              <a:cs typeface="Open Sans" pitchFamily="34" charset="-120"/>
            </a:endParaRPr>
          </a:p>
          <a:p>
            <a:pPr marL="0" indent="0" algn="l">
              <a:lnSpc>
                <a:spcPct val="128000"/>
              </a:lnSpc>
              <a:buNone/>
            </a:pPr>
            <a:r>
              <a:rPr lang="en-US" sz="1100" dirty="0" err="1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내부</a:t>
            </a:r>
            <a:r>
              <a:rPr lang="en-US" sz="1100" dirty="0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 복제 모델입니다.</a:t>
            </a:r>
            <a:endParaRPr lang="en-US" sz="11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7" name="Shape 8">
            <a:extLst>
              <a:ext uri="{FF2B5EF4-FFF2-40B4-BE49-F238E27FC236}">
                <a16:creationId xmlns:a16="http://schemas.microsoft.com/office/drawing/2014/main" id="{7F95BF70-A4B4-BF37-AC45-39E3A8DCFE48}"/>
              </a:ext>
            </a:extLst>
          </p:cNvPr>
          <p:cNvSpPr/>
          <p:nvPr/>
        </p:nvSpPr>
        <p:spPr>
          <a:xfrm>
            <a:off x="3718846" y="2226780"/>
            <a:ext cx="3893344" cy="1202220"/>
          </a:xfrm>
          <a:prstGeom prst="rect">
            <a:avLst/>
          </a:prstGeom>
          <a:solidFill>
            <a:srgbClr val="FFFFFF"/>
          </a:solidFill>
          <a:ln w="9144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FDA1E0CF-649E-FF25-E0AE-43AFD09EFE78}"/>
              </a:ext>
            </a:extLst>
          </p:cNvPr>
          <p:cNvSpPr/>
          <p:nvPr/>
        </p:nvSpPr>
        <p:spPr>
          <a:xfrm>
            <a:off x="3873734" y="2336286"/>
            <a:ext cx="66043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기초지수</a:t>
            </a:r>
            <a:endParaRPr lang="en-US" sz="14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7F977C41-16B4-D1AF-0D03-711D01D2AC8D}"/>
              </a:ext>
            </a:extLst>
          </p:cNvPr>
          <p:cNvSpPr/>
          <p:nvPr/>
        </p:nvSpPr>
        <p:spPr>
          <a:xfrm>
            <a:off x="3869731" y="2758920"/>
            <a:ext cx="3667142" cy="45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ETF가 추종하는 iSelect AI전력핵심설비 지수로, 유동시가총액 가중 방식과 20% Ceiling 제약 조건이 </a:t>
            </a:r>
            <a:r>
              <a:rPr lang="en-US" sz="1200" dirty="0" err="1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적용됩니다</a:t>
            </a:r>
            <a:r>
              <a:rPr lang="en-US" sz="1200" dirty="0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.</a:t>
            </a:r>
            <a:endParaRPr lang="en-US" sz="12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04537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423030C-6C13-9B4A-99B9-03C96BEDAA2E}"/>
              </a:ext>
            </a:extLst>
          </p:cNvPr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8FBB5B-C85A-ED48-8E78-2FAC9307DD93}"/>
              </a:ext>
            </a:extLst>
          </p:cNvPr>
          <p:cNvSpPr txBox="1"/>
          <p:nvPr/>
        </p:nvSpPr>
        <p:spPr>
          <a:xfrm>
            <a:off x="762000" y="457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 dirty="0">
                <a:solidFill>
                  <a:srgbClr val="982A2F"/>
                </a:solidFill>
                <a:latin typeface="Pretendard"/>
                <a:ea typeface="Pretendard"/>
              </a:rPr>
              <a:t>03</a:t>
            </a:r>
            <a:endParaRPr lang="ko-KR" altLang="en-US" sz="1200" b="1" dirty="0">
              <a:solidFill>
                <a:srgbClr val="982A2F"/>
              </a:solidFill>
              <a:latin typeface="Pretendard"/>
              <a:ea typeface="Pretendar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08BDE5-FDC9-BA4F-8C9D-D65077FD9C87}"/>
              </a:ext>
            </a:extLst>
          </p:cNvPr>
          <p:cNvSpPr txBox="1"/>
          <p:nvPr/>
        </p:nvSpPr>
        <p:spPr>
          <a:xfrm>
            <a:off x="762000" y="762000"/>
            <a:ext cx="10668000" cy="58477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 dirty="0">
                <a:solidFill>
                  <a:srgbClr val="0E2841"/>
                </a:solidFill>
                <a:latin typeface="Pretendard"/>
                <a:ea typeface="Pretendard"/>
              </a:rPr>
              <a:t>Data</a:t>
            </a:r>
            <a:endParaRPr lang="ko-KR" altLang="en-US" sz="3200" b="1" dirty="0">
              <a:solidFill>
                <a:srgbClr val="0E2841"/>
              </a:solidFill>
              <a:latin typeface="Pretendard"/>
              <a:ea typeface="Pretendard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1F8319E-F10C-F17F-EE3E-7D7705E5B1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356350"/>
            <a:ext cx="1515291" cy="493985"/>
          </a:xfrm>
          <a:prstGeom prst="rect">
            <a:avLst/>
          </a:prstGeom>
        </p:spPr>
      </p:pic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D497FDC-A8C5-0D9B-D18A-DF4A9641D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757400"/>
              </p:ext>
            </p:extLst>
          </p:nvPr>
        </p:nvGraphicFramePr>
        <p:xfrm>
          <a:off x="651804" y="3073559"/>
          <a:ext cx="5073747" cy="330495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91249">
                  <a:extLst>
                    <a:ext uri="{9D8B030D-6E8A-4147-A177-3AD203B41FA5}">
                      <a16:colId xmlns:a16="http://schemas.microsoft.com/office/drawing/2014/main" val="12846277"/>
                    </a:ext>
                  </a:extLst>
                </a:gridCol>
                <a:gridCol w="1691249">
                  <a:extLst>
                    <a:ext uri="{9D8B030D-6E8A-4147-A177-3AD203B41FA5}">
                      <a16:colId xmlns:a16="http://schemas.microsoft.com/office/drawing/2014/main" val="3517985232"/>
                    </a:ext>
                  </a:extLst>
                </a:gridCol>
                <a:gridCol w="1691249">
                  <a:extLst>
                    <a:ext uri="{9D8B030D-6E8A-4147-A177-3AD203B41FA5}">
                      <a16:colId xmlns:a16="http://schemas.microsoft.com/office/drawing/2014/main" val="278719720"/>
                    </a:ext>
                  </a:extLst>
                </a:gridCol>
              </a:tblGrid>
              <a:tr h="2979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Data </a:t>
                      </a:r>
                      <a:r>
                        <a:rPr lang="ko-KR" altLang="en-US" sz="16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출처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Data</a:t>
                      </a:r>
                      <a:endParaRPr lang="ko-KR" altLang="en-US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용도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8137839"/>
                  </a:ext>
                </a:extLst>
              </a:tr>
              <a:tr h="5145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KRX </a:t>
                      </a:r>
                      <a:r>
                        <a:rPr lang="en-US" altLang="ko-KR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Data Marketplace</a:t>
                      </a:r>
                      <a:endParaRPr lang="ko-KR" altLang="en-US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KRX </a:t>
                      </a:r>
                      <a:r>
                        <a:rPr lang="en-US" altLang="ko-KR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Portfolio Deposit File</a:t>
                      </a:r>
                      <a:endParaRPr lang="ko-KR" altLang="en-US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벤치마크</a:t>
                      </a:r>
                      <a:endParaRPr lang="ko-KR" altLang="en-US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9356644"/>
                  </a:ext>
                </a:extLst>
              </a:tr>
              <a:tr h="410770">
                <a:tc rowSpan="5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Dataguide</a:t>
                      </a:r>
                      <a:endParaRPr lang="ko-KR" altLang="en-US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 latinLnBrk="1"/>
                      <a:endParaRPr lang="ko-KR" altLang="en-US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err="1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수정종가</a:t>
                      </a:r>
                      <a:endParaRPr lang="ko-KR" altLang="en-US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수익률</a:t>
                      </a:r>
                      <a:r>
                        <a:rPr lang="en-US" altLang="ko-KR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공분산</a:t>
                      </a:r>
                      <a:endParaRPr lang="ko-KR" altLang="en-US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8041390"/>
                  </a:ext>
                </a:extLst>
              </a:tr>
              <a:tr h="410770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거래대금</a:t>
                      </a:r>
                      <a:endParaRPr lang="ko-KR" altLang="en-US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ADV</a:t>
                      </a:r>
                      <a:endParaRPr lang="ko-KR" altLang="en-US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9916518"/>
                  </a:ext>
                </a:extLst>
              </a:tr>
              <a:tr h="514596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EPS </a:t>
                      </a:r>
                      <a:r>
                        <a:rPr lang="ko-KR" altLang="en-US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컨센서스</a:t>
                      </a:r>
                      <a:r>
                        <a:rPr lang="en-US" altLang="ko-KR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(24E~27E)</a:t>
                      </a:r>
                      <a:endParaRPr lang="ko-KR" altLang="en-US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EPS revision 1M</a:t>
                      </a:r>
                      <a:endParaRPr lang="ko-KR" altLang="en-US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0101172"/>
                  </a:ext>
                </a:extLst>
              </a:tr>
              <a:tr h="514596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목표주가 </a:t>
                      </a:r>
                      <a:r>
                        <a:rPr lang="ko-KR" altLang="en-US" sz="1600" dirty="0" err="1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괴리율</a:t>
                      </a:r>
                      <a:r>
                        <a:rPr lang="en-US" altLang="ko-KR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(%)</a:t>
                      </a:r>
                      <a:endParaRPr lang="ko-KR" altLang="en-US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Target Upside</a:t>
                      </a:r>
                      <a:endParaRPr lang="ko-KR" altLang="en-US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5207646"/>
                  </a:ext>
                </a:extLst>
              </a:tr>
              <a:tr h="410770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투자의견</a:t>
                      </a:r>
                      <a:r>
                        <a:rPr lang="en-US" altLang="ko-KR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포인트</a:t>
                      </a:r>
                      <a:r>
                        <a:rPr lang="en-US" altLang="ko-KR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Rating Point</a:t>
                      </a:r>
                      <a:endParaRPr lang="ko-KR" altLang="en-US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867149"/>
                  </a:ext>
                </a:extLst>
              </a:tr>
            </a:tbl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D720C0E8-91D3-1841-99F8-52DA6C15C2E3}"/>
              </a:ext>
            </a:extLst>
          </p:cNvPr>
          <p:cNvSpPr txBox="1"/>
          <p:nvPr/>
        </p:nvSpPr>
        <p:spPr>
          <a:xfrm>
            <a:off x="762000" y="15748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기간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EA7EE18-FAAA-514E-B4D6-CCABBC2C460A}"/>
              </a:ext>
            </a:extLst>
          </p:cNvPr>
          <p:cNvSpPr txBox="1"/>
          <p:nvPr/>
        </p:nvSpPr>
        <p:spPr>
          <a:xfrm>
            <a:off x="762000" y="1981200"/>
            <a:ext cx="1397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데이터 수집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3EF7977-FF6F-1941-AF96-7D26CE71DF7D}"/>
              </a:ext>
            </a:extLst>
          </p:cNvPr>
          <p:cNvSpPr txBox="1"/>
          <p:nvPr/>
        </p:nvSpPr>
        <p:spPr>
          <a:xfrm>
            <a:off x="2260600" y="19812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2024-07-09 ~ 2026-05-06</a:t>
            </a:r>
            <a:r>
              <a:rPr lang="ko-KR" altLang="en-US" sz="12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2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2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일별</a:t>
            </a:r>
            <a:r>
              <a:rPr lang="en-US" altLang="ko-KR" sz="12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,</a:t>
            </a:r>
            <a:r>
              <a:rPr lang="ko-KR" altLang="en-US" sz="12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 비영업일제외</a:t>
            </a:r>
            <a:r>
              <a:rPr lang="en-US" altLang="ko-KR" sz="12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)</a:t>
            </a:r>
            <a:endParaRPr lang="ko-KR" altLang="en-US" sz="1200" dirty="0">
              <a:solidFill>
                <a:srgbClr val="5959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C629DEE-2A77-4140-9BE9-460D97220DDA}"/>
              </a:ext>
            </a:extLst>
          </p:cNvPr>
          <p:cNvSpPr txBox="1"/>
          <p:nvPr/>
        </p:nvSpPr>
        <p:spPr>
          <a:xfrm>
            <a:off x="762000" y="2260600"/>
            <a:ext cx="1397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수익률 평가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07A50CD-1704-FB40-96F8-23A8C2615B86}"/>
              </a:ext>
            </a:extLst>
          </p:cNvPr>
          <p:cNvSpPr txBox="1"/>
          <p:nvPr/>
        </p:nvSpPr>
        <p:spPr>
          <a:xfrm>
            <a:off x="2260600" y="22606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2024-07-10 ~ 2026-05-06 (441</a:t>
            </a:r>
            <a:r>
              <a:rPr lang="ko-KR" altLang="en-US" sz="12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일</a:t>
            </a:r>
            <a:r>
              <a:rPr lang="en-US" altLang="ko-KR" sz="12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)</a:t>
            </a:r>
            <a:endParaRPr lang="ko-KR" altLang="en-US" sz="1200">
              <a:solidFill>
                <a:srgbClr val="5959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6342DBF-C869-E048-A167-F46893862437}"/>
              </a:ext>
            </a:extLst>
          </p:cNvPr>
          <p:cNvSpPr txBox="1"/>
          <p:nvPr/>
        </p:nvSpPr>
        <p:spPr>
          <a:xfrm>
            <a:off x="762000" y="2540000"/>
            <a:ext cx="1397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공분산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40F9F46-6A72-B243-87A0-2FD2A7B65F7F}"/>
              </a:ext>
            </a:extLst>
          </p:cNvPr>
          <p:cNvSpPr txBox="1"/>
          <p:nvPr/>
        </p:nvSpPr>
        <p:spPr>
          <a:xfrm>
            <a:off x="22606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리밸런싱일 이전 </a:t>
            </a:r>
            <a:r>
              <a:rPr lang="en-US" altLang="ko-KR" sz="12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60</a:t>
            </a:r>
            <a:r>
              <a:rPr lang="ko-KR" altLang="en-US" sz="12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거래일 </a:t>
            </a:r>
            <a:r>
              <a:rPr lang="en" altLang="ko-KR" sz="12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rolling</a:t>
            </a:r>
            <a:endParaRPr lang="ko-KR" altLang="en-US" sz="1200">
              <a:solidFill>
                <a:srgbClr val="5959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2C6F4EE-EFEA-DA47-B661-ACD6F7C96220}"/>
              </a:ext>
            </a:extLst>
          </p:cNvPr>
          <p:cNvSpPr txBox="1"/>
          <p:nvPr/>
        </p:nvSpPr>
        <p:spPr>
          <a:xfrm>
            <a:off x="762000" y="2819400"/>
            <a:ext cx="1397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200" b="1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Capacity</a:t>
            </a:r>
            <a:endParaRPr lang="ko-KR" altLang="en-US" sz="1200" b="1">
              <a:solidFill>
                <a:srgbClr val="0E284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5648757-A110-F74D-A779-3068E76D9AF5}"/>
              </a:ext>
            </a:extLst>
          </p:cNvPr>
          <p:cNvSpPr txBox="1"/>
          <p:nvPr/>
        </p:nvSpPr>
        <p:spPr>
          <a:xfrm>
            <a:off x="2260600" y="28194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리밸런싱일 이전 </a:t>
            </a:r>
            <a:r>
              <a:rPr lang="en-US" altLang="ko-KR" sz="12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20</a:t>
            </a:r>
            <a:r>
              <a:rPr lang="ko-KR" altLang="en-US" sz="12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거래일 </a:t>
            </a:r>
            <a:r>
              <a:rPr lang="en" altLang="ko-KR" sz="12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ADV</a:t>
            </a:r>
            <a:endParaRPr lang="ko-KR" altLang="en-US" sz="1200">
              <a:solidFill>
                <a:srgbClr val="5959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5ACCB558-2B67-A940-B390-473685F22EB5}"/>
              </a:ext>
            </a:extLst>
          </p:cNvPr>
          <p:cNvSpPr/>
          <p:nvPr/>
        </p:nvSpPr>
        <p:spPr>
          <a:xfrm>
            <a:off x="6418706" y="1936229"/>
            <a:ext cx="5461000" cy="1371600"/>
          </a:xfrm>
          <a:prstGeom prst="rect">
            <a:avLst/>
          </a:prstGeom>
          <a:noFill/>
          <a:ln w="6350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ABBF3B5-1F12-0247-A348-6482E0F4D84A}"/>
              </a:ext>
            </a:extLst>
          </p:cNvPr>
          <p:cNvSpPr txBox="1"/>
          <p:nvPr/>
        </p:nvSpPr>
        <p:spPr>
          <a:xfrm>
            <a:off x="6636896" y="2007849"/>
            <a:ext cx="51054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3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EPS revision 1M</a:t>
            </a:r>
            <a:endParaRPr lang="ko-KR" altLang="en-US" sz="1300" b="1">
              <a:solidFill>
                <a:srgbClr val="982A2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C0B1EA1-C957-184F-A8EA-C7C7E525E0D3}"/>
              </a:ext>
            </a:extLst>
          </p:cNvPr>
          <p:cNvSpPr txBox="1"/>
          <p:nvPr/>
        </p:nvSpPr>
        <p:spPr>
          <a:xfrm>
            <a:off x="6636896" y="2261849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다음 연도 </a:t>
            </a:r>
            <a:r>
              <a:rPr lang="en" altLang="ko-KR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EPS </a:t>
            </a:r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컨센서스의 </a:t>
            </a:r>
            <a:r>
              <a:rPr lang="en-US" altLang="ko-KR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21</a:t>
            </a:r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거래일 변화율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D8C8C8B-3EA2-A14A-A811-4D8E78850F17}"/>
              </a:ext>
            </a:extLst>
          </p:cNvPr>
          <p:cNvSpPr txBox="1"/>
          <p:nvPr/>
        </p:nvSpPr>
        <p:spPr>
          <a:xfrm>
            <a:off x="7322696" y="2689472"/>
            <a:ext cx="1397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" altLang="ko-KR" sz="1600" dirty="0">
                <a:solidFill>
                  <a:srgbClr val="0E2841"/>
                </a:solidFill>
                <a:latin typeface="Cambria Math"/>
                <a:ea typeface="Cambria Math"/>
              </a:rPr>
              <a:t>EPS rev  =</a:t>
            </a:r>
            <a:endParaRPr lang="ko-KR" altLang="en-US" sz="1600" dirty="0">
              <a:solidFill>
                <a:srgbClr val="0E2841"/>
              </a:solidFill>
              <a:latin typeface="Cambria Math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264973-702E-A846-B0A6-F3A1CB407545}"/>
              </a:ext>
            </a:extLst>
          </p:cNvPr>
          <p:cNvSpPr txBox="1"/>
          <p:nvPr/>
        </p:nvSpPr>
        <p:spPr>
          <a:xfrm>
            <a:off x="8326620" y="2567456"/>
            <a:ext cx="2540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b" anchorCtr="0">
            <a:spAutoFit/>
          </a:bodyPr>
          <a:lstStyle/>
          <a:p>
            <a:pPr algn="ctr"/>
            <a:r>
              <a:rPr lang="en" altLang="ko-KR" sz="1600" dirty="0">
                <a:solidFill>
                  <a:srgbClr val="0E2841"/>
                </a:solidFill>
                <a:latin typeface="Cambria Math"/>
                <a:ea typeface="Cambria Math"/>
              </a:rPr>
              <a:t>EPSₜ  −  EPSₜ₋₂₁</a:t>
            </a:r>
            <a:endParaRPr lang="ko-KR" altLang="en-US" sz="1600" dirty="0">
              <a:solidFill>
                <a:srgbClr val="0E2841"/>
              </a:solidFill>
              <a:latin typeface="Cambria Math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EAA2A469-46D9-BD48-A220-5036DDE1A75E}"/>
              </a:ext>
            </a:extLst>
          </p:cNvPr>
          <p:cNvSpPr/>
          <p:nvPr/>
        </p:nvSpPr>
        <p:spPr>
          <a:xfrm>
            <a:off x="8458200" y="2933700"/>
            <a:ext cx="2336800" cy="1905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346B1E4-EF47-144E-9AAE-1EBB251CFB59}"/>
              </a:ext>
            </a:extLst>
          </p:cNvPr>
          <p:cNvSpPr txBox="1"/>
          <p:nvPr/>
        </p:nvSpPr>
        <p:spPr>
          <a:xfrm>
            <a:off x="8326621" y="2914129"/>
            <a:ext cx="2540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ctr"/>
            <a:r>
              <a:rPr lang="en" altLang="ko-KR" sz="1600" dirty="0">
                <a:solidFill>
                  <a:srgbClr val="0E2841"/>
                </a:solidFill>
                <a:latin typeface="Cambria Math"/>
                <a:ea typeface="Cambria Math"/>
              </a:rPr>
              <a:t>EPSₜ₋₂₁</a:t>
            </a:r>
            <a:endParaRPr lang="ko-KR" altLang="en-US" sz="1600" dirty="0">
              <a:solidFill>
                <a:srgbClr val="0E2841"/>
              </a:solidFill>
              <a:latin typeface="Cambria Math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12560CEA-98C6-3249-BC3D-442065AB63FB}"/>
              </a:ext>
            </a:extLst>
          </p:cNvPr>
          <p:cNvSpPr/>
          <p:nvPr/>
        </p:nvSpPr>
        <p:spPr>
          <a:xfrm>
            <a:off x="6433695" y="3429000"/>
            <a:ext cx="5461000" cy="1371600"/>
          </a:xfrm>
          <a:prstGeom prst="rect">
            <a:avLst/>
          </a:prstGeom>
          <a:noFill/>
          <a:ln w="6350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86E8D84-D141-3247-9536-F04B56EE6A49}"/>
              </a:ext>
            </a:extLst>
          </p:cNvPr>
          <p:cNvSpPr txBox="1"/>
          <p:nvPr/>
        </p:nvSpPr>
        <p:spPr>
          <a:xfrm>
            <a:off x="6636896" y="3506449"/>
            <a:ext cx="51054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3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Target upside</a:t>
            </a:r>
            <a:endParaRPr lang="ko-KR" altLang="en-US" sz="1300" b="1">
              <a:solidFill>
                <a:srgbClr val="982A2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F6A2BF2-33BD-F74D-80F8-5C2742A512DF}"/>
              </a:ext>
            </a:extLst>
          </p:cNvPr>
          <p:cNvSpPr txBox="1"/>
          <p:nvPr/>
        </p:nvSpPr>
        <p:spPr>
          <a:xfrm>
            <a:off x="6636896" y="3760449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목표주가 대비 현재가 괴리율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81CF3A0-8568-E949-BF78-410FD046307E}"/>
              </a:ext>
            </a:extLst>
          </p:cNvPr>
          <p:cNvSpPr txBox="1"/>
          <p:nvPr/>
        </p:nvSpPr>
        <p:spPr>
          <a:xfrm>
            <a:off x="7322696" y="4180377"/>
            <a:ext cx="1397000" cy="35394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" altLang="ko-KR" sz="1700">
                <a:solidFill>
                  <a:srgbClr val="0E2841"/>
                </a:solidFill>
                <a:latin typeface="Cambria Math"/>
                <a:ea typeface="Cambria Math"/>
              </a:rPr>
              <a:t>Upside  =</a:t>
            </a:r>
            <a:endParaRPr lang="ko-KR" altLang="en-US" sz="1700">
              <a:solidFill>
                <a:srgbClr val="0E2841"/>
              </a:solidFill>
              <a:latin typeface="Cambria Math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35D4655-5A72-1341-8B19-ECE58114D721}"/>
              </a:ext>
            </a:extLst>
          </p:cNvPr>
          <p:cNvSpPr txBox="1"/>
          <p:nvPr/>
        </p:nvSpPr>
        <p:spPr>
          <a:xfrm>
            <a:off x="8281650" y="4098137"/>
            <a:ext cx="2540000" cy="35394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b" anchorCtr="0">
            <a:spAutoFit/>
          </a:bodyPr>
          <a:lstStyle/>
          <a:p>
            <a:pPr algn="ctr"/>
            <a:r>
              <a:rPr lang="en" altLang="ko-KR" sz="1700" dirty="0">
                <a:solidFill>
                  <a:srgbClr val="0E2841"/>
                </a:solidFill>
                <a:latin typeface="Cambria Math"/>
                <a:ea typeface="Cambria Math"/>
              </a:rPr>
              <a:t>TP  −  P</a:t>
            </a:r>
            <a:endParaRPr lang="ko-KR" altLang="en-US" sz="1700" dirty="0">
              <a:solidFill>
                <a:srgbClr val="0E2841"/>
              </a:solidFill>
              <a:latin typeface="Cambria Math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88FD16DB-0EF6-EC4E-A074-60B0D202E0D6}"/>
              </a:ext>
            </a:extLst>
          </p:cNvPr>
          <p:cNvSpPr/>
          <p:nvPr/>
        </p:nvSpPr>
        <p:spPr>
          <a:xfrm>
            <a:off x="8458200" y="4432300"/>
            <a:ext cx="2336800" cy="1905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DEF753C-308D-5A48-B1AA-198271264ABA}"/>
              </a:ext>
            </a:extLst>
          </p:cNvPr>
          <p:cNvSpPr txBox="1"/>
          <p:nvPr/>
        </p:nvSpPr>
        <p:spPr>
          <a:xfrm>
            <a:off x="8326620" y="4427720"/>
            <a:ext cx="2540000" cy="35394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ctr"/>
            <a:r>
              <a:rPr lang="en" altLang="ko-KR" sz="1700" dirty="0">
                <a:solidFill>
                  <a:srgbClr val="0E2841"/>
                </a:solidFill>
                <a:latin typeface="Cambria Math"/>
                <a:ea typeface="Cambria Math"/>
              </a:rPr>
              <a:t>P</a:t>
            </a:r>
            <a:endParaRPr lang="ko-KR" altLang="en-US" sz="1700" dirty="0">
              <a:solidFill>
                <a:srgbClr val="0E2841"/>
              </a:solidFill>
              <a:latin typeface="Cambria Math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CEF4C724-62DB-8145-91BB-2FCF6D057F45}"/>
              </a:ext>
            </a:extLst>
          </p:cNvPr>
          <p:cNvSpPr/>
          <p:nvPr/>
        </p:nvSpPr>
        <p:spPr>
          <a:xfrm>
            <a:off x="6433696" y="4903449"/>
            <a:ext cx="5461000" cy="1371600"/>
          </a:xfrm>
          <a:prstGeom prst="rect">
            <a:avLst/>
          </a:prstGeom>
          <a:noFill/>
          <a:ln w="6350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7DC4F7F-C08F-194F-8C51-69A58A20CCFD}"/>
              </a:ext>
            </a:extLst>
          </p:cNvPr>
          <p:cNvSpPr txBox="1"/>
          <p:nvPr/>
        </p:nvSpPr>
        <p:spPr>
          <a:xfrm>
            <a:off x="6636896" y="5005049"/>
            <a:ext cx="51054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3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20D ADV</a:t>
            </a:r>
            <a:endParaRPr lang="ko-KR" altLang="en-US" sz="1300" b="1">
              <a:solidFill>
                <a:srgbClr val="982A2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B0B4DD2-124F-6848-9607-31229D162607}"/>
              </a:ext>
            </a:extLst>
          </p:cNvPr>
          <p:cNvSpPr txBox="1"/>
          <p:nvPr/>
        </p:nvSpPr>
        <p:spPr>
          <a:xfrm>
            <a:off x="6636896" y="5259049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리밸런싱일 이전 </a:t>
            </a:r>
            <a:r>
              <a:rPr lang="en-US" altLang="ko-KR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20</a:t>
            </a:r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거래일 평균 거래대금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5EEFB7B-D31D-7545-B402-E989E3FDC6AF}"/>
              </a:ext>
            </a:extLst>
          </p:cNvPr>
          <p:cNvSpPr txBox="1"/>
          <p:nvPr/>
        </p:nvSpPr>
        <p:spPr>
          <a:xfrm>
            <a:off x="7532559" y="5701662"/>
            <a:ext cx="1397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" altLang="ko-KR" sz="1600" dirty="0">
                <a:solidFill>
                  <a:srgbClr val="0E2841"/>
                </a:solidFill>
                <a:latin typeface="Cambria Math"/>
                <a:ea typeface="Cambria Math"/>
              </a:rPr>
              <a:t>ADV  =</a:t>
            </a:r>
            <a:endParaRPr lang="ko-KR" altLang="en-US" sz="1600" dirty="0">
              <a:solidFill>
                <a:srgbClr val="0E2841"/>
              </a:solidFill>
              <a:latin typeface="Cambria Math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A2AA47D-AFE3-A847-B3BD-AD79BD3D5ABA}"/>
              </a:ext>
            </a:extLst>
          </p:cNvPr>
          <p:cNvSpPr txBox="1"/>
          <p:nvPr/>
        </p:nvSpPr>
        <p:spPr>
          <a:xfrm>
            <a:off x="8311630" y="5549665"/>
            <a:ext cx="2540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b" anchorCtr="0">
            <a:spAutoFit/>
          </a:bodyPr>
          <a:lstStyle/>
          <a:p>
            <a:pPr algn="ctr"/>
            <a:r>
              <a:rPr lang="el-GR" altLang="ko-KR" sz="1600" dirty="0">
                <a:solidFill>
                  <a:srgbClr val="0E2841"/>
                </a:solidFill>
                <a:latin typeface="Cambria Math"/>
                <a:ea typeface="Cambria Math"/>
              </a:rPr>
              <a:t>Σ </a:t>
            </a:r>
            <a:r>
              <a:rPr lang="en" altLang="ko-KR" sz="1600" dirty="0" err="1">
                <a:solidFill>
                  <a:srgbClr val="0E2841"/>
                </a:solidFill>
                <a:latin typeface="Cambria Math"/>
                <a:ea typeface="Cambria Math"/>
              </a:rPr>
              <a:t>TradingValue</a:t>
            </a:r>
            <a:endParaRPr lang="ko-KR" altLang="en-US" sz="1600" dirty="0">
              <a:solidFill>
                <a:srgbClr val="0E2841"/>
              </a:solidFill>
              <a:latin typeface="Cambria Math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1E572076-2345-ED4B-A5CC-3614AB033AE6}"/>
              </a:ext>
            </a:extLst>
          </p:cNvPr>
          <p:cNvSpPr/>
          <p:nvPr/>
        </p:nvSpPr>
        <p:spPr>
          <a:xfrm>
            <a:off x="8458200" y="5930900"/>
            <a:ext cx="2336800" cy="1905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3830F65-BB14-6846-9F6A-0B42EE7C2DAB}"/>
              </a:ext>
            </a:extLst>
          </p:cNvPr>
          <p:cNvSpPr txBox="1"/>
          <p:nvPr/>
        </p:nvSpPr>
        <p:spPr>
          <a:xfrm>
            <a:off x="8296641" y="5956300"/>
            <a:ext cx="2540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0E2841"/>
                </a:solidFill>
                <a:latin typeface="Cambria Math"/>
                <a:ea typeface="Cambria Math"/>
              </a:rPr>
              <a:t>20</a:t>
            </a:r>
            <a:endParaRPr lang="ko-KR" altLang="en-US" sz="1600" dirty="0">
              <a:solidFill>
                <a:srgbClr val="0E2841"/>
              </a:solidFill>
              <a:latin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490561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0E060A7-F56C-474E-B9B3-D9E1DBE7D577}"/>
              </a:ext>
            </a:extLst>
          </p:cNvPr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8246D6-37CD-CA4A-94D9-62C51882C59C}"/>
              </a:ext>
            </a:extLst>
          </p:cNvPr>
          <p:cNvSpPr txBox="1"/>
          <p:nvPr/>
        </p:nvSpPr>
        <p:spPr>
          <a:xfrm>
            <a:off x="762000" y="457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04</a:t>
            </a:r>
            <a:endParaRPr lang="ko-KR" altLang="en-US" sz="1200" b="1" dirty="0">
              <a:solidFill>
                <a:srgbClr val="982A2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68A8F7-667D-004D-89D7-07DDDEC7F4A4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8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종목 편입 이력</a:t>
            </a:r>
            <a:r>
              <a:rPr lang="en-US" altLang="ko-KR" sz="28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: </a:t>
            </a:r>
            <a:r>
              <a:rPr lang="en" altLang="ko-KR" sz="28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PDF </a:t>
            </a:r>
            <a:r>
              <a:rPr lang="ko-KR" altLang="en-US" sz="28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후속 편입은 편입 이후만 활용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ED3AD54-3F3D-594B-B887-2D5B3C42BE46}"/>
              </a:ext>
            </a:extLst>
          </p:cNvPr>
          <p:cNvSpPr/>
          <p:nvPr/>
        </p:nvSpPr>
        <p:spPr>
          <a:xfrm>
            <a:off x="762000" y="1473200"/>
            <a:ext cx="762000" cy="381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30703322-0E46-FA49-96B7-51FB2DA584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56510"/>
              </p:ext>
            </p:extLst>
          </p:nvPr>
        </p:nvGraphicFramePr>
        <p:xfrm>
          <a:off x="762000" y="1778000"/>
          <a:ext cx="4572001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783">
                  <a:extLst>
                    <a:ext uri="{9D8B030D-6E8A-4147-A177-3AD203B41FA5}">
                      <a16:colId xmlns:a16="http://schemas.microsoft.com/office/drawing/2014/main" val="708516276"/>
                    </a:ext>
                  </a:extLst>
                </a:gridCol>
                <a:gridCol w="1755913">
                  <a:extLst>
                    <a:ext uri="{9D8B030D-6E8A-4147-A177-3AD203B41FA5}">
                      <a16:colId xmlns:a16="http://schemas.microsoft.com/office/drawing/2014/main" val="511767728"/>
                    </a:ext>
                  </a:extLst>
                </a:gridCol>
                <a:gridCol w="1474305">
                  <a:extLst>
                    <a:ext uri="{9D8B030D-6E8A-4147-A177-3AD203B41FA5}">
                      <a16:colId xmlns:a16="http://schemas.microsoft.com/office/drawing/2014/main" val="2894260648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종목명</a:t>
                      </a:r>
                    </a:p>
                  </a:txBody>
                  <a:tcPr anchor="ctr">
                    <a:solidFill>
                      <a:srgbClr val="98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최초 PDF 편입일</a:t>
                      </a:r>
                    </a:p>
                  </a:txBody>
                  <a:tcPr anchor="ctr">
                    <a:solidFill>
                      <a:srgbClr val="98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구분</a:t>
                      </a:r>
                    </a:p>
                  </a:txBody>
                  <a:tcPr anchor="ctr">
                    <a:solidFill>
                      <a:srgbClr val="982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84816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가온전선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2024-07-09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초기 구성종목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75644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대한전선</a:t>
                      </a:r>
                    </a:p>
                  </a:txBody>
                  <a:tcPr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2024-07-09</a:t>
                      </a:r>
                    </a:p>
                  </a:txBody>
                  <a:tcPr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초기 구성종목</a:t>
                      </a:r>
                    </a:p>
                  </a:txBody>
                  <a:tcPr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40740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2024-07-09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초기 구성종목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92238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LS ELECTRIC</a:t>
                      </a:r>
                    </a:p>
                  </a:txBody>
                  <a:tcPr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2024-07-09</a:t>
                      </a:r>
                    </a:p>
                  </a:txBody>
                  <a:tcPr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초기 구성종목</a:t>
                      </a:r>
                    </a:p>
                  </a:txBody>
                  <a:tcPr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25842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제룡전기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2024-07-09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초기 구성종목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05563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LS 마린솔루션</a:t>
                      </a:r>
                    </a:p>
                  </a:txBody>
                  <a:tcPr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2024-07-09</a:t>
                      </a:r>
                    </a:p>
                  </a:txBody>
                  <a:tcPr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초기 구성종목</a:t>
                      </a:r>
                    </a:p>
                  </a:txBody>
                  <a:tcPr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2117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일진전기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2024-07-09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초기 구성종목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932946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LS 에코에너지</a:t>
                      </a:r>
                    </a:p>
                  </a:txBody>
                  <a:tcPr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2024-07-09</a:t>
                      </a:r>
                    </a:p>
                  </a:txBody>
                  <a:tcPr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초기 구성종목</a:t>
                      </a:r>
                    </a:p>
                  </a:txBody>
                  <a:tcPr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74603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HD 현대일렉트릭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2024-07-09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초기 구성종목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74433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효성중공업</a:t>
                      </a:r>
                    </a:p>
                  </a:txBody>
                  <a:tcPr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2024-07-09</a:t>
                      </a:r>
                    </a:p>
                  </a:txBody>
                  <a:tcPr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초기 구성종목</a:t>
                      </a:r>
                    </a:p>
                  </a:txBody>
                  <a:tcPr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67688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산일전기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2024-12-16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후속 편입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908949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대원전선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2025-12-15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후속 편입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51888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CE94CC7C-0362-2C49-8F99-1BF5C932B814}"/>
              </a:ext>
            </a:extLst>
          </p:cNvPr>
          <p:cNvSpPr/>
          <p:nvPr/>
        </p:nvSpPr>
        <p:spPr>
          <a:xfrm>
            <a:off x="762000" y="5969000"/>
            <a:ext cx="10668000" cy="635000"/>
          </a:xfrm>
          <a:prstGeom prst="rect">
            <a:avLst/>
          </a:prstGeom>
          <a:noFill/>
          <a:ln w="6350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2A94F6-EFBF-744D-8BA9-6001683D3815}"/>
              </a:ext>
            </a:extLst>
          </p:cNvPr>
          <p:cNvSpPr txBox="1"/>
          <p:nvPr/>
        </p:nvSpPr>
        <p:spPr>
          <a:xfrm>
            <a:off x="990600" y="60706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2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Look-ahead </a:t>
            </a:r>
            <a:r>
              <a:rPr lang="ko-KR" altLang="en-US" sz="12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차단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6394BC-51C6-AB43-9655-9128EE75D175}"/>
              </a:ext>
            </a:extLst>
          </p:cNvPr>
          <p:cNvSpPr txBox="1"/>
          <p:nvPr/>
        </p:nvSpPr>
        <p:spPr>
          <a:xfrm>
            <a:off x="990600" y="6299200"/>
            <a:ext cx="10414000" cy="26161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산일전기</a:t>
            </a:r>
            <a:r>
              <a:rPr lang="en-US" altLang="ko-KR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대원전선처럼 </a:t>
            </a:r>
            <a:r>
              <a:rPr lang="en" altLang="ko-KR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ETF </a:t>
            </a:r>
            <a:r>
              <a:rPr lang="ko-KR" altLang="en-US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후속 편입 종목은 </a:t>
            </a:r>
            <a:r>
              <a:rPr lang="en" altLang="ko-KR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PDF </a:t>
            </a:r>
            <a:r>
              <a:rPr lang="ko-KR" altLang="en-US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편입 이전 구간에서 비중 </a:t>
            </a:r>
            <a:r>
              <a:rPr lang="en-US" altLang="ko-KR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= 0.</a:t>
            </a:r>
            <a:endParaRPr lang="ko-KR" altLang="en-US" sz="1100" dirty="0">
              <a:solidFill>
                <a:srgbClr val="595959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C32BFBC-772B-5053-BA4C-A562A20D4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9222" y="1896533"/>
            <a:ext cx="7281510" cy="3613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254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D5626B0-527E-2848-A445-F5C67D9ECB94}"/>
              </a:ext>
            </a:extLst>
          </p:cNvPr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4937B8-73DE-BC4E-A665-6CC7CBD8E8B1}"/>
              </a:ext>
            </a:extLst>
          </p:cNvPr>
          <p:cNvSpPr txBox="1"/>
          <p:nvPr/>
        </p:nvSpPr>
        <p:spPr>
          <a:xfrm>
            <a:off x="762000" y="457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>
                <a:solidFill>
                  <a:srgbClr val="982A2F"/>
                </a:solidFill>
                <a:latin typeface="Pretendard"/>
                <a:ea typeface="Pretendard"/>
              </a:rPr>
              <a:t>05</a:t>
            </a:r>
            <a:endParaRPr lang="ko-KR" altLang="en-US" sz="1200" b="1">
              <a:solidFill>
                <a:srgbClr val="982A2F"/>
              </a:solidFill>
              <a:latin typeface="Pretendard"/>
              <a:ea typeface="Pretendar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09942D-1848-0540-8889-737AB6B08C25}"/>
              </a:ext>
            </a:extLst>
          </p:cNvPr>
          <p:cNvSpPr txBox="1"/>
          <p:nvPr/>
        </p:nvSpPr>
        <p:spPr>
          <a:xfrm>
            <a:off x="762000" y="762000"/>
            <a:ext cx="10668000" cy="58477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3200" b="1" dirty="0">
                <a:solidFill>
                  <a:srgbClr val="0E2841"/>
                </a:solidFill>
                <a:latin typeface="Pretendard"/>
                <a:ea typeface="Pretendard"/>
              </a:rPr>
              <a:t>Consensus Score</a:t>
            </a:r>
            <a:endParaRPr lang="ko-KR" altLang="en-US" sz="3200" b="1" dirty="0">
              <a:solidFill>
                <a:srgbClr val="0E2841"/>
              </a:solidFill>
              <a:latin typeface="Pretendard"/>
              <a:ea typeface="Pretendard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8F2F4B9-FE04-174F-A34E-92A28D018356}"/>
              </a:ext>
            </a:extLst>
          </p:cNvPr>
          <p:cNvSpPr/>
          <p:nvPr/>
        </p:nvSpPr>
        <p:spPr>
          <a:xfrm>
            <a:off x="762000" y="1473200"/>
            <a:ext cx="762000" cy="381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F97B292-2B66-934E-B956-D9D612CDF40E}"/>
              </a:ext>
            </a:extLst>
          </p:cNvPr>
          <p:cNvSpPr/>
          <p:nvPr/>
        </p:nvSpPr>
        <p:spPr>
          <a:xfrm>
            <a:off x="762000" y="1778000"/>
            <a:ext cx="10668000" cy="889000"/>
          </a:xfrm>
          <a:prstGeom prst="rect">
            <a:avLst/>
          </a:prstGeom>
          <a:solidFill>
            <a:srgbClr val="F4F4F7"/>
          </a:solidFill>
          <a:ln w="9525" cap="flat" cmpd="sng" algn="ctr">
            <a:solidFill>
              <a:srgbClr val="982A2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4973631-0C3A-7B4B-AABE-764844F775EE}"/>
                  </a:ext>
                </a:extLst>
              </p:cNvPr>
              <p:cNvSpPr txBox="1"/>
              <p:nvPr/>
            </p:nvSpPr>
            <p:spPr>
              <a:xfrm>
                <a:off x="889000" y="1931649"/>
                <a:ext cx="10414000" cy="6127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" altLang="ko-KR" i="1" dirty="0" smtClean="0">
                          <a:latin typeface="Cambria Math" panose="02040503050406030204" pitchFamily="18" charset="0"/>
                        </a:rPr>
                        <m:t>𝐶𝑜𝑛𝑠𝑒𝑛𝑠𝑢𝑠𝑆𝑐𝑜𝑟</m:t>
                      </m:r>
                      <m:sSub>
                        <m:sSubPr>
                          <m:ctrlPr>
                            <a:rPr lang="en" altLang="ko-KR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" altLang="ko-KR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" altLang="ko-KR" i="1" dirty="0" err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" altLang="ko-KR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" altLang="ko-KR" i="1" dirty="0" err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" altLang="ko-KR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" altLang="ko-KR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" altLang="ko-KR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" altLang="ko-KR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" altLang="ko-KR" i="1" dirty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" altLang="ko-KR" i="1" dirty="0"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ctrlPr>
                            <a:rPr lang="en" altLang="ko-K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" altLang="ko-KR" i="1" dirty="0">
                              <a:latin typeface="Cambria Math" panose="02040503050406030204" pitchFamily="18" charset="0"/>
                            </a:rPr>
                            <m:t>𝐸𝑃𝑆𝑅𝑒𝑣𝑖𝑠𝑖𝑜𝑛</m:t>
                          </m:r>
                          <m:r>
                            <a:rPr lang="en" altLang="ko-KR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sSub>
                            <m:sSubPr>
                              <m:ctrlPr>
                                <a:rPr lang="en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" altLang="ko-KR" i="1" dirty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" altLang="ko-KR" i="1" dirty="0" err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" altLang="ko-KR" i="1" dirty="0" err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" altLang="ko-KR" i="1" dirty="0" err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" altLang="ko-KR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" altLang="ko-KR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" altLang="ko-KR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" altLang="ko-KR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" altLang="ko-KR" i="1" dirty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" altLang="ko-KR" i="1" dirty="0"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ctrlPr>
                            <a:rPr lang="en" altLang="ko-K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" altLang="ko-KR" i="1" dirty="0" err="1">
                              <a:latin typeface="Cambria Math" panose="02040503050406030204" pitchFamily="18" charset="0"/>
                            </a:rPr>
                            <m:t>𝑇𝑎𝑟𝑔𝑒𝑡𝑈𝑝𝑠𝑖𝑑</m:t>
                          </m:r>
                          <m:sSub>
                            <m:sSubPr>
                              <m:ctrlPr>
                                <a:rPr lang="en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" altLang="ko-KR" i="1" dirty="0" err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" altLang="ko-KR" i="1" dirty="0" err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" altLang="ko-KR" i="1" dirty="0" err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" altLang="ko-KR" i="1" dirty="0" err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" altLang="ko-KR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" altLang="ko-KR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" altLang="ko-KR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" altLang="ko-KR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" altLang="ko-KR" i="1" dirty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" altLang="ko-KR" i="1" dirty="0"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ctrlPr>
                            <a:rPr lang="en" altLang="ko-K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" altLang="ko-KR" i="1" dirty="0" err="1">
                              <a:latin typeface="Cambria Math" panose="02040503050406030204" pitchFamily="18" charset="0"/>
                            </a:rPr>
                            <m:t>𝑅𝑎𝑡𝑖𝑛𝑔𝑃𝑜𝑖𝑛</m:t>
                          </m:r>
                          <m:sSub>
                            <m:sSubPr>
                              <m:ctrlPr>
                                <a:rPr lang="en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" altLang="ko-KR" i="1" dirty="0" err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" altLang="ko-KR" i="1" dirty="0" err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" altLang="ko-KR" i="1" dirty="0" err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" altLang="ko-KR" i="1" dirty="0" err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4973631-0C3A-7B4B-AABE-764844F77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00" y="1931649"/>
                <a:ext cx="10414000" cy="612732"/>
              </a:xfrm>
              <a:prstGeom prst="rect">
                <a:avLst/>
              </a:prstGeom>
              <a:blipFill>
                <a:blip r:embed="rId3"/>
                <a:stretch>
                  <a:fillRect b="-40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직사각형 9">
            <a:extLst>
              <a:ext uri="{FF2B5EF4-FFF2-40B4-BE49-F238E27FC236}">
                <a16:creationId xmlns:a16="http://schemas.microsoft.com/office/drawing/2014/main" id="{EB009AEA-D981-1441-A00C-264960041F40}"/>
              </a:ext>
            </a:extLst>
          </p:cNvPr>
          <p:cNvSpPr/>
          <p:nvPr/>
        </p:nvSpPr>
        <p:spPr>
          <a:xfrm>
            <a:off x="762000" y="3048000"/>
            <a:ext cx="3467100" cy="254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E68CA47-887C-9F47-A2F8-F5E9B6D60256}"/>
              </a:ext>
            </a:extLst>
          </p:cNvPr>
          <p:cNvSpPr/>
          <p:nvPr/>
        </p:nvSpPr>
        <p:spPr>
          <a:xfrm>
            <a:off x="762000" y="3048000"/>
            <a:ext cx="3467100" cy="508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2EA938-377A-A146-BB85-03EB2EA5A7F3}"/>
              </a:ext>
            </a:extLst>
          </p:cNvPr>
          <p:cNvSpPr txBox="1"/>
          <p:nvPr/>
        </p:nvSpPr>
        <p:spPr>
          <a:xfrm>
            <a:off x="965200" y="3276600"/>
            <a:ext cx="30607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b="1" dirty="0">
                <a:solidFill>
                  <a:srgbClr val="982A2F"/>
                </a:solidFill>
                <a:latin typeface="Pretendard"/>
                <a:ea typeface="Pretendard"/>
              </a:rPr>
              <a:t>EPS revision 1M</a:t>
            </a:r>
            <a:endParaRPr lang="ko-KR" altLang="en-US" b="1" dirty="0">
              <a:solidFill>
                <a:srgbClr val="982A2F"/>
              </a:solidFill>
              <a:latin typeface="Pretendard"/>
              <a:ea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574821-7A77-954B-9609-59680460238E}"/>
              </a:ext>
            </a:extLst>
          </p:cNvPr>
          <p:cNvSpPr txBox="1"/>
          <p:nvPr/>
        </p:nvSpPr>
        <p:spPr>
          <a:xfrm>
            <a:off x="965200" y="3683000"/>
            <a:ext cx="3060700" cy="27699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dirty="0">
                <a:solidFill>
                  <a:srgbClr val="982A2F"/>
                </a:solidFill>
                <a:latin typeface="Pretendard"/>
                <a:ea typeface="Pretendard"/>
              </a:rPr>
              <a:t>21</a:t>
            </a:r>
            <a:r>
              <a:rPr lang="ko-KR" altLang="en-US" sz="1200" dirty="0">
                <a:solidFill>
                  <a:srgbClr val="982A2F"/>
                </a:solidFill>
                <a:latin typeface="Pretendard"/>
                <a:ea typeface="Pretendard"/>
              </a:rPr>
              <a:t>거래일 </a:t>
            </a:r>
            <a:r>
              <a:rPr lang="en" altLang="ko-KR" sz="1200" dirty="0">
                <a:solidFill>
                  <a:srgbClr val="982A2F"/>
                </a:solidFill>
                <a:latin typeface="Pretendard"/>
                <a:ea typeface="Pretendard"/>
              </a:rPr>
              <a:t>EPS </a:t>
            </a:r>
            <a:r>
              <a:rPr lang="ko-KR" altLang="en-US" sz="1200" dirty="0">
                <a:solidFill>
                  <a:srgbClr val="982A2F"/>
                </a:solidFill>
                <a:latin typeface="Pretendard"/>
                <a:ea typeface="Pretendard"/>
              </a:rPr>
              <a:t>추정치 변화율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0373944-1BD1-DE44-A427-BF348548A5C4}"/>
              </a:ext>
            </a:extLst>
          </p:cNvPr>
          <p:cNvSpPr/>
          <p:nvPr/>
        </p:nvSpPr>
        <p:spPr>
          <a:xfrm>
            <a:off x="965200" y="4267200"/>
            <a:ext cx="406400" cy="127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309A81-3065-CA4C-96B8-0764D247DDE6}"/>
              </a:ext>
            </a:extLst>
          </p:cNvPr>
          <p:cNvSpPr txBox="1"/>
          <p:nvPr/>
        </p:nvSpPr>
        <p:spPr>
          <a:xfrm>
            <a:off x="965200" y="4419600"/>
            <a:ext cx="30607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dirty="0">
                <a:solidFill>
                  <a:srgbClr val="0E2841"/>
                </a:solidFill>
                <a:latin typeface="Pretendard"/>
                <a:ea typeface="Pretendard"/>
              </a:rPr>
              <a:t>최근 이익 전망이 상향되는 종목 선호</a:t>
            </a:r>
            <a:r>
              <a:rPr lang="en-US" altLang="ko-KR" sz="1300" dirty="0">
                <a:solidFill>
                  <a:srgbClr val="0E2841"/>
                </a:solidFill>
                <a:latin typeface="Pretendard"/>
                <a:ea typeface="Pretendard"/>
              </a:rPr>
              <a:t>. </a:t>
            </a:r>
            <a:r>
              <a:rPr lang="ko-KR" altLang="en-US" sz="1300" dirty="0">
                <a:solidFill>
                  <a:srgbClr val="0E2841"/>
                </a:solidFill>
                <a:latin typeface="Pretendard"/>
                <a:ea typeface="Pretendard"/>
              </a:rPr>
              <a:t>수주</a:t>
            </a:r>
            <a:r>
              <a:rPr lang="en-US" altLang="ko-KR" sz="1300" dirty="0">
                <a:solidFill>
                  <a:srgbClr val="0E2841"/>
                </a:solidFill>
                <a:latin typeface="Pretendard"/>
                <a:ea typeface="Pretendard"/>
              </a:rPr>
              <a:t>·</a:t>
            </a:r>
            <a:r>
              <a:rPr lang="ko-KR" altLang="en-US" sz="1300" dirty="0">
                <a:solidFill>
                  <a:srgbClr val="0E2841"/>
                </a:solidFill>
                <a:latin typeface="Pretendard"/>
                <a:ea typeface="Pretendard"/>
              </a:rPr>
              <a:t>마진</a:t>
            </a:r>
            <a:r>
              <a:rPr lang="en-US" altLang="ko-KR" sz="1300" dirty="0">
                <a:solidFill>
                  <a:srgbClr val="0E2841"/>
                </a:solidFill>
                <a:latin typeface="Pretendard"/>
                <a:ea typeface="Pretendard"/>
              </a:rPr>
              <a:t>·</a:t>
            </a:r>
            <a:r>
              <a:rPr lang="ko-KR" altLang="en-US" sz="1300" dirty="0">
                <a:solidFill>
                  <a:srgbClr val="0E2841"/>
                </a:solidFill>
                <a:latin typeface="Pretendard"/>
                <a:ea typeface="Pretendard"/>
              </a:rPr>
              <a:t>실적 기대 변화가 </a:t>
            </a:r>
            <a:r>
              <a:rPr lang="en" altLang="ko-KR" sz="1300" dirty="0">
                <a:solidFill>
                  <a:srgbClr val="0E2841"/>
                </a:solidFill>
                <a:latin typeface="Pretendard"/>
                <a:ea typeface="Pretendard"/>
              </a:rPr>
              <a:t>EPS </a:t>
            </a:r>
            <a:r>
              <a:rPr lang="ko-KR" altLang="en-US" sz="1300" dirty="0">
                <a:solidFill>
                  <a:srgbClr val="0E2841"/>
                </a:solidFill>
                <a:latin typeface="Pretendard"/>
                <a:ea typeface="Pretendard"/>
              </a:rPr>
              <a:t>추정치에 반영됨</a:t>
            </a:r>
            <a:r>
              <a:rPr lang="en-US" altLang="ko-KR" sz="1300" dirty="0">
                <a:solidFill>
                  <a:srgbClr val="0E2841"/>
                </a:solidFill>
                <a:latin typeface="Pretendard"/>
                <a:ea typeface="Pretendard"/>
              </a:rPr>
              <a:t>.</a:t>
            </a:r>
            <a:endParaRPr lang="ko-KR" altLang="en-US" sz="1300" dirty="0">
              <a:solidFill>
                <a:srgbClr val="0E2841"/>
              </a:solidFill>
              <a:latin typeface="Pretendard"/>
              <a:ea typeface="Pretendard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A8828D0-1E43-AD41-AA28-BFCC4E002A43}"/>
              </a:ext>
            </a:extLst>
          </p:cNvPr>
          <p:cNvSpPr/>
          <p:nvPr/>
        </p:nvSpPr>
        <p:spPr>
          <a:xfrm>
            <a:off x="4394200" y="3048000"/>
            <a:ext cx="3467100" cy="254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3A2FD8-8FAE-5847-B0E8-84E554D13387}"/>
              </a:ext>
            </a:extLst>
          </p:cNvPr>
          <p:cNvSpPr txBox="1"/>
          <p:nvPr/>
        </p:nvSpPr>
        <p:spPr>
          <a:xfrm>
            <a:off x="4597400" y="3276600"/>
            <a:ext cx="3060700" cy="369332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b="1" dirty="0">
                <a:solidFill>
                  <a:srgbClr val="982A2F"/>
                </a:solidFill>
                <a:latin typeface="Pretendard"/>
                <a:ea typeface="Pretendard"/>
              </a:rPr>
              <a:t>Target upside</a:t>
            </a:r>
            <a:endParaRPr lang="ko-KR" altLang="en-US" b="1" dirty="0">
              <a:solidFill>
                <a:srgbClr val="982A2F"/>
              </a:solidFill>
              <a:latin typeface="Pretendard"/>
              <a:ea typeface="Pretendar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71D4AE-1885-6E41-8A4A-D33641CDFA0C}"/>
              </a:ext>
            </a:extLst>
          </p:cNvPr>
          <p:cNvSpPr txBox="1"/>
          <p:nvPr/>
        </p:nvSpPr>
        <p:spPr>
          <a:xfrm>
            <a:off x="4597400" y="3683000"/>
            <a:ext cx="3060700" cy="27699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dirty="0">
                <a:solidFill>
                  <a:srgbClr val="595959"/>
                </a:solidFill>
                <a:latin typeface="Pretendard"/>
                <a:ea typeface="Pretendard"/>
              </a:rPr>
              <a:t>(</a:t>
            </a:r>
            <a:r>
              <a:rPr lang="ko-KR" altLang="en-US" sz="1200" dirty="0">
                <a:solidFill>
                  <a:srgbClr val="595959"/>
                </a:solidFill>
                <a:latin typeface="Pretendard"/>
                <a:ea typeface="Pretendard"/>
              </a:rPr>
              <a:t>목표주가 − 현재가</a:t>
            </a:r>
            <a:r>
              <a:rPr lang="en-US" altLang="ko-KR" sz="1200" dirty="0">
                <a:solidFill>
                  <a:srgbClr val="595959"/>
                </a:solidFill>
                <a:latin typeface="Pretendard"/>
                <a:ea typeface="Pretendard"/>
              </a:rPr>
              <a:t>) / </a:t>
            </a:r>
            <a:r>
              <a:rPr lang="ko-KR" altLang="en-US" sz="1200" dirty="0">
                <a:solidFill>
                  <a:srgbClr val="595959"/>
                </a:solidFill>
                <a:latin typeface="Pretendard"/>
                <a:ea typeface="Pretendard"/>
              </a:rPr>
              <a:t>현재가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A8697DC-DBB1-E34D-ADEA-B925B8E903F0}"/>
              </a:ext>
            </a:extLst>
          </p:cNvPr>
          <p:cNvSpPr/>
          <p:nvPr/>
        </p:nvSpPr>
        <p:spPr>
          <a:xfrm>
            <a:off x="4597400" y="4267200"/>
            <a:ext cx="406400" cy="127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441789-4243-5847-87E8-8424BE09BD3C}"/>
              </a:ext>
            </a:extLst>
          </p:cNvPr>
          <p:cNvSpPr txBox="1"/>
          <p:nvPr/>
        </p:nvSpPr>
        <p:spPr>
          <a:xfrm>
            <a:off x="4597400" y="4419600"/>
            <a:ext cx="30607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>
                <a:solidFill>
                  <a:srgbClr val="0E2841"/>
                </a:solidFill>
                <a:latin typeface="Pretendard"/>
                <a:ea typeface="Pretendard"/>
              </a:rPr>
              <a:t>애널리스트가 보는 상승 여력</a:t>
            </a:r>
            <a:r>
              <a:rPr lang="en-US" altLang="ko-KR" sz="1300">
                <a:solidFill>
                  <a:srgbClr val="0E2841"/>
                </a:solidFill>
                <a:latin typeface="Pretendard"/>
                <a:ea typeface="Pretendard"/>
              </a:rPr>
              <a:t>. </a:t>
            </a:r>
            <a:r>
              <a:rPr lang="ko-KR" altLang="en-US" sz="1300">
                <a:solidFill>
                  <a:srgbClr val="0E2841"/>
                </a:solidFill>
                <a:latin typeface="Pretendard"/>
                <a:ea typeface="Pretendard"/>
              </a:rPr>
              <a:t>가격 센티멘트를 직접 반영</a:t>
            </a:r>
            <a:r>
              <a:rPr lang="en-US" altLang="ko-KR" sz="1300">
                <a:solidFill>
                  <a:srgbClr val="0E2841"/>
                </a:solidFill>
                <a:latin typeface="Pretendard"/>
                <a:ea typeface="Pretendard"/>
              </a:rPr>
              <a:t>.</a:t>
            </a:r>
            <a:endParaRPr lang="ko-KR" altLang="en-US" sz="1300">
              <a:solidFill>
                <a:srgbClr val="0E2841"/>
              </a:solidFill>
              <a:latin typeface="Pretendard"/>
              <a:ea typeface="Pretendard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2E8C08F-7D68-184C-B7E9-701C37917C29}"/>
              </a:ext>
            </a:extLst>
          </p:cNvPr>
          <p:cNvSpPr/>
          <p:nvPr/>
        </p:nvSpPr>
        <p:spPr>
          <a:xfrm>
            <a:off x="8026400" y="3048000"/>
            <a:ext cx="3467100" cy="254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07D8C5-5BC0-224B-80C8-35776DF4E31F}"/>
              </a:ext>
            </a:extLst>
          </p:cNvPr>
          <p:cNvSpPr txBox="1"/>
          <p:nvPr/>
        </p:nvSpPr>
        <p:spPr>
          <a:xfrm>
            <a:off x="8229600" y="3276600"/>
            <a:ext cx="3060700" cy="369332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b="1" dirty="0">
                <a:solidFill>
                  <a:srgbClr val="982A2F"/>
                </a:solidFill>
                <a:latin typeface="Pretendard"/>
                <a:ea typeface="Pretendard"/>
              </a:rPr>
              <a:t>Rating point</a:t>
            </a:r>
            <a:endParaRPr lang="ko-KR" altLang="en-US" b="1" dirty="0">
              <a:solidFill>
                <a:srgbClr val="982A2F"/>
              </a:solidFill>
              <a:latin typeface="Pretendard"/>
              <a:ea typeface="Pretendard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03706F-B798-374D-AC8B-8523962B09EE}"/>
              </a:ext>
            </a:extLst>
          </p:cNvPr>
          <p:cNvSpPr txBox="1"/>
          <p:nvPr/>
        </p:nvSpPr>
        <p:spPr>
          <a:xfrm>
            <a:off x="8229600" y="3683000"/>
            <a:ext cx="3060700" cy="27699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dirty="0">
                <a:solidFill>
                  <a:srgbClr val="595959"/>
                </a:solidFill>
                <a:latin typeface="Pretendard"/>
                <a:ea typeface="Pretendard"/>
              </a:rPr>
              <a:t>투자의견 점수 </a:t>
            </a:r>
            <a:r>
              <a:rPr lang="en-US" altLang="ko-KR" sz="1200" dirty="0">
                <a:solidFill>
                  <a:srgbClr val="595959"/>
                </a:solidFill>
                <a:latin typeface="Pretendard"/>
                <a:ea typeface="Pretendard"/>
              </a:rPr>
              <a:t>(5 = </a:t>
            </a:r>
            <a:r>
              <a:rPr lang="en" altLang="ko-KR" sz="1200" dirty="0">
                <a:solidFill>
                  <a:srgbClr val="595959"/>
                </a:solidFill>
                <a:latin typeface="Pretendard"/>
                <a:ea typeface="Pretendard"/>
              </a:rPr>
              <a:t>Strong Buy)</a:t>
            </a:r>
            <a:endParaRPr lang="ko-KR" altLang="en-US" sz="1200" dirty="0">
              <a:solidFill>
                <a:srgbClr val="595959"/>
              </a:solidFill>
              <a:latin typeface="Pretendard"/>
              <a:ea typeface="Pretendard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A95406A-CEB2-374B-9C17-478D16A6A203}"/>
              </a:ext>
            </a:extLst>
          </p:cNvPr>
          <p:cNvSpPr/>
          <p:nvPr/>
        </p:nvSpPr>
        <p:spPr>
          <a:xfrm>
            <a:off x="8229600" y="4267200"/>
            <a:ext cx="406400" cy="127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271089-4251-0048-814E-C3FE3C13C72A}"/>
              </a:ext>
            </a:extLst>
          </p:cNvPr>
          <p:cNvSpPr txBox="1"/>
          <p:nvPr/>
        </p:nvSpPr>
        <p:spPr>
          <a:xfrm>
            <a:off x="8229600" y="4419600"/>
            <a:ext cx="30607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>
                <a:solidFill>
                  <a:srgbClr val="0E2841"/>
                </a:solidFill>
                <a:latin typeface="Pretendard"/>
                <a:ea typeface="Pretendard"/>
              </a:rPr>
              <a:t>방향 확인용 보조 신호</a:t>
            </a:r>
            <a:r>
              <a:rPr lang="en-US" altLang="ko-KR" sz="1300">
                <a:solidFill>
                  <a:srgbClr val="0E2841"/>
                </a:solidFill>
                <a:latin typeface="Pretendard"/>
                <a:ea typeface="Pretendard"/>
              </a:rPr>
              <a:t>. </a:t>
            </a:r>
            <a:r>
              <a:rPr lang="ko-KR" altLang="en-US" sz="1300">
                <a:solidFill>
                  <a:srgbClr val="0E2841"/>
                </a:solidFill>
                <a:latin typeface="Pretendard"/>
                <a:ea typeface="Pretendard"/>
              </a:rPr>
              <a:t>천천히 움직이지만 컨센서스 방향 확인에 유용</a:t>
            </a:r>
            <a:r>
              <a:rPr lang="en-US" altLang="ko-KR" sz="1300">
                <a:solidFill>
                  <a:srgbClr val="0E2841"/>
                </a:solidFill>
                <a:latin typeface="Pretendard"/>
                <a:ea typeface="Pretendard"/>
              </a:rPr>
              <a:t>.</a:t>
            </a:r>
            <a:endParaRPr lang="ko-KR" altLang="en-US" sz="1300">
              <a:solidFill>
                <a:srgbClr val="0E2841"/>
              </a:solidFill>
              <a:latin typeface="Pretendard"/>
              <a:ea typeface="Pretendard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43AB54E-9915-D249-9F23-BC855AC3BF08}"/>
              </a:ext>
            </a:extLst>
          </p:cNvPr>
          <p:cNvSpPr/>
          <p:nvPr/>
        </p:nvSpPr>
        <p:spPr>
          <a:xfrm>
            <a:off x="762000" y="5410132"/>
            <a:ext cx="10668000" cy="635000"/>
          </a:xfrm>
          <a:prstGeom prst="rect">
            <a:avLst/>
          </a:prstGeom>
          <a:noFill/>
          <a:ln w="9525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 sz="2000">
              <a:latin typeface="Pretendard"/>
              <a:ea typeface="Pretendard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E3654F-F1DC-AA4B-848B-C2598A980AC5}"/>
              </a:ext>
            </a:extLst>
          </p:cNvPr>
          <p:cNvSpPr txBox="1"/>
          <p:nvPr/>
        </p:nvSpPr>
        <p:spPr>
          <a:xfrm>
            <a:off x="965200" y="5499032"/>
            <a:ext cx="12700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 dirty="0">
                <a:solidFill>
                  <a:srgbClr val="982A2F"/>
                </a:solidFill>
                <a:latin typeface="Pretendard"/>
                <a:ea typeface="Pretendard"/>
              </a:rPr>
              <a:t>왜 동일가중</a:t>
            </a:r>
            <a:r>
              <a:rPr lang="en-US" altLang="ko-KR" sz="1400" b="1" dirty="0">
                <a:solidFill>
                  <a:srgbClr val="982A2F"/>
                </a:solidFill>
                <a:latin typeface="Pretendard"/>
                <a:ea typeface="Pretendard"/>
              </a:rPr>
              <a:t>?</a:t>
            </a:r>
            <a:endParaRPr lang="ko-KR" altLang="en-US" sz="1400" b="1" dirty="0">
              <a:solidFill>
                <a:srgbClr val="982A2F"/>
              </a:solidFill>
              <a:latin typeface="Pretendard"/>
              <a:ea typeface="Pretendard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CF80B1-6158-D34D-9840-5ED08CA64EB4}"/>
              </a:ext>
            </a:extLst>
          </p:cNvPr>
          <p:cNvSpPr txBox="1"/>
          <p:nvPr/>
        </p:nvSpPr>
        <p:spPr>
          <a:xfrm>
            <a:off x="965200" y="5727632"/>
            <a:ext cx="104140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595959"/>
                </a:solidFill>
                <a:latin typeface="Pretendard"/>
                <a:ea typeface="Pretendard"/>
              </a:rPr>
              <a:t>세 신호의 주간 평균 </a:t>
            </a:r>
            <a:r>
              <a:rPr lang="en" altLang="ko-KR" sz="1400" dirty="0">
                <a:solidFill>
                  <a:srgbClr val="595959"/>
                </a:solidFill>
                <a:latin typeface="Pretendard"/>
                <a:ea typeface="Pretendard"/>
              </a:rPr>
              <a:t>IC</a:t>
            </a:r>
            <a:r>
              <a:rPr lang="ko-KR" altLang="en-US" sz="1400" dirty="0">
                <a:solidFill>
                  <a:srgbClr val="595959"/>
                </a:solidFill>
                <a:latin typeface="Pretendard"/>
                <a:ea typeface="Pretendard"/>
              </a:rPr>
              <a:t>가 </a:t>
            </a:r>
            <a:r>
              <a:rPr lang="en-US" altLang="ko-KR" sz="1400" dirty="0">
                <a:solidFill>
                  <a:srgbClr val="595959"/>
                </a:solidFill>
                <a:latin typeface="Pretendard"/>
                <a:ea typeface="Pretendard"/>
              </a:rPr>
              <a:t>0.04~0.05</a:t>
            </a:r>
            <a:r>
              <a:rPr lang="ko-KR" altLang="en-US" sz="1400" dirty="0">
                <a:solidFill>
                  <a:srgbClr val="595959"/>
                </a:solidFill>
                <a:latin typeface="Pretendard"/>
                <a:ea typeface="Pretendard"/>
              </a:rPr>
              <a:t>로 </a:t>
            </a:r>
            <a:r>
              <a:rPr lang="ko-KR" altLang="en-US" sz="1400" dirty="0" err="1">
                <a:solidFill>
                  <a:srgbClr val="595959"/>
                </a:solidFill>
                <a:latin typeface="Pretendard"/>
                <a:ea typeface="Pretendard"/>
              </a:rPr>
              <a:t>비슷</a:t>
            </a:r>
            <a:r>
              <a:rPr lang="ko-KR" altLang="en-US" sz="1400" dirty="0">
                <a:solidFill>
                  <a:srgbClr val="595959"/>
                </a:solidFill>
                <a:latin typeface="Pretendard"/>
                <a:ea typeface="Pretendard"/>
              </a:rPr>
              <a:t> 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04EF634-BCA3-EEDF-8EF4-D8143793E5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356350"/>
            <a:ext cx="1515291" cy="493985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0FDB6CA8-2D8E-73E5-23D8-9258ACA96E49}"/>
              </a:ext>
            </a:extLst>
          </p:cNvPr>
          <p:cNvSpPr/>
          <p:nvPr/>
        </p:nvSpPr>
        <p:spPr>
          <a:xfrm>
            <a:off x="4404015" y="3048000"/>
            <a:ext cx="3467100" cy="508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4496C05-5456-39DB-37F7-E108921A1B98}"/>
              </a:ext>
            </a:extLst>
          </p:cNvPr>
          <p:cNvSpPr/>
          <p:nvPr/>
        </p:nvSpPr>
        <p:spPr>
          <a:xfrm>
            <a:off x="8035636" y="3048000"/>
            <a:ext cx="3467100" cy="508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332827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FC97781-D43A-2FCF-B682-AA8336BFA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1674" y="3604345"/>
            <a:ext cx="7772400" cy="351472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BDE0113-9691-A64B-BE31-6D1377E26156}"/>
              </a:ext>
            </a:extLst>
          </p:cNvPr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D98E81-FE4F-7C40-9346-01BE0F508928}"/>
              </a:ext>
            </a:extLst>
          </p:cNvPr>
          <p:cNvSpPr txBox="1"/>
          <p:nvPr/>
        </p:nvSpPr>
        <p:spPr>
          <a:xfrm>
            <a:off x="762000" y="457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>
                <a:solidFill>
                  <a:srgbClr val="982A2F"/>
                </a:solidFill>
                <a:latin typeface="Pretendard"/>
                <a:ea typeface="Pretendard"/>
              </a:rPr>
              <a:t>06</a:t>
            </a:r>
            <a:endParaRPr lang="ko-KR" altLang="en-US" sz="1200" b="1">
              <a:solidFill>
                <a:srgbClr val="982A2F"/>
              </a:solidFill>
              <a:latin typeface="Pretendard"/>
              <a:ea typeface="Pretendar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C0DFE2-240A-7E4C-9CA8-BA7FC760309A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3200" b="1">
                <a:solidFill>
                  <a:srgbClr val="0E2841"/>
                </a:solidFill>
                <a:latin typeface="Pretendard"/>
                <a:ea typeface="Pretendard"/>
              </a:rPr>
              <a:t>IC </a:t>
            </a:r>
            <a:r>
              <a:rPr lang="ko-KR" altLang="en-US" sz="3200" b="1">
                <a:solidFill>
                  <a:srgbClr val="0E2841"/>
                </a:solidFill>
                <a:latin typeface="Pretendard"/>
                <a:ea typeface="Pretendard"/>
              </a:rPr>
              <a:t>검증</a:t>
            </a:r>
            <a:r>
              <a:rPr lang="en-US" altLang="ko-KR" sz="3200" b="1">
                <a:solidFill>
                  <a:srgbClr val="0E2841"/>
                </a:solidFill>
                <a:latin typeface="Pretendard"/>
                <a:ea typeface="Pretendard"/>
              </a:rPr>
              <a:t>: </a:t>
            </a:r>
            <a:r>
              <a:rPr lang="ko-KR" altLang="en-US" sz="3200" b="1">
                <a:solidFill>
                  <a:srgbClr val="0E2841"/>
                </a:solidFill>
                <a:latin typeface="Pretendard"/>
                <a:ea typeface="Pretendard"/>
              </a:rPr>
              <a:t>점수 순위가 수익률 순위를 따라가나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36295B9-8C55-B843-AA14-22DD788891BE}"/>
              </a:ext>
            </a:extLst>
          </p:cNvPr>
          <p:cNvSpPr/>
          <p:nvPr/>
        </p:nvSpPr>
        <p:spPr>
          <a:xfrm>
            <a:off x="762000" y="1473200"/>
            <a:ext cx="762000" cy="381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9DA56C-86A2-2C45-8321-F3B0B0BBBD37}"/>
              </a:ext>
            </a:extLst>
          </p:cNvPr>
          <p:cNvSpPr txBox="1"/>
          <p:nvPr/>
        </p:nvSpPr>
        <p:spPr>
          <a:xfrm>
            <a:off x="762000" y="17780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600" b="1" dirty="0">
                <a:solidFill>
                  <a:srgbClr val="982A2F"/>
                </a:solidFill>
                <a:latin typeface="Pretendard"/>
                <a:ea typeface="Pretendard"/>
              </a:rPr>
              <a:t>Spearman rank IC</a:t>
            </a:r>
            <a:endParaRPr lang="ko-KR" altLang="en-US" sz="1600" b="1" dirty="0">
              <a:solidFill>
                <a:srgbClr val="982A2F"/>
              </a:solidFill>
              <a:latin typeface="Pretendard"/>
              <a:ea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8D437D-3CB5-2A4B-A8B4-BBCC9F3F37BF}"/>
              </a:ext>
            </a:extLst>
          </p:cNvPr>
          <p:cNvSpPr txBox="1"/>
          <p:nvPr/>
        </p:nvSpPr>
        <p:spPr>
          <a:xfrm>
            <a:off x="762000" y="2184400"/>
            <a:ext cx="4826000" cy="58477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dirty="0" err="1">
                <a:solidFill>
                  <a:srgbClr val="595959"/>
                </a:solidFill>
                <a:latin typeface="Pretendard"/>
                <a:ea typeface="Pretendard"/>
              </a:rPr>
              <a:t>리밸런싱일에</a:t>
            </a:r>
            <a:r>
              <a:rPr lang="ko-KR" altLang="en-US" sz="1600" dirty="0">
                <a:solidFill>
                  <a:srgbClr val="595959"/>
                </a:solidFill>
                <a:latin typeface="Pretendard"/>
                <a:ea typeface="Pretendard"/>
              </a:rPr>
              <a:t> 계산한 종목별 </a:t>
            </a:r>
            <a:r>
              <a:rPr lang="en" altLang="ko-KR" sz="1600" dirty="0">
                <a:solidFill>
                  <a:srgbClr val="595959"/>
                </a:solidFill>
                <a:latin typeface="Pretendard"/>
                <a:ea typeface="Pretendard"/>
              </a:rPr>
              <a:t>factor </a:t>
            </a:r>
            <a:r>
              <a:rPr lang="ko-KR" altLang="en-US" sz="1600" dirty="0">
                <a:solidFill>
                  <a:srgbClr val="595959"/>
                </a:solidFill>
                <a:latin typeface="Pretendard"/>
                <a:ea typeface="Pretendard"/>
              </a:rPr>
              <a:t>점수 순위와
다음 </a:t>
            </a:r>
            <a:r>
              <a:rPr lang="ko-KR" altLang="en-US" sz="1600" dirty="0" err="1">
                <a:solidFill>
                  <a:srgbClr val="595959"/>
                </a:solidFill>
                <a:latin typeface="Pretendard"/>
                <a:ea typeface="Pretendard"/>
              </a:rPr>
              <a:t>리밸런싱</a:t>
            </a:r>
            <a:r>
              <a:rPr lang="ko-KR" altLang="en-US" sz="1600" dirty="0">
                <a:solidFill>
                  <a:srgbClr val="595959"/>
                </a:solidFill>
                <a:latin typeface="Pretendard"/>
                <a:ea typeface="Pretendard"/>
              </a:rPr>
              <a:t> 구간 실제 수익률 순위의 상관</a:t>
            </a:r>
            <a:r>
              <a:rPr lang="en-US" altLang="ko-KR" sz="1600" dirty="0">
                <a:solidFill>
                  <a:srgbClr val="595959"/>
                </a:solidFill>
                <a:latin typeface="Pretendard"/>
                <a:ea typeface="Pretendard"/>
              </a:rPr>
              <a:t>.</a:t>
            </a:r>
            <a:endParaRPr lang="ko-KR" altLang="en-US" sz="1600" dirty="0">
              <a:solidFill>
                <a:srgbClr val="595959"/>
              </a:solidFill>
              <a:latin typeface="Pretendard"/>
              <a:ea typeface="Pretendard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94C47495-2E4F-3747-BB40-EDD3497CBE5A}"/>
              </a:ext>
            </a:extLst>
          </p:cNvPr>
          <p:cNvSpPr/>
          <p:nvPr/>
        </p:nvSpPr>
        <p:spPr>
          <a:xfrm>
            <a:off x="762000" y="3987800"/>
            <a:ext cx="101600" cy="101600"/>
          </a:xfrm>
          <a:prstGeom prst="ellipse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C877C2-F17A-C343-83BB-6C854566D5E4}"/>
              </a:ext>
            </a:extLst>
          </p:cNvPr>
          <p:cNvSpPr txBox="1"/>
          <p:nvPr/>
        </p:nvSpPr>
        <p:spPr>
          <a:xfrm>
            <a:off x="990600" y="3937000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 dirty="0">
                <a:solidFill>
                  <a:srgbClr val="0E2841"/>
                </a:solidFill>
                <a:latin typeface="Pretendard"/>
                <a:ea typeface="Pretendard"/>
              </a:rPr>
              <a:t>세 신호 모두 </a:t>
            </a:r>
            <a:r>
              <a:rPr lang="en" altLang="ko-KR" sz="1400" b="1" dirty="0">
                <a:solidFill>
                  <a:srgbClr val="0E2841"/>
                </a:solidFill>
                <a:latin typeface="Pretendard"/>
                <a:ea typeface="Pretendard"/>
              </a:rPr>
              <a:t>IC ≈ 4</a:t>
            </a:r>
            <a:r>
              <a:rPr lang="en-US" altLang="ko-KR" sz="1400" b="1" dirty="0">
                <a:solidFill>
                  <a:srgbClr val="0E2841"/>
                </a:solidFill>
                <a:latin typeface="Pretendard"/>
                <a:ea typeface="Pretendard"/>
              </a:rPr>
              <a:t>%</a:t>
            </a:r>
            <a:r>
              <a:rPr lang="en" altLang="ko-KR" sz="1400" b="1" dirty="0">
                <a:solidFill>
                  <a:srgbClr val="0E2841"/>
                </a:solidFill>
                <a:latin typeface="Pretendard"/>
                <a:ea typeface="Pretendard"/>
              </a:rPr>
              <a:t>~5</a:t>
            </a:r>
            <a:r>
              <a:rPr lang="en-US" altLang="ko-KR" sz="1400" b="1" dirty="0">
                <a:solidFill>
                  <a:srgbClr val="0E2841"/>
                </a:solidFill>
                <a:latin typeface="Pretendard"/>
                <a:ea typeface="Pretendard"/>
              </a:rPr>
              <a:t>%</a:t>
            </a:r>
            <a:endParaRPr lang="ko-KR" altLang="en-US" sz="1400" b="1" dirty="0">
              <a:solidFill>
                <a:srgbClr val="0E2841"/>
              </a:solidFill>
              <a:latin typeface="Pretendard"/>
              <a:ea typeface="Pretendar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97E8B9-1AD8-3347-AC2D-2DF6B396508E}"/>
              </a:ext>
            </a:extLst>
          </p:cNvPr>
          <p:cNvSpPr txBox="1"/>
          <p:nvPr/>
        </p:nvSpPr>
        <p:spPr>
          <a:xfrm>
            <a:off x="990600" y="4191000"/>
            <a:ext cx="4572000" cy="27699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dirty="0">
                <a:solidFill>
                  <a:srgbClr val="595959"/>
                </a:solidFill>
                <a:latin typeface="Pretendard"/>
                <a:ea typeface="Pretendard"/>
              </a:rPr>
              <a:t>비슷한 정보 강도 </a:t>
            </a:r>
            <a:r>
              <a:rPr lang="en-US" altLang="ko-KR" sz="1200" dirty="0">
                <a:solidFill>
                  <a:srgbClr val="595959"/>
                </a:solidFill>
                <a:latin typeface="Pretendard"/>
                <a:ea typeface="Pretendard"/>
              </a:rPr>
              <a:t>— </a:t>
            </a:r>
            <a:r>
              <a:rPr lang="ko-KR" altLang="en-US" sz="1200" dirty="0">
                <a:solidFill>
                  <a:srgbClr val="595959"/>
                </a:solidFill>
                <a:latin typeface="Pretendard"/>
                <a:ea typeface="Pretendard"/>
              </a:rPr>
              <a:t>동일가중 근거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6E8088-B7FE-6C49-898F-16B746281CB6}"/>
              </a:ext>
            </a:extLst>
          </p:cNvPr>
          <p:cNvSpPr txBox="1"/>
          <p:nvPr/>
        </p:nvSpPr>
        <p:spPr>
          <a:xfrm>
            <a:off x="6096000" y="1778000"/>
            <a:ext cx="5334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982A2F"/>
                </a:solidFill>
                <a:latin typeface="Pretendard"/>
                <a:ea typeface="Pretendard"/>
              </a:rPr>
              <a:t>주간 </a:t>
            </a:r>
            <a:r>
              <a:rPr lang="en" altLang="ko-KR" sz="1600" b="1">
                <a:solidFill>
                  <a:srgbClr val="982A2F"/>
                </a:solidFill>
                <a:latin typeface="Pretendard"/>
                <a:ea typeface="Pretendard"/>
              </a:rPr>
              <a:t>IC </a:t>
            </a:r>
            <a:r>
              <a:rPr lang="ko-KR" altLang="en-US" sz="1600" b="1">
                <a:solidFill>
                  <a:srgbClr val="982A2F"/>
                </a:solidFill>
                <a:latin typeface="Pretendard"/>
                <a:ea typeface="Pretendard"/>
              </a:rPr>
              <a:t>요약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FD390F7B-3866-B542-B3E4-7C4B4BD57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57495"/>
              </p:ext>
            </p:extLst>
          </p:nvPr>
        </p:nvGraphicFramePr>
        <p:xfrm>
          <a:off x="6096000" y="2209800"/>
          <a:ext cx="5167745" cy="1386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8182">
                  <a:extLst>
                    <a:ext uri="{9D8B030D-6E8A-4147-A177-3AD203B41FA5}">
                      <a16:colId xmlns:a16="http://schemas.microsoft.com/office/drawing/2014/main" val="1895042110"/>
                    </a:ext>
                  </a:extLst>
                </a:gridCol>
                <a:gridCol w="1177636">
                  <a:extLst>
                    <a:ext uri="{9D8B030D-6E8A-4147-A177-3AD203B41FA5}">
                      <a16:colId xmlns:a16="http://schemas.microsoft.com/office/drawing/2014/main" val="798838650"/>
                    </a:ext>
                  </a:extLst>
                </a:gridCol>
                <a:gridCol w="1911927">
                  <a:extLst>
                    <a:ext uri="{9D8B030D-6E8A-4147-A177-3AD203B41FA5}">
                      <a16:colId xmlns:a16="http://schemas.microsoft.com/office/drawing/2014/main" val="17579273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신호</a:t>
                      </a:r>
                    </a:p>
                  </a:txBody>
                  <a:tcPr>
                    <a:solidFill>
                      <a:srgbClr val="982A2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관측</a:t>
                      </a:r>
                    </a:p>
                  </a:txBody>
                  <a:tcPr>
                    <a:solidFill>
                      <a:srgbClr val="982A2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300" b="1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평균 IC</a:t>
                      </a:r>
                      <a:r>
                        <a:rPr lang="en-US" altLang="ko-KR" sz="1300" b="1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(%)</a:t>
                      </a:r>
                      <a:endParaRPr lang="ko-KR" altLang="en-US" sz="1300" b="1" dirty="0">
                        <a:solidFill>
                          <a:srgbClr val="FFFFFF"/>
                        </a:solidFill>
                        <a:latin typeface="Pretendard"/>
                        <a:ea typeface="Pretendard"/>
                      </a:endParaRPr>
                    </a:p>
                  </a:txBody>
                  <a:tcPr>
                    <a:solidFill>
                      <a:srgbClr val="982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5900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1">
                          <a:solidFill>
                            <a:srgbClr val="982A2F"/>
                          </a:solidFill>
                          <a:latin typeface="Pretendard"/>
                          <a:ea typeface="Pretendard"/>
                        </a:rPr>
                        <a:t>Consensus score</a:t>
                      </a:r>
                    </a:p>
                  </a:txBody>
                  <a:tcPr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200" b="1">
                          <a:solidFill>
                            <a:srgbClr val="982A2F"/>
                          </a:solidFill>
                          <a:latin typeface="Pretendard"/>
                          <a:ea typeface="Pretendard"/>
                        </a:rPr>
                        <a:t>95</a:t>
                      </a:r>
                    </a:p>
                  </a:txBody>
                  <a:tcPr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200" b="1" dirty="0">
                          <a:solidFill>
                            <a:srgbClr val="982A2F"/>
                          </a:solidFill>
                          <a:latin typeface="Pretendard"/>
                          <a:ea typeface="Pretendard"/>
                        </a:rPr>
                        <a:t>4</a:t>
                      </a:r>
                      <a:r>
                        <a:rPr lang="en-US" altLang="ko-KR" sz="1200" b="1" dirty="0">
                          <a:solidFill>
                            <a:srgbClr val="982A2F"/>
                          </a:solidFill>
                          <a:latin typeface="Pretendard"/>
                          <a:ea typeface="Pretendard"/>
                        </a:rPr>
                        <a:t>.</a:t>
                      </a:r>
                      <a:r>
                        <a:rPr lang="ko-KR" altLang="en-US" sz="1200" b="1" dirty="0">
                          <a:solidFill>
                            <a:srgbClr val="982A2F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>
                    <a:solidFill>
                      <a:srgbClr val="F4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577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EPS revision 1M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2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91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200" b="0" dirty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4</a:t>
                      </a:r>
                      <a:r>
                        <a:rPr lang="en-US" altLang="ko-KR" sz="1200" b="0" dirty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.</a:t>
                      </a:r>
                      <a:r>
                        <a:rPr lang="ko-KR" altLang="en-US" sz="1200" b="0" dirty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8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956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Target upside</a:t>
                      </a:r>
                    </a:p>
                  </a:txBody>
                  <a:tcPr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2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95</a:t>
                      </a:r>
                    </a:p>
                  </a:txBody>
                  <a:tcPr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200" b="0" dirty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4</a:t>
                      </a:r>
                      <a:r>
                        <a:rPr lang="en-US" altLang="ko-KR" sz="1200" b="0" dirty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.</a:t>
                      </a:r>
                      <a:r>
                        <a:rPr lang="ko-KR" altLang="en-US" sz="1200" b="0" dirty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>
                    <a:solidFill>
                      <a:srgbClr val="F4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490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Rating point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2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43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200" b="0" dirty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5</a:t>
                      </a:r>
                      <a:r>
                        <a:rPr lang="en-US" altLang="ko-KR" sz="1200" b="0" dirty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.</a:t>
                      </a:r>
                      <a:r>
                        <a:rPr lang="ko-KR" altLang="en-US" sz="1200" b="0" dirty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11983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CB873D80-25A9-1E52-1C25-52B5B16025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356350"/>
            <a:ext cx="1515291" cy="49398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C2A311A-EFCE-9262-575F-7FEEDEE8261C}"/>
              </a:ext>
            </a:extLst>
          </p:cNvPr>
          <p:cNvSpPr txBox="1"/>
          <p:nvPr/>
        </p:nvSpPr>
        <p:spPr>
          <a:xfrm>
            <a:off x="2660072" y="6109854"/>
            <a:ext cx="1287532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100" dirty="0"/>
              <a:t>삼성증권</a:t>
            </a:r>
            <a:endParaRPr kumimoji="1" lang="en-US" altLang="ko-KR" sz="1100" dirty="0"/>
          </a:p>
          <a:p>
            <a:r>
              <a:rPr kumimoji="1" lang="en-US" altLang="ko-KR" sz="1100" dirty="0"/>
              <a:t>Quantitative issue</a:t>
            </a:r>
          </a:p>
          <a:p>
            <a:r>
              <a:rPr kumimoji="1" lang="en-US" altLang="ko-KR" sz="1100" dirty="0"/>
              <a:t>2026.4.30</a:t>
            </a:r>
            <a:endParaRPr kumimoji="1"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872055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6A94184-B100-3A4F-8148-F2F46CC2DB8D}"/>
              </a:ext>
            </a:extLst>
          </p:cNvPr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1A797E-66FA-C24A-B255-363FA9CA488C}"/>
              </a:ext>
            </a:extLst>
          </p:cNvPr>
          <p:cNvSpPr txBox="1"/>
          <p:nvPr/>
        </p:nvSpPr>
        <p:spPr>
          <a:xfrm>
            <a:off x="762000" y="457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 dirty="0">
                <a:solidFill>
                  <a:srgbClr val="982A2F"/>
                </a:solidFill>
                <a:latin typeface="Pretendard"/>
                <a:ea typeface="Pretendard"/>
              </a:rPr>
              <a:t>07</a:t>
            </a:r>
            <a:endParaRPr lang="ko-KR" altLang="en-US" sz="1200" b="1" dirty="0">
              <a:solidFill>
                <a:srgbClr val="982A2F"/>
              </a:solidFill>
              <a:latin typeface="Pretendard"/>
              <a:ea typeface="Pretendar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B4DC74-9482-0B44-926C-83458316DEE0}"/>
              </a:ext>
            </a:extLst>
          </p:cNvPr>
          <p:cNvSpPr txBox="1"/>
          <p:nvPr/>
        </p:nvSpPr>
        <p:spPr>
          <a:xfrm>
            <a:off x="762000" y="762000"/>
            <a:ext cx="10668000" cy="58477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 dirty="0">
                <a:solidFill>
                  <a:srgbClr val="0E2841"/>
                </a:solidFill>
                <a:latin typeface="Pretendard"/>
                <a:ea typeface="Pretendard"/>
              </a:rPr>
              <a:t>Turnover, </a:t>
            </a:r>
            <a:r>
              <a:rPr lang="ko-KR" altLang="en-US" sz="3200" b="1" dirty="0">
                <a:solidFill>
                  <a:srgbClr val="0E2841"/>
                </a:solidFill>
                <a:latin typeface="Pretendard"/>
                <a:ea typeface="Pretendard"/>
              </a:rPr>
              <a:t>수수료 반영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BDE085-2F66-B947-8F90-B3D34D026A07}"/>
              </a:ext>
            </a:extLst>
          </p:cNvPr>
          <p:cNvSpPr/>
          <p:nvPr/>
        </p:nvSpPr>
        <p:spPr>
          <a:xfrm>
            <a:off x="762000" y="1473200"/>
            <a:ext cx="762000" cy="381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381A61-B805-8D40-B7E2-78663BD50916}"/>
              </a:ext>
            </a:extLst>
          </p:cNvPr>
          <p:cNvSpPr txBox="1"/>
          <p:nvPr/>
        </p:nvSpPr>
        <p:spPr>
          <a:xfrm>
            <a:off x="762000" y="1778000"/>
            <a:ext cx="5334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982A2F"/>
                </a:solidFill>
                <a:latin typeface="Pretendard"/>
                <a:ea typeface="Pretendard"/>
              </a:rPr>
              <a:t>운용 파라미터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6173ABC-0AED-6240-8CD5-8AC947EF26E4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2209800"/>
          <a:ext cx="5334000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3838879827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2221928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파라미터</a:t>
                      </a:r>
                    </a:p>
                  </a:txBody>
                  <a:tcPr>
                    <a:solidFill>
                      <a:srgbClr val="982A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최종값</a:t>
                      </a:r>
                    </a:p>
                  </a:txBody>
                  <a:tcPr>
                    <a:solidFill>
                      <a:srgbClr val="982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450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리밸런싱 주기</a:t>
                      </a:r>
                    </a:p>
                  </a:txBody>
                  <a:tcPr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200" b="1">
                          <a:solidFill>
                            <a:srgbClr val="0E2841"/>
                          </a:solidFill>
                          <a:latin typeface="Pretendard"/>
                          <a:ea typeface="Pretendard"/>
                        </a:rPr>
                        <a:t>주간</a:t>
                      </a:r>
                    </a:p>
                  </a:txBody>
                  <a:tcPr>
                    <a:solidFill>
                      <a:srgbClr val="F4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402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TE budget (연환산)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200" b="1">
                          <a:solidFill>
                            <a:srgbClr val="0E2841"/>
                          </a:solidFill>
                          <a:latin typeface="Pretendard"/>
                          <a:ea typeface="Pretendard"/>
                        </a:rPr>
                        <a:t>20%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791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개별 최대 비중</a:t>
                      </a:r>
                    </a:p>
                  </a:txBody>
                  <a:tcPr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200" b="1">
                          <a:solidFill>
                            <a:srgbClr val="0E2841"/>
                          </a:solidFill>
                          <a:latin typeface="Pretendard"/>
                          <a:ea typeface="Pretendard"/>
                        </a:rPr>
                        <a:t>50%</a:t>
                      </a:r>
                    </a:p>
                  </a:txBody>
                  <a:tcPr>
                    <a:solidFill>
                      <a:srgbClr val="F4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6528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팩터 가중치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200" b="1">
                          <a:solidFill>
                            <a:srgbClr val="0E2841"/>
                          </a:solidFill>
                          <a:latin typeface="Pretendard"/>
                          <a:ea typeface="Pretendard"/>
                        </a:rPr>
                        <a:t>동일가중 (1/3 × 3)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716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One-way turnover limit</a:t>
                      </a:r>
                    </a:p>
                  </a:txBody>
                  <a:tcPr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200" b="1">
                          <a:solidFill>
                            <a:srgbClr val="0E2841"/>
                          </a:solidFill>
                          <a:latin typeface="Pretendard"/>
                          <a:ea typeface="Pretendard"/>
                        </a:rPr>
                        <a:t>30%</a:t>
                      </a:r>
                    </a:p>
                  </a:txBody>
                  <a:tcPr>
                    <a:solidFill>
                      <a:srgbClr val="F4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5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공분산 lookback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200" b="1">
                          <a:solidFill>
                            <a:srgbClr val="0E2841"/>
                          </a:solidFill>
                          <a:latin typeface="Pretendard"/>
                          <a:ea typeface="Pretendard"/>
                        </a:rPr>
                        <a:t>60거래일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1797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공분산 shrinkage / λ / η</a:t>
                      </a:r>
                    </a:p>
                  </a:txBody>
                  <a:tcPr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200" b="1">
                          <a:solidFill>
                            <a:srgbClr val="0E2841"/>
                          </a:solidFill>
                          <a:latin typeface="Pretendard"/>
                          <a:ea typeface="Pretendard"/>
                        </a:rPr>
                        <a:t>30% / 1.0 / 0.05</a:t>
                      </a:r>
                    </a:p>
                  </a:txBody>
                  <a:tcPr>
                    <a:solidFill>
                      <a:srgbClr val="F4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24233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86CBFE8-61E6-F747-8A93-C60E008D2C44}"/>
              </a:ext>
            </a:extLst>
          </p:cNvPr>
          <p:cNvSpPr txBox="1"/>
          <p:nvPr/>
        </p:nvSpPr>
        <p:spPr>
          <a:xfrm>
            <a:off x="6477000" y="17780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982A2F"/>
                </a:solidFill>
                <a:latin typeface="Pretendard"/>
                <a:ea typeface="Pretendard"/>
              </a:rPr>
              <a:t>비용 반영 </a:t>
            </a:r>
            <a:r>
              <a:rPr lang="en-US" altLang="ko-KR" sz="1600" b="1">
                <a:solidFill>
                  <a:srgbClr val="982A2F"/>
                </a:solidFill>
                <a:latin typeface="Pretendard"/>
                <a:ea typeface="Pretendard"/>
              </a:rPr>
              <a:t>(</a:t>
            </a:r>
            <a:r>
              <a:rPr lang="en" altLang="ko-KR" sz="1600" b="1">
                <a:solidFill>
                  <a:srgbClr val="982A2F"/>
                </a:solidFill>
                <a:latin typeface="Pretendard"/>
                <a:ea typeface="Pretendard"/>
              </a:rPr>
              <a:t>base </a:t>
            </a:r>
            <a:r>
              <a:rPr lang="ko-KR" altLang="en-US" sz="1600" b="1">
                <a:solidFill>
                  <a:srgbClr val="982A2F"/>
                </a:solidFill>
                <a:latin typeface="Pretendard"/>
                <a:ea typeface="Pretendard"/>
              </a:rPr>
              <a:t>시나리오</a:t>
            </a:r>
            <a:r>
              <a:rPr lang="en-US" altLang="ko-KR" sz="1600" b="1">
                <a:solidFill>
                  <a:srgbClr val="982A2F"/>
                </a:solidFill>
                <a:latin typeface="Pretendard"/>
                <a:ea typeface="Pretendard"/>
              </a:rPr>
              <a:t>)</a:t>
            </a:r>
            <a:endParaRPr lang="ko-KR" altLang="en-US" sz="1600" b="1">
              <a:solidFill>
                <a:srgbClr val="982A2F"/>
              </a:solidFill>
              <a:latin typeface="Pretendard"/>
              <a:ea typeface="Pretendard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0B53268-30C5-2642-A72A-EBA1E3CAF649}"/>
              </a:ext>
            </a:extLst>
          </p:cNvPr>
          <p:cNvSpPr/>
          <p:nvPr/>
        </p:nvSpPr>
        <p:spPr>
          <a:xfrm>
            <a:off x="6477000" y="2209800"/>
            <a:ext cx="5080000" cy="355600"/>
          </a:xfrm>
          <a:prstGeom prst="rect">
            <a:avLst/>
          </a:prstGeom>
          <a:solidFill>
            <a:srgbClr val="F4F4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779B84-3B86-9E43-9C86-57DF2D5E3BC6}"/>
              </a:ext>
            </a:extLst>
          </p:cNvPr>
          <p:cNvSpPr txBox="1"/>
          <p:nvPr/>
        </p:nvSpPr>
        <p:spPr>
          <a:xfrm>
            <a:off x="6654800" y="22733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>
                <a:solidFill>
                  <a:srgbClr val="595959"/>
                </a:solidFill>
                <a:latin typeface="Pretendard"/>
                <a:ea typeface="Pretendard"/>
              </a:rPr>
              <a:t>매매수수료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C30245-C616-484E-B5A2-BEBECA8480CA}"/>
              </a:ext>
            </a:extLst>
          </p:cNvPr>
          <p:cNvSpPr txBox="1"/>
          <p:nvPr/>
        </p:nvSpPr>
        <p:spPr>
          <a:xfrm>
            <a:off x="9779000" y="2273300"/>
            <a:ext cx="1651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0E2841"/>
                </a:solidFill>
                <a:latin typeface="Pretendard"/>
                <a:ea typeface="Pretendard"/>
              </a:rPr>
              <a:t>0.030%</a:t>
            </a:r>
            <a:endParaRPr lang="ko-KR" altLang="en-US" sz="1300" b="1">
              <a:solidFill>
                <a:srgbClr val="0E2841"/>
              </a:solidFill>
              <a:latin typeface="Pretendard"/>
              <a:ea typeface="Pretendard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116F82C-F559-E14D-A406-B526E3105E1B}"/>
              </a:ext>
            </a:extLst>
          </p:cNvPr>
          <p:cNvSpPr/>
          <p:nvPr/>
        </p:nvSpPr>
        <p:spPr>
          <a:xfrm>
            <a:off x="6477000" y="2616200"/>
            <a:ext cx="5080000" cy="355600"/>
          </a:xfrm>
          <a:prstGeom prst="rect">
            <a:avLst/>
          </a:prstGeom>
          <a:solidFill>
            <a:srgbClr val="F4F4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9D5A93-302C-1044-8293-6312019F63BC}"/>
              </a:ext>
            </a:extLst>
          </p:cNvPr>
          <p:cNvSpPr txBox="1"/>
          <p:nvPr/>
        </p:nvSpPr>
        <p:spPr>
          <a:xfrm>
            <a:off x="6654800" y="26797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>
                <a:solidFill>
                  <a:srgbClr val="595959"/>
                </a:solidFill>
                <a:latin typeface="Pretendard"/>
                <a:ea typeface="Pretendard"/>
              </a:rPr>
              <a:t>유관기관수수료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9786A6-A2B5-AA4A-B082-8AEF2747AF10}"/>
              </a:ext>
            </a:extLst>
          </p:cNvPr>
          <p:cNvSpPr txBox="1"/>
          <p:nvPr/>
        </p:nvSpPr>
        <p:spPr>
          <a:xfrm>
            <a:off x="9779000" y="2679700"/>
            <a:ext cx="1651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0E2841"/>
                </a:solidFill>
                <a:latin typeface="Pretendard"/>
                <a:ea typeface="Pretendard"/>
              </a:rPr>
              <a:t>0.0036%</a:t>
            </a:r>
            <a:endParaRPr lang="ko-KR" altLang="en-US" sz="1300" b="1">
              <a:solidFill>
                <a:srgbClr val="0E2841"/>
              </a:solidFill>
              <a:latin typeface="Pretendard"/>
              <a:ea typeface="Pretendard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86B17B2-8192-B645-8391-F02001DF5AA5}"/>
              </a:ext>
            </a:extLst>
          </p:cNvPr>
          <p:cNvSpPr/>
          <p:nvPr/>
        </p:nvSpPr>
        <p:spPr>
          <a:xfrm>
            <a:off x="6477000" y="3022600"/>
            <a:ext cx="5080000" cy="355600"/>
          </a:xfrm>
          <a:prstGeom prst="rect">
            <a:avLst/>
          </a:prstGeom>
          <a:solidFill>
            <a:srgbClr val="F4F4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25CF40-F806-0E45-8D06-57F3952E58F1}"/>
              </a:ext>
            </a:extLst>
          </p:cNvPr>
          <p:cNvSpPr txBox="1"/>
          <p:nvPr/>
        </p:nvSpPr>
        <p:spPr>
          <a:xfrm>
            <a:off x="6654800" y="30861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>
                <a:solidFill>
                  <a:srgbClr val="595959"/>
                </a:solidFill>
                <a:latin typeface="Pretendard"/>
                <a:ea typeface="Pretendard"/>
              </a:rPr>
              <a:t>슬리피지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E7718D-E3FF-7045-93D0-3B9DA39EB54C}"/>
              </a:ext>
            </a:extLst>
          </p:cNvPr>
          <p:cNvSpPr txBox="1"/>
          <p:nvPr/>
        </p:nvSpPr>
        <p:spPr>
          <a:xfrm>
            <a:off x="9779000" y="3086100"/>
            <a:ext cx="1651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0E2841"/>
                </a:solidFill>
                <a:latin typeface="Pretendard"/>
                <a:ea typeface="Pretendard"/>
              </a:rPr>
              <a:t>0.030%</a:t>
            </a:r>
            <a:endParaRPr lang="ko-KR" altLang="en-US" sz="1300" b="1">
              <a:solidFill>
                <a:srgbClr val="0E2841"/>
              </a:solidFill>
              <a:latin typeface="Pretendard"/>
              <a:ea typeface="Pretendard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08B6DF8-F4D9-7A47-BCF0-ED2BB2DF81CB}"/>
              </a:ext>
            </a:extLst>
          </p:cNvPr>
          <p:cNvSpPr/>
          <p:nvPr/>
        </p:nvSpPr>
        <p:spPr>
          <a:xfrm>
            <a:off x="6477000" y="3429000"/>
            <a:ext cx="5080000" cy="355600"/>
          </a:xfrm>
          <a:prstGeom prst="rect">
            <a:avLst/>
          </a:prstGeom>
          <a:solidFill>
            <a:srgbClr val="F4F4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914934-D974-F948-BBE2-5FE21D3C8D7D}"/>
              </a:ext>
            </a:extLst>
          </p:cNvPr>
          <p:cNvSpPr txBox="1"/>
          <p:nvPr/>
        </p:nvSpPr>
        <p:spPr>
          <a:xfrm>
            <a:off x="6654800" y="3492500"/>
            <a:ext cx="3048000" cy="29238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dirty="0">
                <a:solidFill>
                  <a:srgbClr val="595959"/>
                </a:solidFill>
                <a:latin typeface="Pretendard"/>
                <a:ea typeface="Pretendard"/>
              </a:rPr>
              <a:t>매도 시 거래세 </a:t>
            </a:r>
            <a:r>
              <a:rPr lang="en-US" altLang="ko-KR" sz="1300" dirty="0">
                <a:solidFill>
                  <a:srgbClr val="595959"/>
                </a:solidFill>
                <a:latin typeface="Pretendard"/>
                <a:ea typeface="Pretendard"/>
              </a:rPr>
              <a:t>(2024,</a:t>
            </a:r>
            <a:r>
              <a:rPr lang="ko-KR" altLang="en-US" sz="1300" dirty="0">
                <a:solidFill>
                  <a:srgbClr val="595959"/>
                </a:solidFill>
                <a:latin typeface="Pretendard"/>
                <a:ea typeface="Pretendard"/>
              </a:rPr>
              <a:t> </a:t>
            </a:r>
            <a:r>
              <a:rPr lang="en-US" altLang="ko-KR" sz="1300" dirty="0">
                <a:solidFill>
                  <a:srgbClr val="595959"/>
                </a:solidFill>
                <a:latin typeface="Pretendard"/>
                <a:ea typeface="Pretendard"/>
              </a:rPr>
              <a:t>2025,</a:t>
            </a:r>
            <a:r>
              <a:rPr lang="ko-KR" altLang="en-US" sz="1300" dirty="0">
                <a:solidFill>
                  <a:srgbClr val="595959"/>
                </a:solidFill>
                <a:latin typeface="Pretendard"/>
                <a:ea typeface="Pretendard"/>
              </a:rPr>
              <a:t> </a:t>
            </a:r>
            <a:r>
              <a:rPr lang="en-US" altLang="ko-KR" sz="1300" dirty="0">
                <a:solidFill>
                  <a:srgbClr val="595959"/>
                </a:solidFill>
                <a:latin typeface="Pretendard"/>
                <a:ea typeface="Pretendard"/>
              </a:rPr>
              <a:t>2026)</a:t>
            </a:r>
            <a:endParaRPr lang="ko-KR" altLang="en-US" sz="1300" dirty="0">
              <a:solidFill>
                <a:srgbClr val="595959"/>
              </a:solidFill>
              <a:latin typeface="Pretendard"/>
              <a:ea typeface="Pretendard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BD61E8-9724-7940-AAD1-7F3D046D4136}"/>
              </a:ext>
            </a:extLst>
          </p:cNvPr>
          <p:cNvSpPr txBox="1"/>
          <p:nvPr/>
        </p:nvSpPr>
        <p:spPr>
          <a:xfrm>
            <a:off x="9779000" y="3492500"/>
            <a:ext cx="2093210" cy="29238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 dirty="0">
                <a:solidFill>
                  <a:srgbClr val="0E2841"/>
                </a:solidFill>
                <a:latin typeface="Pretendard"/>
                <a:ea typeface="Pretendard"/>
              </a:rPr>
              <a:t>0.18%,</a:t>
            </a:r>
            <a:r>
              <a:rPr lang="ko-KR" altLang="en-US" sz="1300" b="1" dirty="0">
                <a:solidFill>
                  <a:srgbClr val="0E2841"/>
                </a:solidFill>
                <a:latin typeface="Pretendard"/>
                <a:ea typeface="Pretendard"/>
              </a:rPr>
              <a:t> </a:t>
            </a:r>
            <a:r>
              <a:rPr lang="en-US" altLang="ko-KR" sz="1300" b="1" dirty="0">
                <a:solidFill>
                  <a:srgbClr val="0E2841"/>
                </a:solidFill>
                <a:latin typeface="Pretendard"/>
                <a:ea typeface="Pretendard"/>
              </a:rPr>
              <a:t>0.15%,</a:t>
            </a:r>
            <a:r>
              <a:rPr lang="ko-KR" altLang="en-US" sz="1300" b="1" dirty="0">
                <a:solidFill>
                  <a:srgbClr val="0E2841"/>
                </a:solidFill>
                <a:latin typeface="Pretendard"/>
                <a:ea typeface="Pretendard"/>
              </a:rPr>
              <a:t> </a:t>
            </a:r>
            <a:r>
              <a:rPr lang="en-US" altLang="ko-KR" sz="1300" b="1" dirty="0">
                <a:solidFill>
                  <a:srgbClr val="0E2841"/>
                </a:solidFill>
                <a:latin typeface="Pretendard"/>
                <a:ea typeface="Pretendard"/>
              </a:rPr>
              <a:t>0.20%</a:t>
            </a:r>
            <a:endParaRPr lang="ko-KR" altLang="en-US" sz="1300" b="1" dirty="0">
              <a:solidFill>
                <a:srgbClr val="0E2841"/>
              </a:solidFill>
              <a:latin typeface="Pretendard"/>
              <a:ea typeface="Pretendard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19F3E85-0F94-9D40-AF94-827E6B51EA92}"/>
              </a:ext>
            </a:extLst>
          </p:cNvPr>
          <p:cNvSpPr/>
          <p:nvPr/>
        </p:nvSpPr>
        <p:spPr>
          <a:xfrm>
            <a:off x="6477000" y="3835400"/>
            <a:ext cx="5080000" cy="355600"/>
          </a:xfrm>
          <a:prstGeom prst="rect">
            <a:avLst/>
          </a:prstGeom>
          <a:solidFill>
            <a:srgbClr val="F4F4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AA26BB-7867-C247-88DC-56C39E10817D}"/>
              </a:ext>
            </a:extLst>
          </p:cNvPr>
          <p:cNvSpPr txBox="1"/>
          <p:nvPr/>
        </p:nvSpPr>
        <p:spPr>
          <a:xfrm>
            <a:off x="6654800" y="38989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>
                <a:solidFill>
                  <a:srgbClr val="595959"/>
                </a:solidFill>
                <a:latin typeface="Pretendard"/>
                <a:ea typeface="Pretendard"/>
              </a:rPr>
              <a:t>펀드 총보수</a:t>
            </a:r>
            <a:r>
              <a:rPr lang="en-US" altLang="ko-KR" sz="1300">
                <a:solidFill>
                  <a:srgbClr val="595959"/>
                </a:solidFill>
                <a:latin typeface="Pretendard"/>
                <a:ea typeface="Pretendard"/>
              </a:rPr>
              <a:t>·</a:t>
            </a:r>
            <a:r>
              <a:rPr lang="ko-KR" altLang="en-US" sz="1300">
                <a:solidFill>
                  <a:srgbClr val="595959"/>
                </a:solidFill>
                <a:latin typeface="Pretendard"/>
                <a:ea typeface="Pretendard"/>
              </a:rPr>
              <a:t>비용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7070BA-4F04-E940-9872-AA909E680B90}"/>
              </a:ext>
            </a:extLst>
          </p:cNvPr>
          <p:cNvSpPr txBox="1"/>
          <p:nvPr/>
        </p:nvSpPr>
        <p:spPr>
          <a:xfrm>
            <a:off x="9779000" y="3898900"/>
            <a:ext cx="1651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E2841"/>
                </a:solidFill>
                <a:latin typeface="Pretendard"/>
                <a:ea typeface="Pretendard"/>
              </a:rPr>
              <a:t>연 </a:t>
            </a:r>
            <a:r>
              <a:rPr lang="en-US" altLang="ko-KR" sz="1300" b="1">
                <a:solidFill>
                  <a:srgbClr val="0E2841"/>
                </a:solidFill>
                <a:latin typeface="Pretendard"/>
                <a:ea typeface="Pretendard"/>
              </a:rPr>
              <a:t>0.4586%</a:t>
            </a:r>
            <a:endParaRPr lang="ko-KR" altLang="en-US" sz="1300" b="1">
              <a:solidFill>
                <a:srgbClr val="0E2841"/>
              </a:solidFill>
              <a:latin typeface="Pretendard"/>
              <a:ea typeface="Pretendard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3F85DDC-D586-A244-9557-772CEDF3548E}"/>
              </a:ext>
            </a:extLst>
          </p:cNvPr>
          <p:cNvSpPr/>
          <p:nvPr/>
        </p:nvSpPr>
        <p:spPr>
          <a:xfrm>
            <a:off x="6477000" y="4318000"/>
            <a:ext cx="5080000" cy="1219200"/>
          </a:xfrm>
          <a:prstGeom prst="rect">
            <a:avLst/>
          </a:prstGeom>
          <a:solidFill>
            <a:srgbClr val="FAFAFC"/>
          </a:solidFill>
          <a:ln w="9525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9ED2C00-64A7-0442-BEAA-24AB2419AEF5}"/>
              </a:ext>
            </a:extLst>
          </p:cNvPr>
          <p:cNvSpPr txBox="1"/>
          <p:nvPr/>
        </p:nvSpPr>
        <p:spPr>
          <a:xfrm>
            <a:off x="6680200" y="44450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982A2F"/>
                </a:solidFill>
                <a:latin typeface="Pretendard"/>
                <a:ea typeface="Pretendard"/>
              </a:rPr>
              <a:t>비용 </a:t>
            </a:r>
            <a:r>
              <a:rPr lang="en" altLang="ko-KR" sz="1200" b="1">
                <a:solidFill>
                  <a:srgbClr val="982A2F"/>
                </a:solidFill>
                <a:latin typeface="Pretendard"/>
                <a:ea typeface="Pretendard"/>
              </a:rPr>
              <a:t>drag</a:t>
            </a:r>
            <a:endParaRPr lang="ko-KR" altLang="en-US" sz="1200" b="1">
              <a:solidFill>
                <a:srgbClr val="982A2F"/>
              </a:solidFill>
              <a:latin typeface="Pretendard"/>
              <a:ea typeface="Pretendard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E7D12A-3D41-B743-8961-705C502ACB7A}"/>
              </a:ext>
            </a:extLst>
          </p:cNvPr>
          <p:cNvSpPr txBox="1"/>
          <p:nvPr/>
        </p:nvSpPr>
        <p:spPr>
          <a:xfrm>
            <a:off x="6680200" y="46990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2400" b="1">
                <a:solidFill>
                  <a:srgbClr val="0E2841"/>
                </a:solidFill>
                <a:latin typeface="Pretendard"/>
                <a:ea typeface="Pretendard"/>
              </a:rPr>
              <a:t>−54.97%p</a:t>
            </a:r>
            <a:endParaRPr lang="ko-KR" altLang="en-US" sz="2400" b="1">
              <a:solidFill>
                <a:srgbClr val="0E2841"/>
              </a:solidFill>
              <a:latin typeface="Pretendard"/>
              <a:ea typeface="Pretendard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6CBAD4-5F09-2647-B088-7575EC919001}"/>
              </a:ext>
            </a:extLst>
          </p:cNvPr>
          <p:cNvSpPr txBox="1"/>
          <p:nvPr/>
        </p:nvSpPr>
        <p:spPr>
          <a:xfrm>
            <a:off x="6680200" y="51435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</a:rPr>
              <a:t>비용 미반영 </a:t>
            </a:r>
            <a:r>
              <a:rPr lang="en-US" altLang="ko-KR" sz="1100">
                <a:solidFill>
                  <a:srgbClr val="595959"/>
                </a:solidFill>
                <a:latin typeface="Pretendard"/>
                <a:ea typeface="Pretendard"/>
              </a:rPr>
              <a:t>719.03% → </a:t>
            </a:r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</a:rPr>
              <a:t>비용 반영 </a:t>
            </a:r>
            <a:r>
              <a:rPr lang="en-US" altLang="ko-KR" sz="1100">
                <a:solidFill>
                  <a:srgbClr val="595959"/>
                </a:solidFill>
                <a:latin typeface="Pretendard"/>
                <a:ea typeface="Pretendard"/>
              </a:rPr>
              <a:t>664.06% (</a:t>
            </a:r>
            <a:r>
              <a:rPr lang="en" altLang="ko-KR" sz="1100">
                <a:solidFill>
                  <a:srgbClr val="595959"/>
                </a:solidFill>
                <a:latin typeface="Pretendard"/>
                <a:ea typeface="Pretendard"/>
              </a:rPr>
              <a:t>PDF 495.88%)</a:t>
            </a:r>
            <a:endParaRPr lang="ko-KR" altLang="en-US" sz="1100">
              <a:solidFill>
                <a:srgbClr val="595959"/>
              </a:solidFill>
              <a:latin typeface="Pretendard"/>
              <a:ea typeface="Pretendard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5801302-43E2-2847-8DC7-755C469472F3}"/>
              </a:ext>
            </a:extLst>
          </p:cNvPr>
          <p:cNvSpPr/>
          <p:nvPr/>
        </p:nvSpPr>
        <p:spPr>
          <a:xfrm>
            <a:off x="762000" y="5816600"/>
            <a:ext cx="10795000" cy="457200"/>
          </a:xfrm>
          <a:prstGeom prst="rect">
            <a:avLst/>
          </a:prstGeom>
          <a:solidFill>
            <a:srgbClr val="FAFAFC"/>
          </a:solidFill>
          <a:ln w="6350" cap="flat" cmpd="sng" algn="ctr">
            <a:solidFill>
              <a:srgbClr val="15608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F9CBC7-3D5F-D349-8923-B8BC76D8FC91}"/>
              </a:ext>
            </a:extLst>
          </p:cNvPr>
          <p:cNvSpPr txBox="1"/>
          <p:nvPr/>
        </p:nvSpPr>
        <p:spPr>
          <a:xfrm>
            <a:off x="965200" y="5905500"/>
            <a:ext cx="10414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0E2841"/>
                </a:solidFill>
                <a:latin typeface="Pretendard"/>
                <a:ea typeface="Pretendard"/>
              </a:rPr>
              <a:t>주간 리밸런싱 </a:t>
            </a:r>
            <a:r>
              <a:rPr lang="en-US" altLang="ko-KR" sz="1200">
                <a:solidFill>
                  <a:srgbClr val="0E2841"/>
                </a:solidFill>
                <a:latin typeface="Pretendard"/>
                <a:ea typeface="Pretendard"/>
              </a:rPr>
              <a:t>= </a:t>
            </a:r>
            <a:r>
              <a:rPr lang="ko-KR" altLang="en-US" sz="1200">
                <a:solidFill>
                  <a:srgbClr val="0E2841"/>
                </a:solidFill>
                <a:latin typeface="Pretendard"/>
                <a:ea typeface="Pretendard"/>
              </a:rPr>
              <a:t>컨센서스 변화 포착 </a:t>
            </a:r>
            <a:r>
              <a:rPr lang="en-US" altLang="ko-KR" sz="1200">
                <a:solidFill>
                  <a:srgbClr val="0E2841"/>
                </a:solidFill>
                <a:latin typeface="Pretendard"/>
                <a:ea typeface="Pretendard"/>
              </a:rPr>
              <a:t>(</a:t>
            </a:r>
            <a:r>
              <a:rPr lang="ko-KR" altLang="en-US" sz="1200">
                <a:solidFill>
                  <a:srgbClr val="0E2841"/>
                </a:solidFill>
                <a:latin typeface="Pretendard"/>
                <a:ea typeface="Pretendard"/>
              </a:rPr>
              <a:t>월간은 너무 느림</a:t>
            </a:r>
            <a:r>
              <a:rPr lang="en-US" altLang="ko-KR" sz="1200">
                <a:solidFill>
                  <a:srgbClr val="0E2841"/>
                </a:solidFill>
                <a:latin typeface="Pretendard"/>
                <a:ea typeface="Pretendard"/>
              </a:rPr>
              <a:t>) ↔ </a:t>
            </a:r>
            <a:r>
              <a:rPr lang="ko-KR" altLang="en-US" sz="1200">
                <a:solidFill>
                  <a:srgbClr val="0E2841"/>
                </a:solidFill>
                <a:latin typeface="Pretendard"/>
                <a:ea typeface="Pretendard"/>
              </a:rPr>
              <a:t>거래비용</a:t>
            </a:r>
            <a:r>
              <a:rPr lang="en-US" altLang="ko-KR" sz="1200">
                <a:solidFill>
                  <a:srgbClr val="0E2841"/>
                </a:solidFill>
                <a:latin typeface="Pretendard"/>
                <a:ea typeface="Pretendard"/>
              </a:rPr>
              <a:t>·</a:t>
            </a:r>
            <a:r>
              <a:rPr lang="ko-KR" altLang="en-US" sz="1200">
                <a:solidFill>
                  <a:srgbClr val="0E2841"/>
                </a:solidFill>
                <a:latin typeface="Pretendard"/>
                <a:ea typeface="Pretendard"/>
              </a:rPr>
              <a:t>노이즈 통제 </a:t>
            </a:r>
            <a:r>
              <a:rPr lang="en-US" altLang="ko-KR" sz="1200">
                <a:solidFill>
                  <a:srgbClr val="0E2841"/>
                </a:solidFill>
                <a:latin typeface="Pretendard"/>
                <a:ea typeface="Pretendard"/>
              </a:rPr>
              <a:t>(</a:t>
            </a:r>
            <a:r>
              <a:rPr lang="ko-KR" altLang="en-US" sz="1200">
                <a:solidFill>
                  <a:srgbClr val="0E2841"/>
                </a:solidFill>
                <a:latin typeface="Pretendard"/>
                <a:ea typeface="Pretendard"/>
              </a:rPr>
              <a:t>일간은 비용 폭증</a:t>
            </a:r>
            <a:r>
              <a:rPr lang="en-US" altLang="ko-KR" sz="1200">
                <a:solidFill>
                  <a:srgbClr val="0E2841"/>
                </a:solidFill>
                <a:latin typeface="Pretendard"/>
                <a:ea typeface="Pretendard"/>
              </a:rPr>
              <a:t>) </a:t>
            </a:r>
            <a:r>
              <a:rPr lang="ko-KR" altLang="en-US" sz="1200">
                <a:solidFill>
                  <a:srgbClr val="0E2841"/>
                </a:solidFill>
                <a:latin typeface="Pretendard"/>
                <a:ea typeface="Pretendard"/>
              </a:rPr>
              <a:t>사이의 절충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2011176-E413-4D96-BAA4-46B50732F4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356350"/>
            <a:ext cx="1515291" cy="493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127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98FB80F-358C-B04B-9C38-7C3007911D5C}"/>
              </a:ext>
            </a:extLst>
          </p:cNvPr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A5A35F-0334-9543-9F9B-2036A12E1407}"/>
              </a:ext>
            </a:extLst>
          </p:cNvPr>
          <p:cNvSpPr txBox="1"/>
          <p:nvPr/>
        </p:nvSpPr>
        <p:spPr>
          <a:xfrm>
            <a:off x="762000" y="457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 dirty="0">
                <a:solidFill>
                  <a:srgbClr val="982A2F"/>
                </a:solidFill>
                <a:latin typeface="Pretendard"/>
                <a:ea typeface="Pretendard"/>
              </a:rPr>
              <a:t>08</a:t>
            </a:r>
            <a:endParaRPr lang="ko-KR" altLang="en-US" sz="1200" b="1" dirty="0">
              <a:solidFill>
                <a:srgbClr val="982A2F"/>
              </a:solidFill>
              <a:latin typeface="Pretendard"/>
              <a:ea typeface="Pretendar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73B5B7-FEFF-6B48-8D39-96E1ED44E50E}"/>
              </a:ext>
            </a:extLst>
          </p:cNvPr>
          <p:cNvSpPr txBox="1"/>
          <p:nvPr/>
        </p:nvSpPr>
        <p:spPr>
          <a:xfrm>
            <a:off x="762000" y="762000"/>
            <a:ext cx="10668000" cy="58477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 dirty="0">
                <a:solidFill>
                  <a:srgbClr val="0E2841"/>
                </a:solidFill>
                <a:latin typeface="Pretendard"/>
                <a:ea typeface="Pretendard"/>
              </a:rPr>
              <a:t>Optimization</a:t>
            </a:r>
            <a:endParaRPr lang="ko-KR" altLang="en-US" sz="3200" b="1" dirty="0">
              <a:solidFill>
                <a:srgbClr val="0E2841"/>
              </a:solidFill>
              <a:latin typeface="Pretendard"/>
              <a:ea typeface="Pretendard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F697780-4624-134B-BDF6-085219AD4C62}"/>
              </a:ext>
            </a:extLst>
          </p:cNvPr>
          <p:cNvSpPr/>
          <p:nvPr/>
        </p:nvSpPr>
        <p:spPr>
          <a:xfrm>
            <a:off x="762000" y="1473200"/>
            <a:ext cx="762000" cy="381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89171DD-9DE1-9A4C-A190-94928F608D42}"/>
              </a:ext>
            </a:extLst>
          </p:cNvPr>
          <p:cNvSpPr/>
          <p:nvPr/>
        </p:nvSpPr>
        <p:spPr>
          <a:xfrm>
            <a:off x="762000" y="1752600"/>
            <a:ext cx="10668000" cy="1143000"/>
          </a:xfrm>
          <a:prstGeom prst="rect">
            <a:avLst/>
          </a:prstGeom>
          <a:solidFill>
            <a:srgbClr val="FAFAFC"/>
          </a:solidFill>
          <a:ln w="12700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3A1ED6-0D6F-F34C-B9CD-686C404712FB}"/>
              </a:ext>
            </a:extLst>
          </p:cNvPr>
          <p:cNvSpPr txBox="1"/>
          <p:nvPr/>
        </p:nvSpPr>
        <p:spPr>
          <a:xfrm>
            <a:off x="965200" y="1879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982A2F"/>
                </a:solidFill>
                <a:latin typeface="Pretendard"/>
                <a:ea typeface="Pretendard"/>
              </a:rPr>
              <a:t>목적함수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D994B1-312B-0941-94BB-7912627B1513}"/>
                  </a:ext>
                </a:extLst>
              </p:cNvPr>
              <p:cNvSpPr txBox="1"/>
              <p:nvPr/>
            </p:nvSpPr>
            <p:spPr>
              <a:xfrm>
                <a:off x="965200" y="2133600"/>
                <a:ext cx="10261600" cy="4694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" altLang="ko-KR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" altLang="ko-KR" i="1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" altLang="ko-KR" i="0" dirty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wt</m:t>
                              </m:r>
                            </m:lim>
                          </m:limLow>
                        </m:fName>
                        <m:e>
                          <m:sSubSup>
                            <m:sSubSupPr>
                              <m:ctrlPr>
                                <a:rPr lang="en" altLang="ko-KR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" altLang="ko-KR" i="1" dirty="0" err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" altLang="ko-KR" i="1" dirty="0" err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" altLang="ko-KR" i="1" dirty="0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bSup>
                          <m:d>
                            <m:dPr>
                              <m:ctrlPr>
                                <a:rPr lang="en" altLang="ko-KR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" altLang="ko-KR" i="1" dirty="0" err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" altLang="ko-KR" i="1" dirty="0" err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" altLang="ko-KR" i="1" dirty="0" err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" altLang="ko-KR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" altLang="ko-KR" i="1" dirty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" altLang="ko-KR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" altLang="ko-KR" i="1" dirty="0">
                                      <a:latin typeface="Cambria Math" panose="02040503050406030204" pitchFamily="18" charset="0"/>
                                    </a:rPr>
                                    <m:t>𝑃𝐷𝐹</m:t>
                                  </m:r>
                                </m:sup>
                              </m:sSubSup>
                            </m:e>
                          </m:d>
                        </m:e>
                      </m:func>
                      <m:r>
                        <a:rPr lang="en" altLang="ko-KR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" altLang="ko-KR" i="1" dirty="0"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n" altLang="ko-KR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" altLang="ko-KR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" altLang="ko-KR" i="1" dirty="0" err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" altLang="ko-KR" i="1" dirty="0" err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" altLang="ko-KR" i="1" dirty="0" err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" altLang="ko-KR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" altLang="ko-KR" i="1" dirty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" altLang="ko-KR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" altLang="ko-KR" i="1" dirty="0">
                                      <a:latin typeface="Cambria Math" panose="02040503050406030204" pitchFamily="18" charset="0"/>
                                    </a:rPr>
                                    <m:t>𝑃𝐷𝐹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" altLang="ko-KR" i="1" dirty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sSub>
                        <m:sSubPr>
                          <m:ctrlPr>
                            <a:rPr lang="en" altLang="ko-KR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" altLang="ko-KR" i="0" dirty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" altLang="ko-KR" i="1" dirty="0" err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" altLang="ko-K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" altLang="ko-KR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" altLang="ko-KR" i="1" dirty="0" err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" altLang="ko-KR" i="1" dirty="0" err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" altLang="ko-KR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" altLang="ko-KR" i="1" dirty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" altLang="ko-KR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" altLang="ko-KR" i="1" dirty="0">
                                  <a:latin typeface="Cambria Math" panose="02040503050406030204" pitchFamily="18" charset="0"/>
                                </a:rPr>
                                <m:t>𝑃𝐷𝐹</m:t>
                              </m:r>
                            </m:sup>
                          </m:sSubSup>
                        </m:e>
                      </m:d>
                      <m:r>
                        <a:rPr lang="en" altLang="ko-KR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" altLang="ko-KR" i="1" dirty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m:rPr>
                          <m:lit/>
                        </m:rPr>
                        <a:rPr lang="en" altLang="ko-KR" i="1" dirty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" altLang="ko-KR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" altLang="ko-KR" i="1" dirty="0" err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" altLang="ko-KR" i="1" dirty="0" err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" altLang="ko-KR" i="1" dirty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" altLang="ko-K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" altLang="ko-KR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" altLang="ko-KR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" altLang="ko-KR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bSup>
                        <m:sSubSupPr>
                          <m:ctrlPr>
                            <a:rPr lang="en" altLang="ko-KR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lit/>
                            </m:rPr>
                            <a:rPr lang="en" altLang="ko-KR" i="1" dirty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" altLang="ko-KR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" altLang="ko-KR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D994B1-312B-0941-94BB-7912627B15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200" y="2133600"/>
                <a:ext cx="10261600" cy="4694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46F60898-29B6-434A-9071-BA9E44D4E933}"/>
              </a:ext>
            </a:extLst>
          </p:cNvPr>
          <p:cNvSpPr txBox="1"/>
          <p:nvPr/>
        </p:nvSpPr>
        <p:spPr>
          <a:xfrm>
            <a:off x="2924887" y="2520890"/>
            <a:ext cx="3031066" cy="40011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r>
              <a:rPr lang="ko-KR" altLang="en-US" sz="1000" dirty="0">
                <a:solidFill>
                  <a:srgbClr val="595959"/>
                </a:solidFill>
                <a:latin typeface="Pretendard"/>
                <a:ea typeface="Pretendard"/>
              </a:rPr>
              <a:t>점수 방향 노출</a:t>
            </a:r>
            <a:r>
              <a:rPr lang="en-US" altLang="ko-KR" sz="1000" dirty="0">
                <a:solidFill>
                  <a:srgbClr val="595959"/>
                </a:solidFill>
                <a:latin typeface="Pretendard"/>
                <a:ea typeface="Pretendard"/>
              </a:rPr>
              <a:t>(</a:t>
            </a:r>
            <a:r>
              <a:rPr lang="ko-KR" altLang="en-US" sz="1000" dirty="0">
                <a:solidFill>
                  <a:srgbClr val="595959"/>
                </a:solidFill>
                <a:latin typeface="Pretendard"/>
                <a:ea typeface="Pretendard"/>
              </a:rPr>
              <a:t> 높을수록 좋음</a:t>
            </a:r>
            <a:r>
              <a:rPr lang="en-US" altLang="ko-KR" sz="1000" dirty="0">
                <a:solidFill>
                  <a:srgbClr val="595959"/>
                </a:solidFill>
                <a:latin typeface="Pretendard"/>
                <a:ea typeface="Pretendard"/>
              </a:rPr>
              <a:t>)</a:t>
            </a:r>
            <a:br>
              <a:rPr lang="en-US" altLang="ko-KR" sz="1000" dirty="0">
                <a:solidFill>
                  <a:srgbClr val="595959"/>
                </a:solidFill>
                <a:latin typeface="Pretendard"/>
                <a:ea typeface="Pretendard"/>
              </a:rPr>
            </a:br>
            <a:r>
              <a:rPr lang="en" altLang="ko-KR" sz="1000" dirty="0">
                <a:solidFill>
                  <a:srgbClr val="595959"/>
                </a:solidFill>
                <a:latin typeface="Pretendard"/>
                <a:ea typeface="Pretendard"/>
              </a:rPr>
              <a:t>score </a:t>
            </a:r>
            <a:r>
              <a:rPr lang="ko-KR" altLang="en-US" sz="1000" dirty="0">
                <a:solidFill>
                  <a:srgbClr val="595959"/>
                </a:solidFill>
                <a:latin typeface="Pretendard"/>
                <a:ea typeface="Pretendard"/>
              </a:rPr>
              <a:t>높은 종목 </a:t>
            </a:r>
            <a:r>
              <a:rPr lang="en" altLang="ko-KR" sz="1000" dirty="0">
                <a:solidFill>
                  <a:srgbClr val="595959"/>
                </a:solidFill>
                <a:latin typeface="Pretendard"/>
                <a:ea typeface="Pretendard"/>
              </a:rPr>
              <a:t>overweight</a:t>
            </a:r>
            <a:endParaRPr lang="ko-KR" altLang="en-US" sz="1000" dirty="0">
              <a:solidFill>
                <a:srgbClr val="595959"/>
              </a:solidFill>
              <a:latin typeface="Pretendard"/>
              <a:ea typeface="Pretendar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1CA574-47C6-C74C-BAC2-B747F7FF171D}"/>
              </a:ext>
            </a:extLst>
          </p:cNvPr>
          <p:cNvSpPr txBox="1"/>
          <p:nvPr/>
        </p:nvSpPr>
        <p:spPr>
          <a:xfrm>
            <a:off x="5505969" y="2520890"/>
            <a:ext cx="3031066" cy="40011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r>
              <a:rPr lang="en" altLang="ko-KR" sz="1000" dirty="0">
                <a:solidFill>
                  <a:srgbClr val="595959"/>
                </a:solidFill>
                <a:latin typeface="Pretendard"/>
                <a:ea typeface="Pretendard"/>
              </a:rPr>
              <a:t>Active risk </a:t>
            </a:r>
            <a:r>
              <a:rPr lang="ko-KR" altLang="en-US" sz="1000" dirty="0" err="1">
                <a:solidFill>
                  <a:srgbClr val="595959"/>
                </a:solidFill>
                <a:latin typeface="Pretendard"/>
                <a:ea typeface="Pretendard"/>
              </a:rPr>
              <a:t>패널티</a:t>
            </a:r>
            <a:r>
              <a:rPr lang="ko-KR" altLang="en-US" sz="1000" dirty="0">
                <a:solidFill>
                  <a:srgbClr val="595959"/>
                </a:solidFill>
                <a:latin typeface="Pretendard"/>
                <a:ea typeface="Pretendard"/>
              </a:rPr>
              <a:t> 분산 </a:t>
            </a:r>
            <a:r>
              <a:rPr lang="en-US" altLang="ko-KR" sz="1000" dirty="0">
                <a:solidFill>
                  <a:srgbClr val="595959"/>
                </a:solidFill>
                <a:latin typeface="Pretendard"/>
                <a:ea typeface="Pretendard"/>
              </a:rPr>
              <a:t>(</a:t>
            </a:r>
            <a:r>
              <a:rPr lang="ko-KR" altLang="en-US" sz="1000" dirty="0">
                <a:solidFill>
                  <a:srgbClr val="595959"/>
                </a:solidFill>
                <a:latin typeface="Pretendard"/>
                <a:ea typeface="Pretendard"/>
              </a:rPr>
              <a:t>낮을수록 좋음</a:t>
            </a:r>
            <a:r>
              <a:rPr lang="en-US" altLang="ko-KR" sz="1000" dirty="0">
                <a:solidFill>
                  <a:srgbClr val="595959"/>
                </a:solidFill>
                <a:latin typeface="Pretendard"/>
                <a:ea typeface="Pretendard"/>
              </a:rPr>
              <a:t>)</a:t>
            </a:r>
          </a:p>
          <a:p>
            <a:r>
              <a:rPr lang="ko-KR" altLang="en-US" sz="1000" dirty="0">
                <a:solidFill>
                  <a:srgbClr val="595959"/>
                </a:solidFill>
                <a:latin typeface="Pretendard"/>
                <a:ea typeface="Pretendard"/>
              </a:rPr>
              <a:t>벤치마크 대비 위험 측정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39B6F7-19C3-B645-83E9-16F9515E3F7A}"/>
              </a:ext>
            </a:extLst>
          </p:cNvPr>
          <p:cNvSpPr txBox="1"/>
          <p:nvPr/>
        </p:nvSpPr>
        <p:spPr>
          <a:xfrm>
            <a:off x="8450704" y="2573312"/>
            <a:ext cx="3031066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000" dirty="0">
                <a:solidFill>
                  <a:srgbClr val="595959"/>
                </a:solidFill>
                <a:latin typeface="Pretendard"/>
                <a:ea typeface="Pretendard"/>
              </a:rPr>
              <a:t>Turnover </a:t>
            </a:r>
            <a:r>
              <a:rPr lang="ko-KR" altLang="en-US" sz="1000" dirty="0" err="1">
                <a:solidFill>
                  <a:srgbClr val="595959"/>
                </a:solidFill>
                <a:latin typeface="Pretendard"/>
                <a:ea typeface="Pretendard"/>
              </a:rPr>
              <a:t>패널티</a:t>
            </a:r>
            <a:endParaRPr lang="ko-KR" altLang="en-US" sz="1000" dirty="0">
              <a:solidFill>
                <a:srgbClr val="595959"/>
              </a:solidFill>
              <a:latin typeface="Pretendard"/>
              <a:ea typeface="Pretendar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04A41E-F715-F748-A54E-3006F4276206}"/>
              </a:ext>
            </a:extLst>
          </p:cNvPr>
          <p:cNvSpPr txBox="1"/>
          <p:nvPr/>
        </p:nvSpPr>
        <p:spPr>
          <a:xfrm>
            <a:off x="762000" y="34036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982A2F"/>
                </a:solidFill>
                <a:latin typeface="Pretendard"/>
                <a:ea typeface="Pretendard"/>
              </a:rPr>
              <a:t>제약조건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8F2A64C-D596-E847-820B-1C7119B8741F}"/>
              </a:ext>
            </a:extLst>
          </p:cNvPr>
          <p:cNvSpPr txBox="1"/>
          <p:nvPr/>
        </p:nvSpPr>
        <p:spPr>
          <a:xfrm>
            <a:off x="762000" y="53975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982A2F"/>
                </a:solidFill>
                <a:latin typeface="Pretendard"/>
                <a:ea typeface="Pretendard"/>
              </a:rPr>
              <a:t>핵심 직관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780AB9-F23A-2849-B8B3-15026AC2479A}"/>
              </a:ext>
            </a:extLst>
          </p:cNvPr>
          <p:cNvSpPr txBox="1"/>
          <p:nvPr/>
        </p:nvSpPr>
        <p:spPr>
          <a:xfrm>
            <a:off x="762000" y="5689600"/>
            <a:ext cx="10668000" cy="49244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dirty="0">
                <a:solidFill>
                  <a:srgbClr val="595959"/>
                </a:solidFill>
                <a:latin typeface="Pretendard"/>
                <a:ea typeface="Pretendard"/>
              </a:rPr>
              <a:t>좋은 점수 종목을 </a:t>
            </a:r>
            <a:r>
              <a:rPr lang="en" altLang="ko-KR" sz="1300" dirty="0">
                <a:solidFill>
                  <a:srgbClr val="595959"/>
                </a:solidFill>
                <a:latin typeface="Pretendard"/>
                <a:ea typeface="Pretendard"/>
              </a:rPr>
              <a:t>PDF</a:t>
            </a:r>
            <a:r>
              <a:rPr lang="ko-KR" altLang="en-US" sz="1300" dirty="0">
                <a:solidFill>
                  <a:srgbClr val="595959"/>
                </a:solidFill>
                <a:latin typeface="Pretendard"/>
                <a:ea typeface="Pretendard"/>
              </a:rPr>
              <a:t>보다 더 담는다는 방향은 유지하되</a:t>
            </a:r>
            <a:r>
              <a:rPr lang="en-US" altLang="ko-KR" sz="1300" dirty="0">
                <a:solidFill>
                  <a:srgbClr val="595959"/>
                </a:solidFill>
                <a:latin typeface="Pretendard"/>
                <a:ea typeface="Pretendard"/>
              </a:rPr>
              <a:t>,
</a:t>
            </a:r>
            <a:r>
              <a:rPr lang="en" altLang="ko-KR" sz="1300" dirty="0">
                <a:solidFill>
                  <a:srgbClr val="595959"/>
                </a:solidFill>
                <a:latin typeface="Pretendard"/>
                <a:ea typeface="Pretendard"/>
              </a:rPr>
              <a:t>active </a:t>
            </a:r>
            <a:r>
              <a:rPr lang="en" altLang="ko-KR" sz="1300" dirty="0" err="1">
                <a:solidFill>
                  <a:srgbClr val="595959"/>
                </a:solidFill>
                <a:latin typeface="Pretendard"/>
                <a:ea typeface="Pretendard"/>
              </a:rPr>
              <a:t>risk·TE·turnover</a:t>
            </a:r>
            <a:r>
              <a:rPr lang="ko-KR" altLang="en-US" sz="1300" dirty="0">
                <a:solidFill>
                  <a:srgbClr val="595959"/>
                </a:solidFill>
                <a:latin typeface="Pretendard"/>
                <a:ea typeface="Pretendard"/>
              </a:rPr>
              <a:t>가 과도해지지 않게 조율한 비중 조합을 푸는 문제</a:t>
            </a:r>
            <a:r>
              <a:rPr lang="en-US" altLang="ko-KR" sz="1300" dirty="0">
                <a:solidFill>
                  <a:srgbClr val="595959"/>
                </a:solidFill>
                <a:latin typeface="Pretendard"/>
                <a:ea typeface="Pretendard"/>
              </a:rPr>
              <a:t>.</a:t>
            </a:r>
            <a:endParaRPr lang="ko-KR" altLang="en-US" sz="1300" dirty="0">
              <a:solidFill>
                <a:srgbClr val="595959"/>
              </a:solidFill>
              <a:latin typeface="Pretendard"/>
              <a:ea typeface="Pretendard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F4379C0-0C42-D2CC-3901-B92E32D151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356350"/>
            <a:ext cx="1515291" cy="493985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3EEA7F2B-4BE6-1A48-8334-7FBC332DF3F8}"/>
              </a:ext>
            </a:extLst>
          </p:cNvPr>
          <p:cNvSpPr/>
          <p:nvPr/>
        </p:nvSpPr>
        <p:spPr>
          <a:xfrm>
            <a:off x="762000" y="3810000"/>
            <a:ext cx="2032000" cy="1397000"/>
          </a:xfrm>
          <a:prstGeom prst="rect">
            <a:avLst/>
          </a:prstGeom>
          <a:noFill/>
          <a:ln w="6350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59C0CA1-6688-8048-8291-DE30BAFF2717}"/>
              </a:ext>
            </a:extLst>
          </p:cNvPr>
          <p:cNvSpPr/>
          <p:nvPr/>
        </p:nvSpPr>
        <p:spPr>
          <a:xfrm>
            <a:off x="762000" y="3810000"/>
            <a:ext cx="2032000" cy="508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58991B6-7517-2541-8A71-4970877245AA}"/>
              </a:ext>
            </a:extLst>
          </p:cNvPr>
          <p:cNvSpPr txBox="1"/>
          <p:nvPr/>
        </p:nvSpPr>
        <p:spPr>
          <a:xfrm>
            <a:off x="863600" y="4024411"/>
            <a:ext cx="18288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l-GR" altLang="ko-KR" sz="1400" b="1" dirty="0">
                <a:solidFill>
                  <a:srgbClr val="0E2841"/>
                </a:solidFill>
                <a:latin typeface="Cambria Math"/>
                <a:ea typeface="Cambria Math"/>
              </a:rPr>
              <a:t>Σ </a:t>
            </a:r>
            <a:r>
              <a:rPr lang="en" altLang="ko-KR" sz="1400" b="1" dirty="0">
                <a:solidFill>
                  <a:srgbClr val="0E2841"/>
                </a:solidFill>
                <a:latin typeface="Cambria Math"/>
                <a:ea typeface="Cambria Math"/>
              </a:rPr>
              <a:t>wᵢ = 1</a:t>
            </a:r>
            <a:endParaRPr lang="ko-KR" altLang="en-US" sz="1400" b="1" dirty="0">
              <a:solidFill>
                <a:srgbClr val="0E2841"/>
              </a:solidFill>
              <a:latin typeface="Cambria Math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4C2ACD-8DBA-164B-B84E-149731F55D53}"/>
              </a:ext>
            </a:extLst>
          </p:cNvPr>
          <p:cNvSpPr txBox="1"/>
          <p:nvPr/>
        </p:nvSpPr>
        <p:spPr>
          <a:xfrm>
            <a:off x="863600" y="4445000"/>
            <a:ext cx="18288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1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Fully invested</a:t>
            </a:r>
            <a:endParaRPr lang="ko-KR" altLang="en-US" sz="1100" b="1">
              <a:solidFill>
                <a:srgbClr val="982A2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267DB9-71E6-0747-8FFD-DDBB01387F2D}"/>
              </a:ext>
            </a:extLst>
          </p:cNvPr>
          <p:cNvSpPr txBox="1"/>
          <p:nvPr/>
        </p:nvSpPr>
        <p:spPr>
          <a:xfrm>
            <a:off x="863600" y="4724400"/>
            <a:ext cx="18288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현금 비중 없음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0DFC506-223A-2843-84FF-E744EE19AA77}"/>
              </a:ext>
            </a:extLst>
          </p:cNvPr>
          <p:cNvSpPr/>
          <p:nvPr/>
        </p:nvSpPr>
        <p:spPr>
          <a:xfrm>
            <a:off x="2921000" y="3810000"/>
            <a:ext cx="2032000" cy="1397000"/>
          </a:xfrm>
          <a:prstGeom prst="rect">
            <a:avLst/>
          </a:prstGeom>
          <a:noFill/>
          <a:ln w="6350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F768D46-916C-944B-A170-7C9748BDC837}"/>
              </a:ext>
            </a:extLst>
          </p:cNvPr>
          <p:cNvSpPr/>
          <p:nvPr/>
        </p:nvSpPr>
        <p:spPr>
          <a:xfrm>
            <a:off x="2921000" y="3810000"/>
            <a:ext cx="2032000" cy="508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3672698-1638-064F-9629-E4901BF1160C}"/>
              </a:ext>
            </a:extLst>
          </p:cNvPr>
          <p:cNvSpPr txBox="1"/>
          <p:nvPr/>
        </p:nvSpPr>
        <p:spPr>
          <a:xfrm>
            <a:off x="3022600" y="4024411"/>
            <a:ext cx="18288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" altLang="ko-KR" sz="1400" b="1">
                <a:solidFill>
                  <a:srgbClr val="0E2841"/>
                </a:solidFill>
                <a:latin typeface="Cambria Math"/>
                <a:ea typeface="Cambria Math"/>
              </a:rPr>
              <a:t>0 ≤ wᵢ ≤ 50%</a:t>
            </a:r>
            <a:endParaRPr lang="ko-KR" altLang="en-US" sz="1400" b="1">
              <a:solidFill>
                <a:srgbClr val="0E2841"/>
              </a:solidFill>
              <a:latin typeface="Cambria Math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6D2468F-3297-6644-AA54-2FACA396CF91}"/>
              </a:ext>
            </a:extLst>
          </p:cNvPr>
          <p:cNvSpPr txBox="1"/>
          <p:nvPr/>
        </p:nvSpPr>
        <p:spPr>
          <a:xfrm>
            <a:off x="3022600" y="4445000"/>
            <a:ext cx="18288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1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Long-only · </a:t>
            </a:r>
            <a:r>
              <a:rPr lang="ko-KR" altLang="en-US" sz="11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캡 </a:t>
            </a:r>
            <a:r>
              <a:rPr lang="en-US" altLang="ko-KR" sz="11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50%</a:t>
            </a:r>
            <a:endParaRPr lang="ko-KR" altLang="en-US" sz="1100" b="1">
              <a:solidFill>
                <a:srgbClr val="982A2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CF6CDF2-7D00-F247-9CF9-E5FA9EB40A77}"/>
              </a:ext>
            </a:extLst>
          </p:cNvPr>
          <p:cNvSpPr txBox="1"/>
          <p:nvPr/>
        </p:nvSpPr>
        <p:spPr>
          <a:xfrm>
            <a:off x="3022600" y="4724400"/>
            <a:ext cx="18288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공매도 금지</a:t>
            </a:r>
            <a:r>
              <a:rPr lang="en-US" altLang="ko-KR" sz="10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, 1</a:t>
            </a:r>
            <a:r>
              <a:rPr lang="ko-KR" altLang="en-US" sz="10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종목 ≤ </a:t>
            </a:r>
            <a:r>
              <a:rPr lang="en-US" altLang="ko-KR" sz="10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50%</a:t>
            </a:r>
            <a:endParaRPr lang="ko-KR" altLang="en-US" sz="1000">
              <a:solidFill>
                <a:srgbClr val="5959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5B08B093-0346-C44A-9D51-EDB547C46326}"/>
              </a:ext>
            </a:extLst>
          </p:cNvPr>
          <p:cNvSpPr/>
          <p:nvPr/>
        </p:nvSpPr>
        <p:spPr>
          <a:xfrm>
            <a:off x="5080000" y="3810000"/>
            <a:ext cx="2032000" cy="1397000"/>
          </a:xfrm>
          <a:prstGeom prst="rect">
            <a:avLst/>
          </a:prstGeom>
          <a:noFill/>
          <a:ln w="6350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576F00F-A5C7-AD4C-92BC-4B334E9B383F}"/>
              </a:ext>
            </a:extLst>
          </p:cNvPr>
          <p:cNvSpPr/>
          <p:nvPr/>
        </p:nvSpPr>
        <p:spPr>
          <a:xfrm>
            <a:off x="5080000" y="3810000"/>
            <a:ext cx="2032000" cy="508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467744D-E0ED-0C4A-B98E-8067F85716C2}"/>
              </a:ext>
            </a:extLst>
          </p:cNvPr>
          <p:cNvSpPr txBox="1"/>
          <p:nvPr/>
        </p:nvSpPr>
        <p:spPr>
          <a:xfrm>
            <a:off x="5181600" y="4024411"/>
            <a:ext cx="18288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" altLang="ko-KR" sz="1400" b="1">
                <a:solidFill>
                  <a:srgbClr val="0E2841"/>
                </a:solidFill>
                <a:latin typeface="Cambria Math"/>
                <a:ea typeface="Cambria Math"/>
              </a:rPr>
              <a:t>wᵢ ≥ 1%</a:t>
            </a:r>
            <a:endParaRPr lang="ko-KR" altLang="en-US" sz="1400" b="1">
              <a:solidFill>
                <a:srgbClr val="0E2841"/>
              </a:solidFill>
              <a:latin typeface="Cambria Math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F66AB6-84B2-A744-9465-31784F4FDF01}"/>
              </a:ext>
            </a:extLst>
          </p:cNvPr>
          <p:cNvSpPr txBox="1"/>
          <p:nvPr/>
        </p:nvSpPr>
        <p:spPr>
          <a:xfrm>
            <a:off x="5181600" y="4445000"/>
            <a:ext cx="18288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1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Min 1% floor</a:t>
            </a:r>
            <a:endParaRPr lang="ko-KR" altLang="en-US" sz="1100" b="1">
              <a:solidFill>
                <a:srgbClr val="982A2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9956A63-48B3-1D43-8343-DA26815D2822}"/>
              </a:ext>
            </a:extLst>
          </p:cNvPr>
          <p:cNvSpPr txBox="1"/>
          <p:nvPr/>
        </p:nvSpPr>
        <p:spPr>
          <a:xfrm>
            <a:off x="5181600" y="4724400"/>
            <a:ext cx="18288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0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PDF </a:t>
            </a:r>
            <a:r>
              <a:rPr lang="ko-KR" altLang="en-US" sz="10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편입종목 최소 보유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CD5D069-5634-8D49-AC3A-992492BF14D6}"/>
              </a:ext>
            </a:extLst>
          </p:cNvPr>
          <p:cNvSpPr/>
          <p:nvPr/>
        </p:nvSpPr>
        <p:spPr>
          <a:xfrm>
            <a:off x="7239000" y="3810000"/>
            <a:ext cx="2032000" cy="1397000"/>
          </a:xfrm>
          <a:prstGeom prst="rect">
            <a:avLst/>
          </a:prstGeom>
          <a:noFill/>
          <a:ln w="6350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CB14A7A-005D-F041-9A07-C596B11C364E}"/>
              </a:ext>
            </a:extLst>
          </p:cNvPr>
          <p:cNvSpPr/>
          <p:nvPr/>
        </p:nvSpPr>
        <p:spPr>
          <a:xfrm>
            <a:off x="7239000" y="3810000"/>
            <a:ext cx="2032000" cy="508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4ECABBB-EE2F-B041-9208-DAFC8DF4F742}"/>
              </a:ext>
            </a:extLst>
          </p:cNvPr>
          <p:cNvSpPr txBox="1"/>
          <p:nvPr/>
        </p:nvSpPr>
        <p:spPr>
          <a:xfrm>
            <a:off x="7340600" y="4024411"/>
            <a:ext cx="18288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" altLang="ko-KR" sz="1400" b="1">
                <a:solidFill>
                  <a:srgbClr val="0E2841"/>
                </a:solidFill>
                <a:latin typeface="Cambria Math"/>
                <a:ea typeface="Cambria Math"/>
              </a:rPr>
              <a:t>TE ≤ 20%</a:t>
            </a:r>
            <a:endParaRPr lang="ko-KR" altLang="en-US" sz="1400" b="1">
              <a:solidFill>
                <a:srgbClr val="0E2841"/>
              </a:solidFill>
              <a:latin typeface="Cambria Math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12EBEAA-07E4-D141-AD75-2FCF92CB5D0F}"/>
              </a:ext>
            </a:extLst>
          </p:cNvPr>
          <p:cNvSpPr txBox="1"/>
          <p:nvPr/>
        </p:nvSpPr>
        <p:spPr>
          <a:xfrm>
            <a:off x="7340600" y="4445000"/>
            <a:ext cx="18288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1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Active risk </a:t>
            </a:r>
            <a:r>
              <a:rPr lang="ko-KR" altLang="en-US" sz="11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예산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9FF74F9-6913-134F-AF6B-B4B2925F905D}"/>
              </a:ext>
            </a:extLst>
          </p:cNvPr>
          <p:cNvSpPr txBox="1"/>
          <p:nvPr/>
        </p:nvSpPr>
        <p:spPr>
          <a:xfrm>
            <a:off x="7340600" y="4724400"/>
            <a:ext cx="18288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0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PDF </a:t>
            </a:r>
            <a:r>
              <a:rPr lang="ko-KR" altLang="en-US" sz="10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대비 연환산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87B49CC-A7F0-AA4B-8FC7-C2F6AC690632}"/>
              </a:ext>
            </a:extLst>
          </p:cNvPr>
          <p:cNvSpPr/>
          <p:nvPr/>
        </p:nvSpPr>
        <p:spPr>
          <a:xfrm>
            <a:off x="9398000" y="3810000"/>
            <a:ext cx="2032000" cy="1397000"/>
          </a:xfrm>
          <a:prstGeom prst="rect">
            <a:avLst/>
          </a:prstGeom>
          <a:noFill/>
          <a:ln w="6350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5AFFEFB-F5DB-8844-8849-ACFCE3FC0BB9}"/>
              </a:ext>
            </a:extLst>
          </p:cNvPr>
          <p:cNvSpPr/>
          <p:nvPr/>
        </p:nvSpPr>
        <p:spPr>
          <a:xfrm>
            <a:off x="9398000" y="3810000"/>
            <a:ext cx="2032000" cy="508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208472D-3FDE-EB4D-AD9C-30937ABE4EA9}"/>
              </a:ext>
            </a:extLst>
          </p:cNvPr>
          <p:cNvSpPr txBox="1"/>
          <p:nvPr/>
        </p:nvSpPr>
        <p:spPr>
          <a:xfrm>
            <a:off x="9499600" y="4024411"/>
            <a:ext cx="18288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" altLang="ko-KR" sz="1400" b="1">
                <a:solidFill>
                  <a:srgbClr val="0E2841"/>
                </a:solidFill>
                <a:latin typeface="Cambria Math"/>
                <a:ea typeface="Cambria Math"/>
              </a:rPr>
              <a:t>Turnover ≤ 30%</a:t>
            </a:r>
            <a:endParaRPr lang="ko-KR" altLang="en-US" sz="1400" b="1">
              <a:solidFill>
                <a:srgbClr val="0E2841"/>
              </a:solidFill>
              <a:latin typeface="Cambria Math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0A3312B-85CF-1D49-A035-2F3D4901EC6B}"/>
              </a:ext>
            </a:extLst>
          </p:cNvPr>
          <p:cNvSpPr txBox="1"/>
          <p:nvPr/>
        </p:nvSpPr>
        <p:spPr>
          <a:xfrm>
            <a:off x="9499600" y="4445000"/>
            <a:ext cx="18288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1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One-way </a:t>
            </a:r>
            <a:r>
              <a:rPr lang="ko-KR" altLang="en-US" sz="11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매매 한도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C625C46-D432-BC4C-A894-6458B7675903}"/>
              </a:ext>
            </a:extLst>
          </p:cNvPr>
          <p:cNvSpPr txBox="1"/>
          <p:nvPr/>
        </p:nvSpPr>
        <p:spPr>
          <a:xfrm>
            <a:off x="9499600" y="4724400"/>
            <a:ext cx="18288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0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Raw target </a:t>
            </a:r>
            <a:r>
              <a:rPr lang="ko-KR" altLang="en-US" sz="10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초과 시 축소</a:t>
            </a:r>
          </a:p>
        </p:txBody>
      </p:sp>
    </p:spTree>
    <p:extLst>
      <p:ext uri="{BB962C8B-B14F-4D97-AF65-F5344CB8AC3E}">
        <p14:creationId xmlns:p14="http://schemas.microsoft.com/office/powerpoint/2010/main" val="3660163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AA6B40E-7F30-ED4C-BD15-43816364F3A2}"/>
              </a:ext>
            </a:extLst>
          </p:cNvPr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D30028-05F5-584C-8882-73AA698B4316}"/>
              </a:ext>
            </a:extLst>
          </p:cNvPr>
          <p:cNvSpPr txBox="1"/>
          <p:nvPr/>
        </p:nvSpPr>
        <p:spPr>
          <a:xfrm>
            <a:off x="762000" y="457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09</a:t>
            </a:r>
            <a:endParaRPr lang="ko-KR" altLang="en-US" sz="1200" b="1" dirty="0">
              <a:solidFill>
                <a:srgbClr val="982A2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C1C123-153E-7445-9873-7122B2CD5423}"/>
              </a:ext>
            </a:extLst>
          </p:cNvPr>
          <p:cNvSpPr txBox="1"/>
          <p:nvPr/>
        </p:nvSpPr>
        <p:spPr>
          <a:xfrm>
            <a:off x="762000" y="762000"/>
            <a:ext cx="10668000" cy="52322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8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최적화</a:t>
            </a:r>
            <a:r>
              <a:rPr lang="en" altLang="ko-KR" sz="28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28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적용 전</a:t>
            </a:r>
            <a:r>
              <a:rPr lang="en-US" altLang="ko-KR" sz="28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28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후 비교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60FC653-680A-5A48-9F5B-723C3427BAC7}"/>
              </a:ext>
            </a:extLst>
          </p:cNvPr>
          <p:cNvSpPr/>
          <p:nvPr/>
        </p:nvSpPr>
        <p:spPr>
          <a:xfrm>
            <a:off x="762000" y="1473200"/>
            <a:ext cx="762000" cy="381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51E9FDB-B1EE-FE4E-8B75-0513D58730A2}"/>
              </a:ext>
            </a:extLst>
          </p:cNvPr>
          <p:cNvSpPr/>
          <p:nvPr/>
        </p:nvSpPr>
        <p:spPr>
          <a:xfrm>
            <a:off x="762000" y="4064000"/>
            <a:ext cx="3467100" cy="1651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FBB13AD-B105-2A45-A21B-5344B879A8C3}"/>
              </a:ext>
            </a:extLst>
          </p:cNvPr>
          <p:cNvSpPr/>
          <p:nvPr/>
        </p:nvSpPr>
        <p:spPr>
          <a:xfrm>
            <a:off x="762000" y="4064000"/>
            <a:ext cx="3467100" cy="508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6C8BAB-6963-7F47-AD8B-FED9F524DF78}"/>
              </a:ext>
            </a:extLst>
          </p:cNvPr>
          <p:cNvSpPr txBox="1"/>
          <p:nvPr/>
        </p:nvSpPr>
        <p:spPr>
          <a:xfrm>
            <a:off x="909819" y="4581577"/>
            <a:ext cx="3111500" cy="83099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단순 </a:t>
            </a:r>
            <a:r>
              <a:rPr lang="ko-KR" altLang="en-US" sz="1600" dirty="0" err="1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틸트도</a:t>
            </a:r>
            <a:r>
              <a:rPr lang="ko-KR" altLang="en-US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+66.63%</a:t>
            </a:r>
            <a:r>
              <a:rPr lang="en" altLang="ko-KR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p </a:t>
            </a:r>
            <a:r>
              <a:rPr lang="ko-KR" altLang="en-US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초과</a:t>
            </a:r>
            <a:endParaRPr lang="en-US" altLang="ko-KR" sz="1600" dirty="0">
              <a:solidFill>
                <a:srgbClr val="0E2841"/>
              </a:solidFill>
              <a:latin typeface="Pretendard"/>
              <a:ea typeface="Pretendard"/>
              <a:cs typeface="Pretendard"/>
            </a:endParaRPr>
          </a:p>
          <a:p>
            <a:pPr algn="l"/>
            <a:r>
              <a:rPr lang="en-US" altLang="ko-KR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— </a:t>
            </a:r>
            <a:r>
              <a:rPr lang="en" altLang="ko-KR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Consensus </a:t>
            </a:r>
            <a:r>
              <a:rPr lang="ko-KR" altLang="en-US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신호 자체에 정보가 있다는 증거</a:t>
            </a:r>
            <a:r>
              <a:rPr lang="en-US" altLang="ko-KR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.</a:t>
            </a:r>
            <a:endParaRPr lang="ko-KR" altLang="en-US" sz="1600" dirty="0">
              <a:solidFill>
                <a:srgbClr val="0E284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FA697BA-3664-7D4D-8241-786748D20293}"/>
              </a:ext>
            </a:extLst>
          </p:cNvPr>
          <p:cNvSpPr/>
          <p:nvPr/>
        </p:nvSpPr>
        <p:spPr>
          <a:xfrm>
            <a:off x="4368800" y="4064000"/>
            <a:ext cx="3467100" cy="1651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5A126A0-2F55-424C-B450-E01DD3714782}"/>
              </a:ext>
            </a:extLst>
          </p:cNvPr>
          <p:cNvSpPr/>
          <p:nvPr/>
        </p:nvSpPr>
        <p:spPr>
          <a:xfrm>
            <a:off x="4368800" y="4064000"/>
            <a:ext cx="3467100" cy="508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611CEA-27AC-8747-9507-26650C646FEC}"/>
              </a:ext>
            </a:extLst>
          </p:cNvPr>
          <p:cNvSpPr txBox="1"/>
          <p:nvPr/>
        </p:nvSpPr>
        <p:spPr>
          <a:xfrm>
            <a:off x="4540250" y="4536606"/>
            <a:ext cx="3111500" cy="83099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+66.63%p → +168.18%p. </a:t>
            </a:r>
            <a:r>
              <a:rPr lang="ko-KR" altLang="en-US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동일 신호를 공분산</a:t>
            </a:r>
            <a:r>
              <a:rPr lang="en-US" altLang="ko-KR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en" altLang="ko-KR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TE </a:t>
            </a:r>
            <a:r>
              <a:rPr lang="ko-KR" altLang="en-US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예산 안에서 풀면 </a:t>
            </a:r>
            <a:r>
              <a:rPr lang="en" altLang="ko-KR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active risk </a:t>
            </a:r>
            <a:r>
              <a:rPr lang="ko-KR" altLang="en-US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효율이 크게 개선</a:t>
            </a:r>
            <a:r>
              <a:rPr lang="en-US" altLang="ko-KR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.</a:t>
            </a:r>
            <a:endParaRPr lang="ko-KR" altLang="en-US" sz="1600" dirty="0">
              <a:solidFill>
                <a:srgbClr val="0E284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48E8C92-FB9D-5047-8146-A4373A0A12DF}"/>
              </a:ext>
            </a:extLst>
          </p:cNvPr>
          <p:cNvSpPr/>
          <p:nvPr/>
        </p:nvSpPr>
        <p:spPr>
          <a:xfrm>
            <a:off x="7975600" y="4064000"/>
            <a:ext cx="3467100" cy="1651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CC48365-CB65-2943-AF62-B53DAB94F6C2}"/>
              </a:ext>
            </a:extLst>
          </p:cNvPr>
          <p:cNvSpPr/>
          <p:nvPr/>
        </p:nvSpPr>
        <p:spPr>
          <a:xfrm>
            <a:off x="7975600" y="4064000"/>
            <a:ext cx="3467100" cy="508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8E25C4-D5CE-B34B-8342-49CA1F653F84}"/>
              </a:ext>
            </a:extLst>
          </p:cNvPr>
          <p:cNvSpPr txBox="1"/>
          <p:nvPr/>
        </p:nvSpPr>
        <p:spPr>
          <a:xfrm>
            <a:off x="8153400" y="4241800"/>
            <a:ext cx="31115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r>
              <a:rPr lang="en" altLang="ko-KR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IR = </a:t>
            </a:r>
            <a:r>
              <a:rPr lang="ko-KR" altLang="en-US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평균 초과수익률 </a:t>
            </a:r>
            <a:r>
              <a:rPr lang="en-US" altLang="ko-KR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/ </a:t>
            </a:r>
            <a:r>
              <a:rPr lang="en" altLang="ko-KR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Tracking Error</a:t>
            </a:r>
            <a:endParaRPr lang="ko-KR" altLang="en-US" sz="1400" b="1" dirty="0">
              <a:solidFill>
                <a:srgbClr val="982A2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E22698-AC98-DB41-A552-F8C3D0B3798A}"/>
              </a:ext>
            </a:extLst>
          </p:cNvPr>
          <p:cNvSpPr txBox="1"/>
          <p:nvPr/>
        </p:nvSpPr>
        <p:spPr>
          <a:xfrm>
            <a:off x="8138410" y="4626548"/>
            <a:ext cx="3111500" cy="83099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TE 8.44% → 17.90%</a:t>
            </a:r>
            <a:r>
              <a:rPr lang="ko-KR" altLang="en-US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로 늘었지만 </a:t>
            </a:r>
            <a:r>
              <a:rPr lang="en" altLang="ko-KR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IR</a:t>
            </a:r>
            <a:r>
              <a:rPr lang="ko-KR" altLang="en-US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은 </a:t>
            </a:r>
            <a:r>
              <a:rPr lang="en-US" altLang="ko-KR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0.766 → 0.843. </a:t>
            </a:r>
            <a:r>
              <a:rPr lang="ko-KR" altLang="en-US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사용한 위험 단위당 초과성과가 더 높다</a:t>
            </a:r>
            <a:r>
              <a:rPr lang="en-US" altLang="ko-KR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.</a:t>
            </a:r>
            <a:endParaRPr lang="ko-KR" altLang="en-US" sz="1600" dirty="0">
              <a:solidFill>
                <a:srgbClr val="0E284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BB8850-3D14-6CFE-5ED1-E8F98C320F85}"/>
              </a:ext>
            </a:extLst>
          </p:cNvPr>
          <p:cNvSpPr txBox="1"/>
          <p:nvPr/>
        </p:nvSpPr>
        <p:spPr>
          <a:xfrm>
            <a:off x="704537" y="1618938"/>
            <a:ext cx="71593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/>
              <a:t>벤치마크 누적수익률 </a:t>
            </a:r>
            <a:r>
              <a:rPr kumimoji="1" lang="en-US" altLang="ko-KR" sz="1200" dirty="0"/>
              <a:t>495.88%</a:t>
            </a:r>
            <a:r>
              <a:rPr kumimoji="1" lang="ko-KR" altLang="en-US" sz="1200" dirty="0"/>
              <a:t> 연환산수익률 </a:t>
            </a:r>
            <a:r>
              <a:rPr kumimoji="1" lang="en-US" altLang="ko-KR" sz="1200" dirty="0"/>
              <a:t>177.30%</a:t>
            </a:r>
            <a:r>
              <a:rPr kumimoji="1" lang="ko-KR" altLang="en-US" sz="1200" dirty="0"/>
              <a:t> 연환산변동성 </a:t>
            </a:r>
            <a:r>
              <a:rPr kumimoji="1" lang="en-US" altLang="ko-KR" sz="1200" dirty="0"/>
              <a:t>54.10%</a:t>
            </a:r>
            <a:r>
              <a:rPr kumimoji="1" lang="ko-KR" altLang="en-US" sz="1200" dirty="0"/>
              <a:t> 샤프 </a:t>
            </a:r>
            <a:r>
              <a:rPr kumimoji="1" lang="en-US" altLang="ko-KR" sz="1200" dirty="0"/>
              <a:t>3.28</a:t>
            </a:r>
            <a:r>
              <a:rPr kumimoji="1" lang="ko-KR" altLang="en-US" sz="1200" dirty="0"/>
              <a:t> </a:t>
            </a:r>
            <a:r>
              <a:rPr kumimoji="1" lang="en-US" altLang="ko-KR" sz="1200" dirty="0"/>
              <a:t>MDD -36.67%</a:t>
            </a:r>
            <a:endParaRPr kumimoji="1" lang="ko-KR" altLang="en-US" sz="1200" dirty="0"/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06E15F89-DC9D-4D4F-B90C-B86B8E8DBA54}"/>
              </a:ext>
            </a:extLst>
          </p:cNvPr>
          <p:cNvGraphicFramePr>
            <a:graphicFrameLocks noGrp="1"/>
          </p:cNvGraphicFramePr>
          <p:nvPr/>
        </p:nvGraphicFramePr>
        <p:xfrm>
          <a:off x="761999" y="2184400"/>
          <a:ext cx="10681856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1">
                  <a:extLst>
                    <a:ext uri="{9D8B030D-6E8A-4147-A177-3AD203B41FA5}">
                      <a16:colId xmlns:a16="http://schemas.microsoft.com/office/drawing/2014/main" val="1729648762"/>
                    </a:ext>
                  </a:extLst>
                </a:gridCol>
                <a:gridCol w="1025236">
                  <a:extLst>
                    <a:ext uri="{9D8B030D-6E8A-4147-A177-3AD203B41FA5}">
                      <a16:colId xmlns:a16="http://schemas.microsoft.com/office/drawing/2014/main" val="144884283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568003820"/>
                    </a:ext>
                  </a:extLst>
                </a:gridCol>
                <a:gridCol w="1052946">
                  <a:extLst>
                    <a:ext uri="{9D8B030D-6E8A-4147-A177-3AD203B41FA5}">
                      <a16:colId xmlns:a16="http://schemas.microsoft.com/office/drawing/2014/main" val="3492422733"/>
                    </a:ext>
                  </a:extLst>
                </a:gridCol>
                <a:gridCol w="775854">
                  <a:extLst>
                    <a:ext uri="{9D8B030D-6E8A-4147-A177-3AD203B41FA5}">
                      <a16:colId xmlns:a16="http://schemas.microsoft.com/office/drawing/2014/main" val="1502928578"/>
                    </a:ext>
                  </a:extLst>
                </a:gridCol>
                <a:gridCol w="900546">
                  <a:extLst>
                    <a:ext uri="{9D8B030D-6E8A-4147-A177-3AD203B41FA5}">
                      <a16:colId xmlns:a16="http://schemas.microsoft.com/office/drawing/2014/main" val="641997368"/>
                    </a:ext>
                  </a:extLst>
                </a:gridCol>
                <a:gridCol w="1146705">
                  <a:extLst>
                    <a:ext uri="{9D8B030D-6E8A-4147-A177-3AD203B41FA5}">
                      <a16:colId xmlns:a16="http://schemas.microsoft.com/office/drawing/2014/main" val="555421281"/>
                    </a:ext>
                  </a:extLst>
                </a:gridCol>
                <a:gridCol w="910856">
                  <a:extLst>
                    <a:ext uri="{9D8B030D-6E8A-4147-A177-3AD203B41FA5}">
                      <a16:colId xmlns:a16="http://schemas.microsoft.com/office/drawing/2014/main" val="3259812037"/>
                    </a:ext>
                  </a:extLst>
                </a:gridCol>
                <a:gridCol w="910856">
                  <a:extLst>
                    <a:ext uri="{9D8B030D-6E8A-4147-A177-3AD203B41FA5}">
                      <a16:colId xmlns:a16="http://schemas.microsoft.com/office/drawing/2014/main" val="618963394"/>
                    </a:ext>
                  </a:extLst>
                </a:gridCol>
                <a:gridCol w="910856">
                  <a:extLst>
                    <a:ext uri="{9D8B030D-6E8A-4147-A177-3AD203B41FA5}">
                      <a16:colId xmlns:a16="http://schemas.microsoft.com/office/drawing/2014/main" val="1173585806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구분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누적수익률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연환산수익률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연환산변동성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Sharpe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MDD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PDF 대비 초과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TE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IR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PDF 상관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615148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최적화 적용 전 (단순 점수 </a:t>
                      </a:r>
                      <a:r>
                        <a:rPr lang="ko-KR" altLang="en-US" sz="1200" dirty="0" err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틸트</a:t>
                      </a:r>
                      <a:r>
                        <a:rPr lang="ko-KR" altLang="en-US" sz="1200" dirty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)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562.51%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194.61%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54.88%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3.55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−33.52%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+66.63%p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8.44%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0.766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0.988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6429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1" dirty="0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최적화 적용 후 (최종 전략)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664.06%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219.63%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55.78%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3.94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−32.92%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+168.18%p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17.90%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0.843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0.947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06635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EFE272B-C193-5E1C-3C95-2D7A9AC3AF9B}"/>
                  </a:ext>
                </a:extLst>
              </p:cNvPr>
              <p:cNvSpPr txBox="1"/>
              <p:nvPr/>
            </p:nvSpPr>
            <p:spPr>
              <a:xfrm>
                <a:off x="711199" y="4216400"/>
                <a:ext cx="3619261" cy="3398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" altLang="ko-KR" sz="1400" i="1" dirty="0" smtClean="0">
                          <a:latin typeface="Cambria Math" panose="02040503050406030204" pitchFamily="18" charset="0"/>
                        </a:rPr>
                        <m:t>𝑤𝑒𝑖𝑔h</m:t>
                      </m:r>
                      <m:sSub>
                        <m:sSubPr>
                          <m:ctrlPr>
                            <a:rPr lang="en" altLang="ko-KR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" altLang="ko-KR" sz="140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" altLang="ko-KR" sz="1400" i="1" dirty="0" err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" altLang="ko-KR" sz="14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" altLang="ko-KR" sz="1400" i="1" dirty="0" err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" altLang="ko-KR" sz="140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" altLang="ko-KR" sz="140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" altLang="ko-KR" sz="140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" altLang="ko-KR" sz="1400" i="1" dirty="0" err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" altLang="ko-KR" sz="1400" i="1" dirty="0" err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" altLang="ko-KR" sz="1400" i="1" dirty="0" err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" altLang="ko-KR" sz="1400" i="1" dirty="0" smtClean="0">
                              <a:latin typeface="Cambria Math" panose="02040503050406030204" pitchFamily="18" charset="0"/>
                            </a:rPr>
                            <m:t>𝑃𝐷𝐹</m:t>
                          </m:r>
                        </m:sup>
                      </m:sSubSup>
                      <m:r>
                        <a:rPr lang="en" altLang="ko-KR" sz="1400" i="1" dirty="0" smtClean="0">
                          <a:latin typeface="Cambria Math" panose="02040503050406030204" pitchFamily="18" charset="0"/>
                        </a:rPr>
                        <m:t>×</m:t>
                      </m:r>
                      <m:func>
                        <m:funcPr>
                          <m:ctrlPr>
                            <a:rPr lang="en" altLang="ko-KR" sz="14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" altLang="ko-KR" sz="1400" i="0" dirty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" altLang="ko-KR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" altLang="ko-KR" sz="1400" i="1" dirty="0" err="1" smtClean="0">
                                  <a:latin typeface="Cambria Math" panose="02040503050406030204" pitchFamily="18" charset="0"/>
                                </a:rPr>
                                <m:t>𝐶𝑜𝑛𝑠𝑒𝑛𝑠𝑢𝑠𝑆𝑐𝑜𝑟</m:t>
                              </m:r>
                              <m:sSub>
                                <m:sSubPr>
                                  <m:ctrlPr>
                                    <a:rPr lang="en" altLang="ko-KR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" altLang="ko-KR" sz="1400" i="1" dirty="0" err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" altLang="ko-KR" sz="1400" i="1" dirty="0" err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" altLang="ko-KR" sz="1400" i="1" dirty="0" err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" altLang="ko-KR" sz="1400" i="1" dirty="0" err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EFE272B-C193-5E1C-3C95-2D7A9AC3A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199" y="4216400"/>
                <a:ext cx="3619261" cy="339837"/>
              </a:xfrm>
              <a:prstGeom prst="rect">
                <a:avLst/>
              </a:prstGeom>
              <a:blipFill>
                <a:blip r:embed="rId3"/>
                <a:stretch>
                  <a:fillRect r="-702" b="-1851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325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A991A42-FA44-2943-832D-6B957B1F6BA1}"/>
              </a:ext>
            </a:extLst>
          </p:cNvPr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E6E579-E5CF-2F4B-BE75-BDE53983F0A5}"/>
              </a:ext>
            </a:extLst>
          </p:cNvPr>
          <p:cNvSpPr txBox="1"/>
          <p:nvPr/>
        </p:nvSpPr>
        <p:spPr>
          <a:xfrm>
            <a:off x="762000" y="457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 dirty="0">
                <a:solidFill>
                  <a:srgbClr val="982A2F"/>
                </a:solidFill>
                <a:latin typeface="Pretendard"/>
                <a:ea typeface="Pretendard"/>
              </a:rPr>
              <a:t>10</a:t>
            </a:r>
            <a:endParaRPr lang="ko-KR" altLang="en-US" sz="1200" b="1" dirty="0">
              <a:solidFill>
                <a:srgbClr val="982A2F"/>
              </a:solidFill>
              <a:latin typeface="Pretendard"/>
              <a:ea typeface="Pretendar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6C8983-DDA7-E341-8471-AFB71614309A}"/>
              </a:ext>
            </a:extLst>
          </p:cNvPr>
          <p:cNvSpPr txBox="1"/>
          <p:nvPr/>
        </p:nvSpPr>
        <p:spPr>
          <a:xfrm>
            <a:off x="762000" y="762000"/>
            <a:ext cx="10668000" cy="58477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3200" b="1" dirty="0">
                <a:solidFill>
                  <a:srgbClr val="0E2841"/>
                </a:solidFill>
                <a:latin typeface="Pretendard"/>
                <a:ea typeface="Pretendard"/>
              </a:rPr>
              <a:t>Capacity</a:t>
            </a:r>
            <a:endParaRPr lang="ko-KR" altLang="en-US" sz="3200" b="1" dirty="0">
              <a:solidFill>
                <a:srgbClr val="0E2841"/>
              </a:solidFill>
              <a:latin typeface="Pretendard"/>
              <a:ea typeface="Pretendard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679919E-91B5-1840-995A-6179AC714F27}"/>
              </a:ext>
            </a:extLst>
          </p:cNvPr>
          <p:cNvSpPr/>
          <p:nvPr/>
        </p:nvSpPr>
        <p:spPr>
          <a:xfrm>
            <a:off x="762000" y="1473200"/>
            <a:ext cx="762000" cy="381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E7697C-6856-8F4B-8767-27CB6BED22A4}"/>
              </a:ext>
            </a:extLst>
          </p:cNvPr>
          <p:cNvSpPr txBox="1"/>
          <p:nvPr/>
        </p:nvSpPr>
        <p:spPr>
          <a:xfrm>
            <a:off x="762000" y="1778000"/>
            <a:ext cx="5588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982A2F"/>
                </a:solidFill>
                <a:latin typeface="Pretendard"/>
                <a:ea typeface="Pretendard"/>
              </a:rPr>
              <a:t>실행 가능성</a:t>
            </a:r>
            <a:r>
              <a:rPr lang="en-US" altLang="ko-KR" sz="1600" b="1">
                <a:solidFill>
                  <a:srgbClr val="982A2F"/>
                </a:solidFill>
                <a:latin typeface="Pretendard"/>
                <a:ea typeface="Pretendard"/>
              </a:rPr>
              <a:t>: 20</a:t>
            </a:r>
            <a:r>
              <a:rPr lang="en" altLang="ko-KR" sz="1600" b="1">
                <a:solidFill>
                  <a:srgbClr val="982A2F"/>
                </a:solidFill>
                <a:latin typeface="Pretendard"/>
                <a:ea typeface="Pretendard"/>
              </a:rPr>
              <a:t>D ADV </a:t>
            </a:r>
            <a:r>
              <a:rPr lang="ko-KR" altLang="en-US" sz="1600" b="1">
                <a:solidFill>
                  <a:srgbClr val="982A2F"/>
                </a:solidFill>
                <a:latin typeface="Pretendard"/>
                <a:ea typeface="Pretendard"/>
              </a:rPr>
              <a:t>기반 </a:t>
            </a:r>
            <a:r>
              <a:rPr lang="en" altLang="ko-KR" sz="1600" b="1">
                <a:solidFill>
                  <a:srgbClr val="982A2F"/>
                </a:solidFill>
                <a:latin typeface="Pretendard"/>
                <a:ea typeface="Pretendard"/>
              </a:rPr>
              <a:t>capacity</a:t>
            </a:r>
            <a:endParaRPr lang="ko-KR" altLang="en-US" sz="1600" b="1">
              <a:solidFill>
                <a:srgbClr val="982A2F"/>
              </a:solidFill>
              <a:latin typeface="Pretendard"/>
              <a:ea typeface="Pretendard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DAA9815-3496-0405-ABC8-981CB3A363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356350"/>
            <a:ext cx="1515291" cy="493985"/>
          </a:xfrm>
          <a:prstGeom prst="rect">
            <a:avLst/>
          </a:prstGeom>
        </p:spPr>
      </p:pic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8A5CD06F-B5F9-DD4C-88CA-47EF29ADB0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267199"/>
              </p:ext>
            </p:extLst>
          </p:nvPr>
        </p:nvGraphicFramePr>
        <p:xfrm>
          <a:off x="762000" y="2209800"/>
          <a:ext cx="5140036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854667000"/>
                    </a:ext>
                  </a:extLst>
                </a:gridCol>
                <a:gridCol w="856649">
                  <a:extLst>
                    <a:ext uri="{9D8B030D-6E8A-4147-A177-3AD203B41FA5}">
                      <a16:colId xmlns:a16="http://schemas.microsoft.com/office/drawing/2014/main" val="4281070879"/>
                    </a:ext>
                  </a:extLst>
                </a:gridCol>
                <a:gridCol w="1198442">
                  <a:extLst>
                    <a:ext uri="{9D8B030D-6E8A-4147-A177-3AD203B41FA5}">
                      <a16:colId xmlns:a16="http://schemas.microsoft.com/office/drawing/2014/main" val="1127422465"/>
                    </a:ext>
                  </a:extLst>
                </a:gridCol>
                <a:gridCol w="1149927">
                  <a:extLst>
                    <a:ext uri="{9D8B030D-6E8A-4147-A177-3AD203B41FA5}">
                      <a16:colId xmlns:a16="http://schemas.microsoft.com/office/drawing/2014/main" val="2461450408"/>
                    </a:ext>
                  </a:extLst>
                </a:gridCol>
                <a:gridCol w="1122218">
                  <a:extLst>
                    <a:ext uri="{9D8B030D-6E8A-4147-A177-3AD203B41FA5}">
                      <a16:colId xmlns:a16="http://schemas.microsoft.com/office/drawing/2014/main" val="4030795521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체결 방식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ADV 참여율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하위 5%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하위 10%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중앙값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6320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1일 체결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12.33억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16.52억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64.85억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32472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3일 분할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5%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36.98억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49.55억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194.54억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06896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1일 체결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24.66억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33.03억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129.70억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99561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3일 분할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10%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73.97억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99.09억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389.09억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878111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80C2797F-BF03-8D49-9DB3-CAF69640F6BA}"/>
              </a:ext>
            </a:extLst>
          </p:cNvPr>
          <p:cNvSpPr txBox="1"/>
          <p:nvPr/>
        </p:nvSpPr>
        <p:spPr>
          <a:xfrm>
            <a:off x="762000" y="4493491"/>
            <a:ext cx="55880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3</a:t>
            </a:r>
            <a:r>
              <a:rPr lang="ko-KR" altLang="en-US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일 분할 </a:t>
            </a:r>
            <a:r>
              <a:rPr lang="en-US" altLang="ko-KR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× 10% </a:t>
            </a:r>
            <a:r>
              <a:rPr lang="en" altLang="ko-KR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ADV × </a:t>
            </a:r>
            <a:r>
              <a:rPr lang="ko-KR" altLang="en-US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시계열 하위 </a:t>
            </a:r>
            <a:r>
              <a:rPr lang="en-US" altLang="ko-KR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10% ≈ </a:t>
            </a:r>
            <a:r>
              <a:rPr lang="ko-KR" altLang="en-US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약 </a:t>
            </a:r>
            <a:r>
              <a:rPr lang="en-US" altLang="ko-KR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99</a:t>
            </a:r>
            <a:r>
              <a:rPr lang="ko-KR" altLang="en-US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억 원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E832304-E36D-7647-A04F-0B2C61157E82}"/>
              </a:ext>
            </a:extLst>
          </p:cNvPr>
          <p:cNvSpPr txBox="1"/>
          <p:nvPr/>
        </p:nvSpPr>
        <p:spPr>
          <a:xfrm>
            <a:off x="762000" y="4823691"/>
            <a:ext cx="4932218" cy="43088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1</a:t>
            </a:r>
            <a:r>
              <a:rPr lang="ko-KR" altLang="en-US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일 체결</a:t>
            </a:r>
            <a:r>
              <a:rPr lang="en-US" altLang="ko-KR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·5% </a:t>
            </a:r>
            <a:r>
              <a:rPr lang="en" altLang="ko-KR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ADV stress </a:t>
            </a:r>
            <a:r>
              <a:rPr lang="ko-KR" altLang="en-US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기준은 약 </a:t>
            </a:r>
            <a:r>
              <a:rPr lang="en-US" altLang="ko-KR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12</a:t>
            </a:r>
            <a:r>
              <a:rPr lang="ko-KR" altLang="en-US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억 원</a:t>
            </a:r>
            <a:r>
              <a:rPr lang="en-US" altLang="ko-KR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. </a:t>
            </a:r>
            <a:r>
              <a:rPr lang="ko-KR" altLang="en-US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병목은 </a:t>
            </a:r>
            <a:r>
              <a:rPr lang="en" altLang="ko-KR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LS</a:t>
            </a:r>
            <a:r>
              <a:rPr lang="ko-KR" altLang="en-US" sz="1100" dirty="0" err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마린솔루션</a:t>
            </a:r>
            <a:r>
              <a:rPr lang="en-US" altLang="ko-KR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en" altLang="ko-KR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LS</a:t>
            </a:r>
            <a:r>
              <a:rPr lang="ko-KR" altLang="en-US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에코에너지 등 거래대금 작은 종목</a:t>
            </a:r>
            <a:r>
              <a:rPr lang="en-US" altLang="ko-KR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.</a:t>
            </a:r>
            <a:endParaRPr lang="ko-KR" altLang="en-US" sz="1100" dirty="0">
              <a:solidFill>
                <a:srgbClr val="5959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A418C1A-A2C5-B049-8438-50CD70F07B67}"/>
              </a:ext>
            </a:extLst>
          </p:cNvPr>
          <p:cNvSpPr/>
          <p:nvPr/>
        </p:nvSpPr>
        <p:spPr>
          <a:xfrm>
            <a:off x="6477000" y="1778000"/>
            <a:ext cx="5080000" cy="3874655"/>
          </a:xfrm>
          <a:prstGeom prst="rect">
            <a:avLst/>
          </a:prstGeom>
          <a:noFill/>
          <a:ln w="34925" cap="flat" cmpd="sng" algn="ctr">
            <a:solidFill>
              <a:srgbClr val="982A2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FFD216A-E927-6B41-BD99-D5BAB379C0DC}"/>
              </a:ext>
            </a:extLst>
          </p:cNvPr>
          <p:cNvSpPr txBox="1"/>
          <p:nvPr/>
        </p:nvSpPr>
        <p:spPr>
          <a:xfrm>
            <a:off x="6680200" y="1905000"/>
            <a:ext cx="4724400" cy="369332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Capacity </a:t>
            </a:r>
            <a:r>
              <a:rPr lang="ko-KR" altLang="en-US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유도 과정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291E4C7-D5C6-6347-B356-14B4F53CCE65}"/>
              </a:ext>
            </a:extLst>
          </p:cNvPr>
          <p:cNvSpPr txBox="1"/>
          <p:nvPr/>
        </p:nvSpPr>
        <p:spPr>
          <a:xfrm>
            <a:off x="6985000" y="2286000"/>
            <a:ext cx="4470400" cy="27699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20</a:t>
            </a:r>
            <a:r>
              <a:rPr lang="ko-KR" altLang="en-US" sz="12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거래일 평균 거래대금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20D3DFB-7757-5241-97A6-DB1531C93170}"/>
              </a:ext>
            </a:extLst>
          </p:cNvPr>
          <p:cNvSpPr txBox="1"/>
          <p:nvPr/>
        </p:nvSpPr>
        <p:spPr>
          <a:xfrm>
            <a:off x="6985000" y="2514600"/>
            <a:ext cx="44704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600">
                <a:solidFill>
                  <a:srgbClr val="0E2841"/>
                </a:solidFill>
                <a:latin typeface="Cambria Math"/>
                <a:ea typeface="Cambria Math"/>
              </a:rPr>
              <a:t>ADVᵢ²⁰ᴰ  =  (1/20) </a:t>
            </a:r>
            <a:r>
              <a:rPr lang="el-GR" altLang="ko-KR" sz="1600">
                <a:solidFill>
                  <a:srgbClr val="0E2841"/>
                </a:solidFill>
                <a:latin typeface="Cambria Math"/>
                <a:ea typeface="Cambria Math"/>
              </a:rPr>
              <a:t>Σ </a:t>
            </a:r>
            <a:r>
              <a:rPr lang="en" altLang="ko-KR" sz="1600">
                <a:solidFill>
                  <a:srgbClr val="0E2841"/>
                </a:solidFill>
                <a:latin typeface="Cambria Math"/>
                <a:ea typeface="Cambria Math"/>
              </a:rPr>
              <a:t>TradingValueᵢ,ₐ</a:t>
            </a:r>
            <a:endParaRPr lang="ko-KR" altLang="en-US" sz="1600">
              <a:solidFill>
                <a:srgbClr val="0E2841"/>
              </a:solidFill>
              <a:latin typeface="Cambria Math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0B33D3B-DCEC-E949-92C6-8D9509A00EF1}"/>
              </a:ext>
            </a:extLst>
          </p:cNvPr>
          <p:cNvSpPr txBox="1"/>
          <p:nvPr/>
        </p:nvSpPr>
        <p:spPr>
          <a:xfrm>
            <a:off x="6985000" y="2895600"/>
            <a:ext cx="4470400" cy="27699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참여율 </a:t>
            </a:r>
            <a:r>
              <a:rPr lang="en" altLang="ko-KR" sz="12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p% </a:t>
            </a:r>
            <a:r>
              <a:rPr lang="ko-KR" altLang="en-US" sz="12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만큼만 주문 허용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F3FD41B-7BC7-7A40-94EE-95EA8BECC344}"/>
              </a:ext>
            </a:extLst>
          </p:cNvPr>
          <p:cNvSpPr txBox="1"/>
          <p:nvPr/>
        </p:nvSpPr>
        <p:spPr>
          <a:xfrm>
            <a:off x="6985000" y="3147349"/>
            <a:ext cx="44704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600">
                <a:solidFill>
                  <a:srgbClr val="0E2841"/>
                </a:solidFill>
                <a:latin typeface="Cambria Math"/>
                <a:ea typeface="Cambria Math"/>
              </a:rPr>
              <a:t>OrderValueᵢ  ≤  p × ADVᵢ²⁰ᴰ</a:t>
            </a:r>
            <a:endParaRPr lang="ko-KR" altLang="en-US" sz="1600">
              <a:solidFill>
                <a:srgbClr val="0E2841"/>
              </a:solidFill>
              <a:latin typeface="Cambria Math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7E52DF9-BB3E-644D-9ADE-94BD5DD6FEAA}"/>
              </a:ext>
            </a:extLst>
          </p:cNvPr>
          <p:cNvSpPr txBox="1"/>
          <p:nvPr/>
        </p:nvSpPr>
        <p:spPr>
          <a:xfrm>
            <a:off x="6985000" y="3505200"/>
            <a:ext cx="4470400" cy="27699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주문금액을 비중변화로 나눠 종목 </a:t>
            </a:r>
            <a:r>
              <a:rPr lang="en" altLang="ko-KR" sz="12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capacity</a:t>
            </a:r>
            <a:endParaRPr lang="ko-KR" altLang="en-US" sz="1200" b="1" dirty="0">
              <a:solidFill>
                <a:srgbClr val="0E284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3E1064D-F050-DF4B-9AFA-409D02DCE652}"/>
              </a:ext>
            </a:extLst>
          </p:cNvPr>
          <p:cNvSpPr txBox="1"/>
          <p:nvPr/>
        </p:nvSpPr>
        <p:spPr>
          <a:xfrm>
            <a:off x="6985000" y="3733800"/>
            <a:ext cx="44704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600">
                <a:solidFill>
                  <a:srgbClr val="0E2841"/>
                </a:solidFill>
                <a:latin typeface="Cambria Math"/>
                <a:ea typeface="Cambria Math"/>
              </a:rPr>
              <a:t>Capacityᵢ  =  p × ADVᵢ²⁰ᴰ  /  |</a:t>
            </a:r>
            <a:r>
              <a:rPr lang="el-GR" altLang="ko-KR" sz="1600">
                <a:solidFill>
                  <a:srgbClr val="0E2841"/>
                </a:solidFill>
                <a:latin typeface="Cambria Math"/>
                <a:ea typeface="Cambria Math"/>
              </a:rPr>
              <a:t>Δ</a:t>
            </a:r>
            <a:r>
              <a:rPr lang="en" altLang="ko-KR" sz="1600">
                <a:solidFill>
                  <a:srgbClr val="0E2841"/>
                </a:solidFill>
                <a:latin typeface="Cambria Math"/>
                <a:ea typeface="Cambria Math"/>
              </a:rPr>
              <a:t>wᵢ|</a:t>
            </a:r>
            <a:endParaRPr lang="ko-KR" altLang="en-US" sz="1600">
              <a:solidFill>
                <a:srgbClr val="0E2841"/>
              </a:solidFill>
              <a:latin typeface="Cambria Math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046F090-E8D0-1743-9763-2AEF2F6617C5}"/>
              </a:ext>
            </a:extLst>
          </p:cNvPr>
          <p:cNvSpPr txBox="1"/>
          <p:nvPr/>
        </p:nvSpPr>
        <p:spPr>
          <a:xfrm>
            <a:off x="6985000" y="4114800"/>
            <a:ext cx="4470400" cy="27699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 dirty="0" err="1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리밸런싱일</a:t>
            </a:r>
            <a:r>
              <a:rPr lang="ko-KR" altLang="en-US" sz="12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" altLang="ko-KR" sz="12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t</a:t>
            </a:r>
            <a:r>
              <a:rPr lang="ko-KR" altLang="en-US" sz="12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의 </a:t>
            </a:r>
            <a:r>
              <a:rPr lang="en" altLang="ko-KR" sz="12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capacity = </a:t>
            </a:r>
            <a:r>
              <a:rPr lang="ko-KR" altLang="en-US" sz="12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병목 종목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46F8FA9-33BD-734D-B999-DB8064EE8556}"/>
              </a:ext>
            </a:extLst>
          </p:cNvPr>
          <p:cNvSpPr txBox="1"/>
          <p:nvPr/>
        </p:nvSpPr>
        <p:spPr>
          <a:xfrm>
            <a:off x="6985000" y="4343400"/>
            <a:ext cx="44704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600">
                <a:solidFill>
                  <a:srgbClr val="0E2841"/>
                </a:solidFill>
                <a:latin typeface="Cambria Math"/>
                <a:ea typeface="Cambria Math"/>
              </a:rPr>
              <a:t>Capacityₜ  =  minᵢ  Capacityᵢ</a:t>
            </a:r>
            <a:endParaRPr lang="ko-KR" altLang="en-US" sz="1600">
              <a:solidFill>
                <a:srgbClr val="0E2841"/>
              </a:solidFill>
              <a:latin typeface="Cambria Math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F9D0C35-3690-9F45-93D8-F1B46B9E356B}"/>
              </a:ext>
            </a:extLst>
          </p:cNvPr>
          <p:cNvSpPr txBox="1"/>
          <p:nvPr/>
        </p:nvSpPr>
        <p:spPr>
          <a:xfrm>
            <a:off x="6971145" y="4837546"/>
            <a:ext cx="41910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전체 </a:t>
            </a:r>
            <a:r>
              <a:rPr lang="ko-KR" altLang="en-US" sz="1400" b="1" dirty="0" err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리밸런싱일</a:t>
            </a:r>
            <a:r>
              <a:rPr lang="ko-KR" altLang="en-US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 시계열 하위 </a:t>
            </a:r>
            <a:r>
              <a:rPr lang="en-US" altLang="ko-KR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10%</a:t>
            </a:r>
            <a:endParaRPr lang="ko-KR" altLang="en-US" sz="1400" b="1" dirty="0">
              <a:solidFill>
                <a:srgbClr val="982A2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09B96E1-9D26-334D-BD91-9C85FACF0F02}"/>
              </a:ext>
            </a:extLst>
          </p:cNvPr>
          <p:cNvSpPr txBox="1"/>
          <p:nvPr/>
        </p:nvSpPr>
        <p:spPr>
          <a:xfrm>
            <a:off x="6985000" y="5200073"/>
            <a:ext cx="4191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700" b="1" dirty="0">
                <a:solidFill>
                  <a:srgbClr val="0E2841"/>
                </a:solidFill>
                <a:latin typeface="Cambria Math"/>
              </a:rPr>
              <a:t>≈  </a:t>
            </a:r>
            <a:r>
              <a:rPr lang="en-US" altLang="ko-KR" sz="1700" b="1" dirty="0">
                <a:solidFill>
                  <a:srgbClr val="0E2841"/>
                </a:solidFill>
                <a:latin typeface="Cambria Math"/>
                <a:ea typeface="Cambria Math"/>
              </a:rPr>
              <a:t>99</a:t>
            </a:r>
            <a:r>
              <a:rPr lang="ko-KR" altLang="en-US" sz="1700" b="1" dirty="0">
                <a:solidFill>
                  <a:srgbClr val="0E2841"/>
                </a:solidFill>
                <a:latin typeface="Cambria Math"/>
              </a:rPr>
              <a:t>억 원   </a:t>
            </a:r>
            <a:r>
              <a:rPr lang="en-US" altLang="ko-KR" sz="1700" b="1" dirty="0">
                <a:solidFill>
                  <a:srgbClr val="0E2841"/>
                </a:solidFill>
                <a:latin typeface="Cambria Math"/>
                <a:ea typeface="Cambria Math"/>
              </a:rPr>
              <a:t>(3</a:t>
            </a:r>
            <a:r>
              <a:rPr lang="ko-KR" altLang="en-US" sz="1700" b="1" dirty="0">
                <a:solidFill>
                  <a:srgbClr val="0E2841"/>
                </a:solidFill>
                <a:latin typeface="Cambria Math"/>
              </a:rPr>
              <a:t>일 분할 </a:t>
            </a:r>
            <a:r>
              <a:rPr lang="en-US" altLang="ko-KR" sz="1700" b="1" dirty="0">
                <a:solidFill>
                  <a:srgbClr val="0E2841"/>
                </a:solidFill>
                <a:latin typeface="Cambria Math"/>
                <a:ea typeface="Cambria Math"/>
              </a:rPr>
              <a:t>· 10% </a:t>
            </a:r>
            <a:r>
              <a:rPr lang="en" altLang="ko-KR" sz="1700" b="1" dirty="0">
                <a:solidFill>
                  <a:srgbClr val="0E2841"/>
                </a:solidFill>
                <a:latin typeface="Cambria Math"/>
                <a:ea typeface="Cambria Math"/>
              </a:rPr>
              <a:t>ADV)</a:t>
            </a:r>
            <a:endParaRPr lang="ko-KR" altLang="en-US" sz="1700" b="1" dirty="0">
              <a:solidFill>
                <a:srgbClr val="0E2841"/>
              </a:solidFill>
              <a:latin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2481356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A1E36-7E30-6DE1-4B56-B1470D569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B3E67D-D71A-2394-D498-98EB4B4CC2A8}"/>
              </a:ext>
            </a:extLst>
          </p:cNvPr>
          <p:cNvSpPr txBox="1"/>
          <p:nvPr/>
        </p:nvSpPr>
        <p:spPr>
          <a:xfrm>
            <a:off x="762000" y="457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11</a:t>
            </a:r>
            <a:endParaRPr lang="ko-KR" altLang="en-US" sz="1200" b="1" dirty="0">
              <a:solidFill>
                <a:srgbClr val="982A2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DA5C62-9724-7BFF-A9FF-DB48B1E80B8B}"/>
              </a:ext>
            </a:extLst>
          </p:cNvPr>
          <p:cNvSpPr txBox="1"/>
          <p:nvPr/>
        </p:nvSpPr>
        <p:spPr>
          <a:xfrm>
            <a:off x="762000" y="762000"/>
            <a:ext cx="10668000" cy="58477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3200" b="1" dirty="0">
                <a:solidFill>
                  <a:srgbClr val="0E2841"/>
                </a:solidFill>
                <a:latin typeface="Pretendard"/>
                <a:ea typeface="Pretendard"/>
              </a:rPr>
              <a:t>거래비용 강건성 검증 </a:t>
            </a:r>
            <a:r>
              <a:rPr lang="en-US" altLang="ko-KR" sz="3200" b="1" dirty="0">
                <a:solidFill>
                  <a:srgbClr val="0E2841"/>
                </a:solidFill>
                <a:latin typeface="Pretendard"/>
                <a:ea typeface="Pretendard"/>
              </a:rPr>
              <a:t>: </a:t>
            </a:r>
            <a:r>
              <a:rPr lang="ko-KR" altLang="en-US" sz="3200" b="1" dirty="0">
                <a:solidFill>
                  <a:srgbClr val="0E2841"/>
                </a:solidFill>
                <a:latin typeface="Pretendard"/>
                <a:ea typeface="Pretendard"/>
              </a:rPr>
              <a:t>동적 </a:t>
            </a:r>
            <a:r>
              <a:rPr lang="ko-KR" altLang="en-US" sz="3200" b="1" dirty="0" err="1">
                <a:solidFill>
                  <a:srgbClr val="0E2841"/>
                </a:solidFill>
                <a:latin typeface="Pretendard"/>
                <a:ea typeface="Pretendard"/>
              </a:rPr>
              <a:t>슬리피지</a:t>
            </a:r>
            <a:endParaRPr lang="ko-KR" altLang="en-US" sz="3200" b="1" dirty="0">
              <a:solidFill>
                <a:srgbClr val="0E2841"/>
              </a:solidFill>
              <a:latin typeface="Pretendard"/>
              <a:ea typeface="Pretendard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FFEC3BC-3E65-6448-8330-BB50C0534EB2}"/>
              </a:ext>
            </a:extLst>
          </p:cNvPr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1E030A9-7083-084F-AEE8-BB919DBDFA84}"/>
              </a:ext>
            </a:extLst>
          </p:cNvPr>
          <p:cNvSpPr/>
          <p:nvPr/>
        </p:nvSpPr>
        <p:spPr>
          <a:xfrm>
            <a:off x="762000" y="1473200"/>
            <a:ext cx="762000" cy="381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5EA9E4-F4BD-F549-9DE6-B44F882308CD}"/>
              </a:ext>
            </a:extLst>
          </p:cNvPr>
          <p:cNvSpPr txBox="1"/>
          <p:nvPr/>
        </p:nvSpPr>
        <p:spPr>
          <a:xfrm>
            <a:off x="762000" y="1574800"/>
            <a:ext cx="10668000" cy="29238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거래대금이 작은 종목을 크게 사는 경우 </a:t>
            </a:r>
            <a:r>
              <a:rPr lang="ko-KR" altLang="en-US" sz="1300" dirty="0" err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슬리피지를</a:t>
            </a:r>
            <a:r>
              <a:rPr lang="ko-KR" altLang="en-US" sz="13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 고정으로 </a:t>
            </a:r>
            <a:r>
              <a:rPr lang="en-US" altLang="ko-KR" sz="13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3bp</a:t>
            </a:r>
            <a:r>
              <a:rPr lang="ko-KR" altLang="en-US" sz="13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 두는 것은 낙관적인 가정으로 볼 수 있기에 </a:t>
            </a:r>
            <a:r>
              <a:rPr lang="en" altLang="ko-KR" sz="13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ADV </a:t>
            </a:r>
            <a:r>
              <a:rPr lang="ko-KR" altLang="en-US" sz="13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참여율 연동 </a:t>
            </a:r>
            <a:r>
              <a:rPr lang="ko-KR" altLang="en-US" sz="1300" dirty="0" err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슬리피지로</a:t>
            </a:r>
            <a:r>
              <a:rPr lang="ko-KR" altLang="en-US" sz="13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 보수 점검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DA083D-A43A-7B4A-AE4A-D717E771E3FE}"/>
              </a:ext>
            </a:extLst>
          </p:cNvPr>
          <p:cNvSpPr txBox="1"/>
          <p:nvPr/>
        </p:nvSpPr>
        <p:spPr>
          <a:xfrm>
            <a:off x="762000" y="20066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비용 모델 비교 </a:t>
            </a:r>
            <a:r>
              <a:rPr lang="en-US" altLang="ko-KR" sz="14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(100</a:t>
            </a:r>
            <a:r>
              <a:rPr lang="ko-KR" altLang="en-US" sz="14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억 </a:t>
            </a:r>
            <a:r>
              <a:rPr lang="en-US" altLang="ko-KR" sz="14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· 3</a:t>
            </a:r>
            <a:r>
              <a:rPr lang="ko-KR" altLang="en-US" sz="14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일 분할 가정</a:t>
            </a:r>
            <a:r>
              <a:rPr lang="en-US" altLang="ko-KR" sz="14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)</a:t>
            </a:r>
            <a:endParaRPr lang="ko-KR" altLang="en-US" sz="1400" b="1">
              <a:solidFill>
                <a:srgbClr val="982A2F"/>
              </a:solidFill>
              <a:latin typeface="Pretendard"/>
              <a:ea typeface="Pretendard"/>
              <a:cs typeface="Pretendard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67D4922-473A-F24A-86FB-EACAFDCE4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701622"/>
              </p:ext>
            </p:extLst>
          </p:nvPr>
        </p:nvGraphicFramePr>
        <p:xfrm>
          <a:off x="761999" y="2387599"/>
          <a:ext cx="6206836" cy="20181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305">
                  <a:extLst>
                    <a:ext uri="{9D8B030D-6E8A-4147-A177-3AD203B41FA5}">
                      <a16:colId xmlns:a16="http://schemas.microsoft.com/office/drawing/2014/main" val="2910450002"/>
                    </a:ext>
                  </a:extLst>
                </a:gridCol>
                <a:gridCol w="982805">
                  <a:extLst>
                    <a:ext uri="{9D8B030D-6E8A-4147-A177-3AD203B41FA5}">
                      <a16:colId xmlns:a16="http://schemas.microsoft.com/office/drawing/2014/main" val="2618751461"/>
                    </a:ext>
                  </a:extLst>
                </a:gridCol>
                <a:gridCol w="1177636">
                  <a:extLst>
                    <a:ext uri="{9D8B030D-6E8A-4147-A177-3AD203B41FA5}">
                      <a16:colId xmlns:a16="http://schemas.microsoft.com/office/drawing/2014/main" val="1926298318"/>
                    </a:ext>
                  </a:extLst>
                </a:gridCol>
                <a:gridCol w="858982">
                  <a:extLst>
                    <a:ext uri="{9D8B030D-6E8A-4147-A177-3AD203B41FA5}">
                      <a16:colId xmlns:a16="http://schemas.microsoft.com/office/drawing/2014/main" val="3622135032"/>
                    </a:ext>
                  </a:extLst>
                </a:gridCol>
                <a:gridCol w="720437">
                  <a:extLst>
                    <a:ext uri="{9D8B030D-6E8A-4147-A177-3AD203B41FA5}">
                      <a16:colId xmlns:a16="http://schemas.microsoft.com/office/drawing/2014/main" val="64770881"/>
                    </a:ext>
                  </a:extLst>
                </a:gridCol>
                <a:gridCol w="983671">
                  <a:extLst>
                    <a:ext uri="{9D8B030D-6E8A-4147-A177-3AD203B41FA5}">
                      <a16:colId xmlns:a16="http://schemas.microsoft.com/office/drawing/2014/main" val="2042663663"/>
                    </a:ext>
                  </a:extLst>
                </a:gridCol>
              </a:tblGrid>
              <a:tr h="61780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비용 모델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누적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초과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 err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Sharpe</a:t>
                      </a:r>
                      <a:endParaRPr lang="ko-KR" altLang="en-US" sz="1400" b="1" dirty="0">
                        <a:solidFill>
                          <a:srgbClr val="FFFFFF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IR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매매비용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064868"/>
                  </a:ext>
                </a:extLst>
              </a:tr>
              <a:tr h="700173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0" dirty="0" err="1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base</a:t>
                      </a:r>
                      <a:r>
                        <a:rPr lang="ko-KR" altLang="en-US" sz="1400" b="0" dirty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 · 고정 3bp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400" b="0" dirty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664.06%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400" b="0" dirty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+168.18%p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4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3.94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4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0.843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4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−6.14%p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14099"/>
                  </a:ext>
                </a:extLst>
              </a:tr>
              <a:tr h="700173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1" dirty="0" err="1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dynamic</a:t>
                      </a:r>
                      <a:r>
                        <a:rPr lang="ko-KR" altLang="en-US" sz="1400" b="1" dirty="0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 · ADV 참여율 연동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400" b="1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645.39%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400" b="1" dirty="0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+149.52%p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400" b="1" dirty="0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3.86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400" b="1" dirty="0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0.763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400" b="1" dirty="0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−8.62%p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407533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0F0A4A1D-7A59-9E41-B107-2E1ABFAF7A6D}"/>
              </a:ext>
            </a:extLst>
          </p:cNvPr>
          <p:cNvSpPr/>
          <p:nvPr/>
        </p:nvSpPr>
        <p:spPr>
          <a:xfrm>
            <a:off x="831273" y="4976091"/>
            <a:ext cx="38100" cy="127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AEA6DF-7193-A74F-BB0A-D7AE63BFAE88}"/>
              </a:ext>
            </a:extLst>
          </p:cNvPr>
          <p:cNvSpPr txBox="1"/>
          <p:nvPr/>
        </p:nvSpPr>
        <p:spPr>
          <a:xfrm>
            <a:off x="958273" y="4899891"/>
            <a:ext cx="57150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동적 비용에서도 </a:t>
            </a:r>
            <a:r>
              <a:rPr lang="en" altLang="ko-KR" sz="14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PDF </a:t>
            </a:r>
            <a:r>
              <a:rPr lang="ko-KR" altLang="en-US" sz="14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대비 </a:t>
            </a:r>
            <a:r>
              <a:rPr lang="en-US" altLang="ko-KR" sz="14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+149.52%</a:t>
            </a:r>
            <a:r>
              <a:rPr lang="en" altLang="ko-KR" sz="14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p, IR 0.763</a:t>
            </a:r>
            <a:r>
              <a:rPr lang="ko-KR" altLang="en-US" sz="14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로 초과성과 유지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2C64CCF-809A-A946-9CE9-E892306607AB}"/>
              </a:ext>
            </a:extLst>
          </p:cNvPr>
          <p:cNvSpPr/>
          <p:nvPr/>
        </p:nvSpPr>
        <p:spPr>
          <a:xfrm>
            <a:off x="831273" y="5306291"/>
            <a:ext cx="38100" cy="127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C6D397-1C5E-2D43-BD7F-EC62A0158CE6}"/>
              </a:ext>
            </a:extLst>
          </p:cNvPr>
          <p:cNvSpPr txBox="1"/>
          <p:nvPr/>
        </p:nvSpPr>
        <p:spPr>
          <a:xfrm>
            <a:off x="958273" y="5230091"/>
            <a:ext cx="57150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평균 </a:t>
            </a:r>
            <a:r>
              <a:rPr lang="en" altLang="ko-KR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ADV </a:t>
            </a:r>
            <a:r>
              <a:rPr lang="ko-KR" altLang="en-US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참여율 </a:t>
            </a:r>
            <a:r>
              <a:rPr lang="en-US" altLang="ko-KR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2.12%, </a:t>
            </a:r>
            <a:r>
              <a:rPr lang="ko-KR" altLang="en-US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최대 </a:t>
            </a:r>
            <a:r>
              <a:rPr lang="en-US" altLang="ko-KR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4.71% — </a:t>
            </a:r>
            <a:r>
              <a:rPr lang="ko-KR" altLang="en-US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시장충격 영향 제한적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FB43FCE-7884-1740-B95A-D982B046EDEA}"/>
              </a:ext>
            </a:extLst>
          </p:cNvPr>
          <p:cNvSpPr/>
          <p:nvPr/>
        </p:nvSpPr>
        <p:spPr>
          <a:xfrm>
            <a:off x="831273" y="5636491"/>
            <a:ext cx="38100" cy="127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7926CB-C6C0-EA4E-83DD-A643140F138C}"/>
              </a:ext>
            </a:extLst>
          </p:cNvPr>
          <p:cNvSpPr txBox="1"/>
          <p:nvPr/>
        </p:nvSpPr>
        <p:spPr>
          <a:xfrm>
            <a:off x="958273" y="5560291"/>
            <a:ext cx="57150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운용규모↑ 또는 </a:t>
            </a:r>
            <a:r>
              <a:rPr lang="en-US" altLang="ko-KR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1</a:t>
            </a:r>
            <a:r>
              <a:rPr lang="ko-KR" altLang="en-US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일 체결 시 </a:t>
            </a:r>
            <a:r>
              <a:rPr lang="ko-KR" altLang="en-US" sz="1400" dirty="0" err="1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참여율↑로</a:t>
            </a:r>
            <a:r>
              <a:rPr lang="ko-KR" altLang="en-US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 비용은 더 커질 수 있음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8AE3928-F9FE-E04C-B3DE-02ABC1F27F7E}"/>
              </a:ext>
            </a:extLst>
          </p:cNvPr>
          <p:cNvSpPr/>
          <p:nvPr/>
        </p:nvSpPr>
        <p:spPr>
          <a:xfrm>
            <a:off x="7112000" y="2006600"/>
            <a:ext cx="4445000" cy="3048000"/>
          </a:xfrm>
          <a:prstGeom prst="rect">
            <a:avLst/>
          </a:prstGeom>
          <a:noFill/>
          <a:ln w="9525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1D76CE0-7D91-3740-84C1-F5D21FA81CF2}"/>
              </a:ext>
            </a:extLst>
          </p:cNvPr>
          <p:cNvSpPr/>
          <p:nvPr/>
        </p:nvSpPr>
        <p:spPr>
          <a:xfrm>
            <a:off x="7112000" y="2006600"/>
            <a:ext cx="4445000" cy="508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93EA4A-6F90-4049-B1CA-45AAB51FFA07}"/>
              </a:ext>
            </a:extLst>
          </p:cNvPr>
          <p:cNvSpPr txBox="1"/>
          <p:nvPr/>
        </p:nvSpPr>
        <p:spPr>
          <a:xfrm>
            <a:off x="7289800" y="2133600"/>
            <a:ext cx="40894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동적 슬리피지 공식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656538-C3E5-F84C-9C55-099DEC8FC534}"/>
              </a:ext>
            </a:extLst>
          </p:cNvPr>
          <p:cNvSpPr txBox="1"/>
          <p:nvPr/>
        </p:nvSpPr>
        <p:spPr>
          <a:xfrm>
            <a:off x="7289800" y="2489200"/>
            <a:ext cx="4089400" cy="26161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100" b="1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ADV </a:t>
            </a:r>
            <a:r>
              <a:rPr lang="ko-KR" altLang="en-US" sz="1100" b="1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참여율 </a:t>
            </a:r>
            <a:r>
              <a:rPr lang="en-US" altLang="ko-KR" sz="1100" b="1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100" b="1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하루 기준</a:t>
            </a:r>
            <a:r>
              <a:rPr lang="en-US" altLang="ko-KR" sz="1100" b="1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)</a:t>
            </a:r>
            <a:endParaRPr lang="ko-KR" altLang="en-US" sz="1100" b="1">
              <a:solidFill>
                <a:srgbClr val="0E284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ECF298-0714-5443-B359-D8E9D836B77A}"/>
              </a:ext>
            </a:extLst>
          </p:cNvPr>
          <p:cNvSpPr txBox="1"/>
          <p:nvPr/>
        </p:nvSpPr>
        <p:spPr>
          <a:xfrm>
            <a:off x="7289800" y="2717800"/>
            <a:ext cx="40894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400" dirty="0">
                <a:solidFill>
                  <a:srgbClr val="0E2841"/>
                </a:solidFill>
                <a:latin typeface="Cambria Math"/>
                <a:ea typeface="Cambria Math"/>
              </a:rPr>
              <a:t>Participation  =  (AUM × |</a:t>
            </a:r>
            <a:r>
              <a:rPr lang="el-GR" altLang="ko-KR" sz="1400" dirty="0">
                <a:solidFill>
                  <a:srgbClr val="0E2841"/>
                </a:solidFill>
                <a:latin typeface="Cambria Math"/>
                <a:ea typeface="Cambria Math"/>
              </a:rPr>
              <a:t>Δ</a:t>
            </a:r>
            <a:r>
              <a:rPr lang="en" altLang="ko-KR" sz="1400" dirty="0">
                <a:solidFill>
                  <a:srgbClr val="0E2841"/>
                </a:solidFill>
                <a:latin typeface="Cambria Math"/>
                <a:ea typeface="Cambria Math"/>
              </a:rPr>
              <a:t>w| / D) / ADV²⁰ᴰ</a:t>
            </a:r>
            <a:endParaRPr lang="ko-KR" altLang="en-US" sz="1400" dirty="0">
              <a:solidFill>
                <a:srgbClr val="0E2841"/>
              </a:solidFill>
              <a:latin typeface="Cambria Math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55A561-58BD-394E-B9BB-8F78EC4D5F3A}"/>
              </a:ext>
            </a:extLst>
          </p:cNvPr>
          <p:cNvSpPr txBox="1"/>
          <p:nvPr/>
        </p:nvSpPr>
        <p:spPr>
          <a:xfrm>
            <a:off x="7289800" y="3124200"/>
            <a:ext cx="4089400" cy="26161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동적 </a:t>
            </a:r>
            <a:r>
              <a:rPr lang="ko-KR" altLang="en-US" sz="1100" b="1" dirty="0" err="1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슬리피지</a:t>
            </a:r>
            <a:endParaRPr lang="ko-KR" altLang="en-US" sz="1100" b="1" dirty="0">
              <a:solidFill>
                <a:srgbClr val="0E2841"/>
              </a:solidFill>
              <a:latin typeface="Pretendard"/>
              <a:ea typeface="Pretendard"/>
              <a:cs typeface="Pretendar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882A7B7-B48D-6A49-A869-2FEFE73C92F5}"/>
                  </a:ext>
                </a:extLst>
              </p:cNvPr>
              <p:cNvSpPr txBox="1"/>
              <p:nvPr/>
            </p:nvSpPr>
            <p:spPr>
              <a:xfrm>
                <a:off x="7289800" y="3352800"/>
                <a:ext cx="4089400" cy="3532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spAutoFit/>
              </a:bodyPr>
              <a:lstStyle/>
              <a:p>
                <a:r>
                  <a:rPr lang="en" altLang="ko-KR" sz="1400" dirty="0">
                    <a:solidFill>
                      <a:srgbClr val="0E2841"/>
                    </a:solidFill>
                    <a:latin typeface="Cambria Math"/>
                    <a:ea typeface="Cambria Math"/>
                  </a:rPr>
                  <a:t>Slippage  =  3bp  +  k ×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" altLang="ko-KR" sz="1400" i="1" dirty="0" smtClean="0">
                            <a:solidFill>
                              <a:srgbClr val="0E284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" altLang="ko-KR" sz="1400" i="1" dirty="0" smtClean="0">
                            <a:solidFill>
                              <a:srgbClr val="0E284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𝑃𝑎𝑟𝑡𝑖𝑐𝑖𝑝𝑎𝑡𝑖𝑜𝑛</m:t>
                        </m:r>
                      </m:e>
                    </m:rad>
                  </m:oMath>
                </a14:m>
                <a:endParaRPr lang="ko-KR" altLang="en-US" sz="1400" dirty="0">
                  <a:solidFill>
                    <a:srgbClr val="0E2841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882A7B7-B48D-6A49-A869-2FEFE73C92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9800" y="3352800"/>
                <a:ext cx="4089400" cy="353238"/>
              </a:xfrm>
              <a:prstGeom prst="rect">
                <a:avLst/>
              </a:prstGeom>
              <a:blipFill>
                <a:blip r:embed="rId3"/>
                <a:stretch>
                  <a:fillRect l="-619" b="-178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00B06D93-F41D-3D4D-B936-E206992EC464}"/>
              </a:ext>
            </a:extLst>
          </p:cNvPr>
          <p:cNvSpPr txBox="1"/>
          <p:nvPr/>
        </p:nvSpPr>
        <p:spPr>
          <a:xfrm>
            <a:off x="7289800" y="3759200"/>
            <a:ext cx="4089400" cy="26161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5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가정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C8A4C3-D52C-6C42-A1AD-D34989308C16}"/>
              </a:ext>
            </a:extLst>
          </p:cNvPr>
          <p:cNvSpPr txBox="1"/>
          <p:nvPr/>
        </p:nvSpPr>
        <p:spPr>
          <a:xfrm>
            <a:off x="7340600" y="3987800"/>
            <a:ext cx="4038600" cy="27699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2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· AUM = 100</a:t>
            </a:r>
            <a:r>
              <a:rPr lang="ko-KR" altLang="en-US" sz="12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억 원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501AE3-2FBD-AF40-AE41-E88A8B0D9233}"/>
              </a:ext>
            </a:extLst>
          </p:cNvPr>
          <p:cNvSpPr txBox="1"/>
          <p:nvPr/>
        </p:nvSpPr>
        <p:spPr>
          <a:xfrm>
            <a:off x="7340600" y="4216400"/>
            <a:ext cx="4038600" cy="27699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2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체결일 </a:t>
            </a:r>
            <a:r>
              <a:rPr lang="en" altLang="ko-KR" sz="12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D = 3</a:t>
            </a:r>
            <a:r>
              <a:rPr lang="ko-KR" altLang="en-US" sz="12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일 분할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6A67C4-7CDA-3748-A535-81B8CD239E65}"/>
              </a:ext>
            </a:extLst>
          </p:cNvPr>
          <p:cNvSpPr txBox="1"/>
          <p:nvPr/>
        </p:nvSpPr>
        <p:spPr>
          <a:xfrm>
            <a:off x="7340600" y="4445000"/>
            <a:ext cx="4038600" cy="27699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2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· k = 0.0050 ( cap = 50bp )</a:t>
            </a:r>
            <a:endParaRPr lang="ko-KR" altLang="en-US" sz="1200" dirty="0">
              <a:solidFill>
                <a:srgbClr val="5959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728160B-C29B-9D43-A01E-D223A408C937}"/>
              </a:ext>
            </a:extLst>
          </p:cNvPr>
          <p:cNvSpPr/>
          <p:nvPr/>
        </p:nvSpPr>
        <p:spPr>
          <a:xfrm>
            <a:off x="7112000" y="5181600"/>
            <a:ext cx="4445000" cy="990600"/>
          </a:xfrm>
          <a:prstGeom prst="rect">
            <a:avLst/>
          </a:prstGeom>
          <a:noFill/>
          <a:ln w="9525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6659A5-ACAB-C649-994A-6938CA092B7B}"/>
              </a:ext>
            </a:extLst>
          </p:cNvPr>
          <p:cNvSpPr txBox="1"/>
          <p:nvPr/>
        </p:nvSpPr>
        <p:spPr>
          <a:xfrm>
            <a:off x="7289800" y="5257800"/>
            <a:ext cx="40894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예시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3F5B10E-DAC1-D944-94FA-519FB9F074D5}"/>
              </a:ext>
            </a:extLst>
          </p:cNvPr>
          <p:cNvSpPr txBox="1"/>
          <p:nvPr/>
        </p:nvSpPr>
        <p:spPr>
          <a:xfrm>
            <a:off x="7289800" y="5511800"/>
            <a:ext cx="4089400" cy="52322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ADV 100</a:t>
            </a:r>
            <a:r>
              <a:rPr lang="ko-KR" altLang="en-US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억</a:t>
            </a:r>
            <a:r>
              <a:rPr lang="en-US" altLang="ko-KR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el-GR" altLang="ko-KR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Δ</a:t>
            </a:r>
            <a:r>
              <a:rPr lang="en" altLang="ko-KR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w 15%p → </a:t>
            </a:r>
            <a:r>
              <a:rPr lang="ko-KR" altLang="en-US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하루 </a:t>
            </a:r>
            <a:r>
              <a:rPr lang="en-US" altLang="ko-KR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5</a:t>
            </a:r>
            <a:r>
              <a:rPr lang="ko-KR" altLang="en-US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억 → 참여율 </a:t>
            </a:r>
            <a:r>
              <a:rPr lang="en-US" altLang="ko-KR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5%
</a:t>
            </a:r>
            <a:r>
              <a:rPr lang="en" altLang="ko-KR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Slippage = 3bp + 50bp × √0.05 ≈ 14.18bp</a:t>
            </a:r>
            <a:endParaRPr lang="ko-KR" altLang="en-US" sz="1400" dirty="0">
              <a:solidFill>
                <a:srgbClr val="0E2841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706668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3E9221-4F2E-34A0-0BAB-BF8674C575FA}"/>
              </a:ext>
            </a:extLst>
          </p:cNvPr>
          <p:cNvSpPr txBox="1"/>
          <p:nvPr/>
        </p:nvSpPr>
        <p:spPr>
          <a:xfrm>
            <a:off x="762000" y="457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12</a:t>
            </a:r>
            <a:endParaRPr lang="ko-KR" altLang="en-US" sz="1200" b="1" dirty="0">
              <a:solidFill>
                <a:srgbClr val="982A2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768944-8676-EC3B-08B7-ACA7436645F5}"/>
              </a:ext>
            </a:extLst>
          </p:cNvPr>
          <p:cNvSpPr txBox="1"/>
          <p:nvPr/>
        </p:nvSpPr>
        <p:spPr>
          <a:xfrm>
            <a:off x="762000" y="762000"/>
            <a:ext cx="10668000" cy="52322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8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경로 강건성 검증</a:t>
            </a:r>
            <a:r>
              <a:rPr lang="en-US" altLang="ko-KR" sz="28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: </a:t>
            </a:r>
            <a:r>
              <a:rPr lang="ko-KR" altLang="en-US" sz="28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다른 시장 경로에서 검증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8871C6C-D90F-FC56-2181-DE5AB3EDE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291" y="2048187"/>
            <a:ext cx="4703619" cy="253995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F231A46A-8A79-B649-A07F-23031A7491F4}"/>
              </a:ext>
            </a:extLst>
          </p:cNvPr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F550C70-DA3D-514A-8D87-E9CED4CE2702}"/>
              </a:ext>
            </a:extLst>
          </p:cNvPr>
          <p:cNvSpPr/>
          <p:nvPr/>
        </p:nvSpPr>
        <p:spPr>
          <a:xfrm>
            <a:off x="762000" y="1473200"/>
            <a:ext cx="762000" cy="381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15768D-4634-874B-83C0-5375D0785517}"/>
              </a:ext>
            </a:extLst>
          </p:cNvPr>
          <p:cNvSpPr txBox="1"/>
          <p:nvPr/>
        </p:nvSpPr>
        <p:spPr>
          <a:xfrm>
            <a:off x="762000" y="1574800"/>
            <a:ext cx="10668000" cy="29238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최종 전략의 일별 수익률을 그대로 두고</a:t>
            </a:r>
            <a:r>
              <a:rPr lang="en-US" altLang="ko-KR" sz="13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3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경로만 다시 만들어 </a:t>
            </a:r>
            <a:r>
              <a:rPr lang="en" altLang="ko-KR" sz="13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PDF </a:t>
            </a:r>
            <a:r>
              <a:rPr lang="ko-KR" altLang="en-US" sz="13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대비 초과성과가 유지되는지 점검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56862A2-A564-9547-B90F-994158A1D71A}"/>
              </a:ext>
            </a:extLst>
          </p:cNvPr>
          <p:cNvSpPr/>
          <p:nvPr/>
        </p:nvSpPr>
        <p:spPr>
          <a:xfrm>
            <a:off x="762000" y="2057400"/>
            <a:ext cx="5334000" cy="1752600"/>
          </a:xfrm>
          <a:prstGeom prst="rect">
            <a:avLst/>
          </a:prstGeom>
          <a:noFill/>
          <a:ln w="9525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DC6040B-9F8A-4247-9F7C-43D38E060989}"/>
              </a:ext>
            </a:extLst>
          </p:cNvPr>
          <p:cNvSpPr/>
          <p:nvPr/>
        </p:nvSpPr>
        <p:spPr>
          <a:xfrm>
            <a:off x="762000" y="2057400"/>
            <a:ext cx="5334000" cy="508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093D72F9-A6C9-D34D-9B99-B004DB79E3E7}"/>
              </a:ext>
            </a:extLst>
          </p:cNvPr>
          <p:cNvSpPr/>
          <p:nvPr/>
        </p:nvSpPr>
        <p:spPr>
          <a:xfrm>
            <a:off x="939800" y="2235200"/>
            <a:ext cx="279400" cy="279400"/>
          </a:xfrm>
          <a:prstGeom prst="ellipse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  <a:endParaRPr lang="ko-KR" altLang="en-US" sz="1100" b="1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AB6991-0DDD-8E49-88B4-FADC3988A91F}"/>
              </a:ext>
            </a:extLst>
          </p:cNvPr>
          <p:cNvSpPr txBox="1"/>
          <p:nvPr/>
        </p:nvSpPr>
        <p:spPr>
          <a:xfrm>
            <a:off x="1320800" y="2235200"/>
            <a:ext cx="46228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400" b="1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Block bootstrap (5</a:t>
            </a:r>
            <a:r>
              <a:rPr lang="ko-KR" altLang="en-US" sz="1400" b="1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거래일</a:t>
            </a:r>
            <a:r>
              <a:rPr lang="en-US" altLang="ko-KR" sz="1400" b="1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)</a:t>
            </a:r>
            <a:endParaRPr lang="ko-KR" altLang="en-US" sz="1400" b="1">
              <a:solidFill>
                <a:srgbClr val="0E284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5990FB-8A2D-FE42-9639-8BB956B3DB26}"/>
              </a:ext>
            </a:extLst>
          </p:cNvPr>
          <p:cNvSpPr txBox="1"/>
          <p:nvPr/>
        </p:nvSpPr>
        <p:spPr>
          <a:xfrm>
            <a:off x="939800" y="2616200"/>
            <a:ext cx="49784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과거 </a:t>
            </a:r>
            <a:r>
              <a:rPr lang="en-US" altLang="ko-KR" sz="1200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1</a:t>
            </a:r>
            <a:r>
              <a:rPr lang="ko-KR" altLang="en-US" sz="1200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주 단위 수익률 </a:t>
            </a:r>
            <a:r>
              <a:rPr lang="en" altLang="ko-KR" sz="1200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block</a:t>
            </a:r>
            <a:r>
              <a:rPr lang="ko-KR" altLang="en-US" sz="1200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을 다시 섞어 경로 생성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E55624E-544E-BD41-9FCB-7507E5F34C2A}"/>
              </a:ext>
            </a:extLst>
          </p:cNvPr>
          <p:cNvSpPr/>
          <p:nvPr/>
        </p:nvSpPr>
        <p:spPr>
          <a:xfrm>
            <a:off x="939800" y="2997200"/>
            <a:ext cx="38100" cy="1016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DF71E8-3326-2B46-B320-2C2C13F7538B}"/>
              </a:ext>
            </a:extLst>
          </p:cNvPr>
          <p:cNvSpPr txBox="1"/>
          <p:nvPr/>
        </p:nvSpPr>
        <p:spPr>
          <a:xfrm>
            <a:off x="1041400" y="2921000"/>
            <a:ext cx="48768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복원추출로 </a:t>
            </a:r>
            <a:r>
              <a:rPr lang="en-US" altLang="ko-KR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2,000</a:t>
            </a:r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개 경로 </a:t>
            </a:r>
            <a:r>
              <a:rPr lang="en-US" altLang="ko-KR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— </a:t>
            </a:r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같은 </a:t>
            </a:r>
            <a:r>
              <a:rPr lang="en" altLang="ko-KR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block</a:t>
            </a:r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이 여러 번 등장 가능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50F42E1-88BC-EF4B-BB61-392820EB1B8D}"/>
              </a:ext>
            </a:extLst>
          </p:cNvPr>
          <p:cNvSpPr/>
          <p:nvPr/>
        </p:nvSpPr>
        <p:spPr>
          <a:xfrm>
            <a:off x="939800" y="3263900"/>
            <a:ext cx="38100" cy="1016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6A6FE0-FDD8-8E4D-B81E-ADE8477687D5}"/>
              </a:ext>
            </a:extLst>
          </p:cNvPr>
          <p:cNvSpPr txBox="1"/>
          <p:nvPr/>
        </p:nvSpPr>
        <p:spPr>
          <a:xfrm>
            <a:off x="1041400" y="3187700"/>
            <a:ext cx="48768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전략</a:t>
            </a:r>
            <a:r>
              <a:rPr lang="en-US" altLang="ko-KR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en" altLang="ko-KR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PDF </a:t>
            </a:r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수익률을 같은 날짜 쌍으로 묶어 함께 추출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DD19D01-24A5-8945-9DAC-9201D6BBC874}"/>
              </a:ext>
            </a:extLst>
          </p:cNvPr>
          <p:cNvSpPr/>
          <p:nvPr/>
        </p:nvSpPr>
        <p:spPr>
          <a:xfrm>
            <a:off x="939800" y="3530600"/>
            <a:ext cx="38100" cy="1016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A7D6E4-31A6-864F-A7B0-B6CAB3C26A53}"/>
              </a:ext>
            </a:extLst>
          </p:cNvPr>
          <p:cNvSpPr txBox="1"/>
          <p:nvPr/>
        </p:nvSpPr>
        <p:spPr>
          <a:xfrm>
            <a:off x="1041400" y="3454400"/>
            <a:ext cx="48768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가정 적음 </a:t>
            </a:r>
            <a:r>
              <a:rPr lang="en-US" altLang="ko-KR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과거에 없던 새 국면은 만들기 어려움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ADDF6F8-B029-A34E-A2D3-CAD146746945}"/>
              </a:ext>
            </a:extLst>
          </p:cNvPr>
          <p:cNvSpPr/>
          <p:nvPr/>
        </p:nvSpPr>
        <p:spPr>
          <a:xfrm>
            <a:off x="762000" y="3962400"/>
            <a:ext cx="5334000" cy="1752600"/>
          </a:xfrm>
          <a:prstGeom prst="rect">
            <a:avLst/>
          </a:prstGeom>
          <a:noFill/>
          <a:ln w="9525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3FF9562-E3EF-7C4A-AA49-6092BC58158D}"/>
              </a:ext>
            </a:extLst>
          </p:cNvPr>
          <p:cNvSpPr/>
          <p:nvPr/>
        </p:nvSpPr>
        <p:spPr>
          <a:xfrm>
            <a:off x="762000" y="3962400"/>
            <a:ext cx="5334000" cy="508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6718F3D8-AC0D-154C-ACBD-30C452F65C7C}"/>
              </a:ext>
            </a:extLst>
          </p:cNvPr>
          <p:cNvSpPr/>
          <p:nvPr/>
        </p:nvSpPr>
        <p:spPr>
          <a:xfrm>
            <a:off x="939800" y="4140200"/>
            <a:ext cx="279400" cy="279400"/>
          </a:xfrm>
          <a:prstGeom prst="ellipse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  <a:endParaRPr lang="ko-KR" altLang="en-US" sz="1100" b="1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4E06B1-8510-8348-AA4F-45D225944A09}"/>
              </a:ext>
            </a:extLst>
          </p:cNvPr>
          <p:cNvSpPr txBox="1"/>
          <p:nvPr/>
        </p:nvSpPr>
        <p:spPr>
          <a:xfrm>
            <a:off x="1320800" y="4140200"/>
            <a:ext cx="46228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400" b="1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Monte Carlo (Student-t, df=5)</a:t>
            </a:r>
            <a:endParaRPr lang="ko-KR" altLang="en-US" sz="1400" b="1">
              <a:solidFill>
                <a:srgbClr val="0E284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AE08AC-B034-A446-BBB7-D3C138995E21}"/>
              </a:ext>
            </a:extLst>
          </p:cNvPr>
          <p:cNvSpPr txBox="1"/>
          <p:nvPr/>
        </p:nvSpPr>
        <p:spPr>
          <a:xfrm>
            <a:off x="939800" y="4521200"/>
            <a:ext cx="49784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200" dirty="0" err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PDF·active</a:t>
            </a:r>
            <a:r>
              <a:rPr lang="en" altLang="ko-KR" sz="1200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 return</a:t>
            </a:r>
            <a:r>
              <a:rPr lang="ko-KR" altLang="en-US" sz="1200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의 평균</a:t>
            </a:r>
            <a:r>
              <a:rPr lang="en-US" altLang="ko-KR" sz="1200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200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공분산으로 새 가상 경로 생성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9D71DAE-9D46-8843-96CE-76C6D5D8EAB8}"/>
              </a:ext>
            </a:extLst>
          </p:cNvPr>
          <p:cNvSpPr/>
          <p:nvPr/>
        </p:nvSpPr>
        <p:spPr>
          <a:xfrm>
            <a:off x="939800" y="4902200"/>
            <a:ext cx="38100" cy="1016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1D352D-1844-0A43-A812-3EBF6574BF34}"/>
              </a:ext>
            </a:extLst>
          </p:cNvPr>
          <p:cNvSpPr txBox="1"/>
          <p:nvPr/>
        </p:nvSpPr>
        <p:spPr>
          <a:xfrm>
            <a:off x="1041400" y="4826000"/>
            <a:ext cx="48768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Synthetic = synthetic PDF + synthetic active return</a:t>
            </a:r>
            <a:endParaRPr lang="ko-KR" altLang="en-US" sz="1100">
              <a:solidFill>
                <a:srgbClr val="5959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7F8A39D-DCB6-DA4E-BA01-8424334403A8}"/>
              </a:ext>
            </a:extLst>
          </p:cNvPr>
          <p:cNvSpPr/>
          <p:nvPr/>
        </p:nvSpPr>
        <p:spPr>
          <a:xfrm>
            <a:off x="939800" y="5168900"/>
            <a:ext cx="38100" cy="1016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53048A-F1C5-4748-A079-310A2FCBD665}"/>
              </a:ext>
            </a:extLst>
          </p:cNvPr>
          <p:cNvSpPr txBox="1"/>
          <p:nvPr/>
        </p:nvSpPr>
        <p:spPr>
          <a:xfrm>
            <a:off x="1041400" y="5092700"/>
            <a:ext cx="48768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꼬리 두꺼운 분포로 시뮬레이션 </a:t>
            </a:r>
            <a:r>
              <a:rPr lang="en-US" altLang="ko-KR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— </a:t>
            </a:r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더 다양한 경로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9440F38-C0C8-634E-9FED-AED17D3515BA}"/>
              </a:ext>
            </a:extLst>
          </p:cNvPr>
          <p:cNvSpPr/>
          <p:nvPr/>
        </p:nvSpPr>
        <p:spPr>
          <a:xfrm>
            <a:off x="939800" y="5435600"/>
            <a:ext cx="38100" cy="1016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053208-2B68-BD49-9488-23C4F7E993E9}"/>
              </a:ext>
            </a:extLst>
          </p:cNvPr>
          <p:cNvSpPr txBox="1"/>
          <p:nvPr/>
        </p:nvSpPr>
        <p:spPr>
          <a:xfrm>
            <a:off x="1041400" y="5359400"/>
            <a:ext cx="48768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다양성 ↑ </a:t>
            </a:r>
            <a:r>
              <a:rPr lang="en-US" altLang="ko-KR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분포</a:t>
            </a:r>
            <a:r>
              <a:rPr lang="en-US" altLang="ko-KR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공분산 가정에 결과 의존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5BB415-FA46-B740-9918-02722BDD50D1}"/>
              </a:ext>
            </a:extLst>
          </p:cNvPr>
          <p:cNvSpPr txBox="1"/>
          <p:nvPr/>
        </p:nvSpPr>
        <p:spPr>
          <a:xfrm>
            <a:off x="6477000" y="1849582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결과</a:t>
            </a:r>
            <a:r>
              <a:rPr lang="en-US" altLang="ko-KR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 (2,000</a:t>
            </a:r>
            <a:r>
              <a:rPr lang="ko-KR" altLang="en-US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개 경로</a:t>
            </a:r>
            <a:r>
              <a:rPr lang="en-US" altLang="ko-KR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)</a:t>
            </a:r>
            <a:endParaRPr lang="ko-KR" altLang="en-US" sz="1400" b="1" dirty="0">
              <a:solidFill>
                <a:srgbClr val="982A2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BFF5FBB-FC86-9548-9F0D-8EE23C825786}"/>
              </a:ext>
            </a:extLst>
          </p:cNvPr>
          <p:cNvSpPr/>
          <p:nvPr/>
        </p:nvSpPr>
        <p:spPr>
          <a:xfrm>
            <a:off x="6560128" y="4832927"/>
            <a:ext cx="38100" cy="127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CF547BB-0FF0-D94E-8940-7C270D58482F}"/>
              </a:ext>
            </a:extLst>
          </p:cNvPr>
          <p:cNvSpPr txBox="1"/>
          <p:nvPr/>
        </p:nvSpPr>
        <p:spPr>
          <a:xfrm>
            <a:off x="6687128" y="4756727"/>
            <a:ext cx="4953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2,000</a:t>
            </a:r>
            <a:r>
              <a:rPr lang="ko-KR" altLang="en-US" sz="12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개 가상 경로 중 </a:t>
            </a:r>
            <a:r>
              <a:rPr lang="en-US" altLang="ko-KR" sz="12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86~88%</a:t>
            </a:r>
            <a:r>
              <a:rPr lang="ko-KR" altLang="en-US" sz="12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에서 </a:t>
            </a:r>
            <a:r>
              <a:rPr lang="en" altLang="ko-KR" sz="12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PDF </a:t>
            </a:r>
            <a:r>
              <a:rPr lang="ko-KR" altLang="en-US" sz="12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대비 초과성과 양수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4EDC7B9-B535-0D4B-A277-A28E471CD136}"/>
              </a:ext>
            </a:extLst>
          </p:cNvPr>
          <p:cNvSpPr/>
          <p:nvPr/>
        </p:nvSpPr>
        <p:spPr>
          <a:xfrm>
            <a:off x="6560128" y="5163127"/>
            <a:ext cx="38100" cy="127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2998B35-7647-074B-8D47-C248B45F5541}"/>
              </a:ext>
            </a:extLst>
          </p:cNvPr>
          <p:cNvSpPr txBox="1"/>
          <p:nvPr/>
        </p:nvSpPr>
        <p:spPr>
          <a:xfrm>
            <a:off x="6687128" y="5086927"/>
            <a:ext cx="4953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2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TE 20% </a:t>
            </a:r>
            <a:r>
              <a:rPr lang="ko-KR" altLang="en-US" sz="12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이하 유지 비율 </a:t>
            </a:r>
            <a:r>
              <a:rPr lang="en-US" altLang="ko-KR" sz="12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96% </a:t>
            </a:r>
            <a:r>
              <a:rPr lang="ko-KR" altLang="en-US" sz="12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이상 </a:t>
            </a:r>
            <a:r>
              <a:rPr lang="en-US" altLang="ko-KR" sz="12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— </a:t>
            </a:r>
            <a:r>
              <a:rPr lang="en" altLang="ko-KR" sz="12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active risk </a:t>
            </a:r>
            <a:r>
              <a:rPr lang="ko-KR" altLang="en-US" sz="12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예산 안정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8668EC0-B487-0D4D-82AC-E7C9B6E1AE1D}"/>
              </a:ext>
            </a:extLst>
          </p:cNvPr>
          <p:cNvSpPr/>
          <p:nvPr/>
        </p:nvSpPr>
        <p:spPr>
          <a:xfrm>
            <a:off x="6560128" y="5493327"/>
            <a:ext cx="38100" cy="127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7BFCD0A-C432-EA4D-9A3A-E2C80D70CE97}"/>
              </a:ext>
            </a:extLst>
          </p:cNvPr>
          <p:cNvSpPr txBox="1"/>
          <p:nvPr/>
        </p:nvSpPr>
        <p:spPr>
          <a:xfrm>
            <a:off x="6687128" y="5417127"/>
            <a:ext cx="4953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5% </a:t>
            </a:r>
            <a:r>
              <a:rPr lang="ko-KR" altLang="en-US" sz="12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분위는 음수 </a:t>
            </a:r>
            <a:r>
              <a:rPr lang="en-US" altLang="ko-KR" sz="12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— </a:t>
            </a:r>
            <a:r>
              <a:rPr lang="ko-KR" altLang="en-US" sz="12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불리한 경로에선 </a:t>
            </a:r>
            <a:r>
              <a:rPr lang="en" altLang="ko-KR" sz="12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PDF</a:t>
            </a:r>
            <a:r>
              <a:rPr lang="ko-KR" altLang="en-US" sz="12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에 밀릴 수도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4E9D17F-36D8-0A41-B568-C74DE108F9CE}"/>
              </a:ext>
            </a:extLst>
          </p:cNvPr>
          <p:cNvSpPr/>
          <p:nvPr/>
        </p:nvSpPr>
        <p:spPr>
          <a:xfrm>
            <a:off x="6560128" y="5874327"/>
            <a:ext cx="5080000" cy="685800"/>
          </a:xfrm>
          <a:prstGeom prst="rect">
            <a:avLst/>
          </a:prstGeom>
          <a:noFill/>
          <a:ln w="9525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3C01FEA-A597-9D46-B2F2-18C0817C268E}"/>
              </a:ext>
            </a:extLst>
          </p:cNvPr>
          <p:cNvSpPr txBox="1"/>
          <p:nvPr/>
        </p:nvSpPr>
        <p:spPr>
          <a:xfrm>
            <a:off x="6737928" y="5950527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해석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72E755-3362-B248-B52B-2AC9A8F8BFAC}"/>
              </a:ext>
            </a:extLst>
          </p:cNvPr>
          <p:cNvSpPr txBox="1"/>
          <p:nvPr/>
        </p:nvSpPr>
        <p:spPr>
          <a:xfrm>
            <a:off x="6737928" y="6179127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미래 성과 보장이 아니라</a:t>
            </a:r>
            <a:r>
              <a:rPr lang="en-US" altLang="ko-KR" sz="11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1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단일 날짜 순서에만 의존한 결과는 아니라는 보조 근거</a:t>
            </a:r>
          </a:p>
        </p:txBody>
      </p:sp>
    </p:spTree>
    <p:extLst>
      <p:ext uri="{BB962C8B-B14F-4D97-AF65-F5344CB8AC3E}">
        <p14:creationId xmlns:p14="http://schemas.microsoft.com/office/powerpoint/2010/main" val="533334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95E24538-79BD-56A6-0C79-03204BCD6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139" y="-208120"/>
            <a:ext cx="9413722" cy="7274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658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테마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289A002-5416-DF48-8E53-B7D73A6522BD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6d98fed5-128b-4b92-af18-fe4612ee02c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10659</TotalTime>
  <Words>2945</Words>
  <Application>Microsoft Macintosh PowerPoint</Application>
  <PresentationFormat>와이드스크린</PresentationFormat>
  <Paragraphs>438</Paragraphs>
  <Slides>15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15</vt:i4>
      </vt:variant>
    </vt:vector>
  </HeadingPairs>
  <TitlesOfParts>
    <vt:vector size="25" baseType="lpstr">
      <vt:lpstr>맑은 고딕</vt:lpstr>
      <vt:lpstr>Noto Sans KR</vt:lpstr>
      <vt:lpstr>Pretendard</vt:lpstr>
      <vt:lpstr>Aptos</vt:lpstr>
      <vt:lpstr>Aptos Display</vt:lpstr>
      <vt:lpstr>Arial</vt:lpstr>
      <vt:lpstr>Cambria Math</vt:lpstr>
      <vt:lpstr>Office 테마</vt:lpstr>
      <vt:lpstr>1_Office 테마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류지연</dc:creator>
  <cp:lastModifiedBy>류지연</cp:lastModifiedBy>
  <cp:revision>41</cp:revision>
  <dcterms:created xsi:type="dcterms:W3CDTF">2026-05-14T22:13:58Z</dcterms:created>
  <dcterms:modified xsi:type="dcterms:W3CDTF">2026-05-22T08:49:59Z</dcterms:modified>
</cp:coreProperties>
</file>