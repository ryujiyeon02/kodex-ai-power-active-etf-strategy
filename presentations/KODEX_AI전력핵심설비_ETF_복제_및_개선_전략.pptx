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61" r:id="rId5"/>
    <p:sldId id="262" r:id="rId6"/>
    <p:sldId id="260" r:id="rId7"/>
    <p:sldId id="264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2880" userDrawn="1">
          <p15:clr>
            <a:srgbClr val="A4A3A4"/>
          </p15:clr>
        </p15:guide>
        <p15:guide id="2" orient="horz" pos="16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532"/>
    <p:restoredTop sz="94610"/>
  </p:normalViewPr>
  <p:slideViewPr>
    <p:cSldViewPr snapToGrid="0" snapToObjects="1">
      <p:cViewPr varScale="1">
        <p:scale>
          <a:sx n="160" d="100"/>
          <a:sy n="160" d="100"/>
        </p:scale>
        <p:origin x="168" y="336"/>
      </p:cViewPr>
      <p:guideLst>
        <p:guide pos="2880"/>
        <p:guide orient="horz" pos="16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876826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0.pn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85838" y="1198755"/>
            <a:ext cx="5414963" cy="842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850" b="1" dirty="0">
                <a:solidFill>
                  <a:srgbClr val="333333"/>
                </a:solidFill>
                <a:latin typeface="Noto Sans KR" panose="020B0200000000000000" pitchFamily="34" charset="-128"/>
                <a:ea typeface="Noto Sans KR" panose="020B0200000000000000" pitchFamily="34" charset="-128"/>
                <a:cs typeface="Montserrat Bold" pitchFamily="34" charset="-120"/>
              </a:rPr>
              <a:t>KODEX AI전력핵심설비 ETF
복제와 개선 전략</a:t>
            </a:r>
            <a:endParaRPr lang="en-US" sz="2850" dirty="0"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  <p:sp>
        <p:nvSpPr>
          <p:cNvPr id="4" name="Text 1"/>
          <p:cNvSpPr/>
          <p:nvPr/>
        </p:nvSpPr>
        <p:spPr>
          <a:xfrm>
            <a:off x="985838" y="2301739"/>
            <a:ext cx="5414963" cy="2308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666666"/>
                </a:solidFill>
                <a:latin typeface="Noto Sans KR" panose="020B0200000000000000" pitchFamily="34" charset="-128"/>
                <a:ea typeface="Noto Sans KR" panose="020B0200000000000000" pitchFamily="34" charset="-128"/>
                <a:cs typeface="Open Sans" pitchFamily="34" charset="-120"/>
              </a:rPr>
              <a:t>ETF 복제 모델링 및 Selected He-Litterman 전략 제안</a:t>
            </a:r>
            <a:endParaRPr lang="en-US" sz="1500" dirty="0"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  <p:sp>
        <p:nvSpPr>
          <p:cNvPr id="5" name="Text 2"/>
          <p:cNvSpPr/>
          <p:nvPr/>
        </p:nvSpPr>
        <p:spPr>
          <a:xfrm>
            <a:off x="714375" y="3750050"/>
            <a:ext cx="5686425" cy="153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8B2222"/>
                </a:solidFill>
                <a:latin typeface="Noto Sans KR" panose="020B0200000000000000" pitchFamily="34" charset="-128"/>
                <a:ea typeface="Noto Sans KR" panose="020B0200000000000000" pitchFamily="34" charset="-128"/>
                <a:cs typeface="Open Sans SemiBold" pitchFamily="34" charset="-120"/>
              </a:rPr>
              <a:t>2026.05.08</a:t>
            </a:r>
            <a:endParaRPr lang="en-US" sz="1000" dirty="0"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  <p:sp>
        <p:nvSpPr>
          <p:cNvPr id="6" name="Shape 9">
            <a:extLst>
              <a:ext uri="{FF2B5EF4-FFF2-40B4-BE49-F238E27FC236}">
                <a16:creationId xmlns:a16="http://schemas.microsoft.com/office/drawing/2014/main" id="{D7C8696A-FB07-857F-1862-5C0A46C14071}"/>
              </a:ext>
            </a:extLst>
          </p:cNvPr>
          <p:cNvSpPr/>
          <p:nvPr/>
        </p:nvSpPr>
        <p:spPr>
          <a:xfrm>
            <a:off x="7351212" y="0"/>
            <a:ext cx="2743200" cy="5143500"/>
          </a:xfrm>
          <a:prstGeom prst="rect">
            <a:avLst/>
          </a:prstGeom>
          <a:solidFill>
            <a:srgbClr val="8B2222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  <p:sp>
        <p:nvSpPr>
          <p:cNvPr id="7" name="Text 10">
            <a:extLst>
              <a:ext uri="{FF2B5EF4-FFF2-40B4-BE49-F238E27FC236}">
                <a16:creationId xmlns:a16="http://schemas.microsoft.com/office/drawing/2014/main" id="{F5BBD4DF-A16B-3ECC-8FAF-E708CC90D8A9}"/>
              </a:ext>
            </a:extLst>
          </p:cNvPr>
          <p:cNvSpPr/>
          <p:nvPr/>
        </p:nvSpPr>
        <p:spPr>
          <a:xfrm rot="-5400000">
            <a:off x="6270215" y="1956196"/>
            <a:ext cx="4947047" cy="12311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0" b="1" kern="0" spc="8" dirty="0">
                <a:solidFill>
                  <a:srgbClr val="FFFFFF">
                    <a:alpha val="15000"/>
                  </a:srgbClr>
                </a:solidFill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QUANTIFI</a:t>
            </a:r>
            <a:endParaRPr lang="en-US" sz="8000" dirty="0"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1148358"/>
            <a:ext cx="1634133" cy="3770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8B2222"/>
                </a:solidFill>
                <a:latin typeface="Noto Sans KR" panose="020B0200000000000000" pitchFamily="34" charset="-128"/>
                <a:ea typeface="Noto Sans KR" panose="020B0200000000000000" pitchFamily="34" charset="-128"/>
                <a:cs typeface="Montserrat Bold" pitchFamily="34" charset="-120"/>
              </a:rPr>
              <a:t>Contents</a:t>
            </a:r>
            <a:r>
              <a:rPr lang="ko-KR" altLang="en-US" sz="2450" b="1" dirty="0">
                <a:solidFill>
                  <a:srgbClr val="8B2222"/>
                </a:solidFill>
                <a:latin typeface="Noto Sans KR" panose="020B0200000000000000" pitchFamily="34" charset="-128"/>
                <a:ea typeface="Noto Sans KR" panose="020B0200000000000000" pitchFamily="34" charset="-128"/>
                <a:cs typeface="Montserrat Bold" pitchFamily="34" charset="-120"/>
              </a:rPr>
              <a:t> </a:t>
            </a:r>
            <a:endParaRPr lang="en-US" sz="2450" dirty="0"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  <p:sp>
        <p:nvSpPr>
          <p:cNvPr id="4" name="Text 1"/>
          <p:cNvSpPr/>
          <p:nvPr/>
        </p:nvSpPr>
        <p:spPr>
          <a:xfrm>
            <a:off x="714375" y="2190452"/>
            <a:ext cx="222818" cy="19236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999999"/>
                </a:solidFill>
                <a:latin typeface="Noto Sans KR" panose="020B0200000000000000" pitchFamily="34" charset="-128"/>
                <a:ea typeface="Noto Sans KR" panose="020B0200000000000000" pitchFamily="34" charset="-128"/>
                <a:cs typeface="Montserrat Bold" pitchFamily="34" charset="-120"/>
              </a:rPr>
              <a:t>01.</a:t>
            </a:r>
            <a:endParaRPr lang="en-US" sz="1250" dirty="0"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  <p:sp>
        <p:nvSpPr>
          <p:cNvPr id="5" name="Text 2"/>
          <p:cNvSpPr/>
          <p:nvPr/>
        </p:nvSpPr>
        <p:spPr>
          <a:xfrm>
            <a:off x="1214438" y="2173486"/>
            <a:ext cx="2327076" cy="4308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r>
              <a:rPr lang="ko-KR" altLang="en-US" sz="1400" dirty="0">
                <a:solidFill>
                  <a:srgbClr val="333333"/>
                </a:solidFill>
                <a:latin typeface="Noto Sans KR" panose="020B0200000000000000" pitchFamily="34" charset="-128"/>
                <a:ea typeface="Noto Sans KR" panose="020B0200000000000000" pitchFamily="34" charset="-128"/>
                <a:cs typeface="Montserrat Bold" pitchFamily="34" charset="-120"/>
              </a:rPr>
              <a:t>프로젝트 개요 및 지수 방법론 </a:t>
            </a:r>
          </a:p>
          <a:p>
            <a:endParaRPr lang="en-US" sz="1400" dirty="0"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  <p:sp>
        <p:nvSpPr>
          <p:cNvPr id="6" name="Text 3"/>
          <p:cNvSpPr/>
          <p:nvPr/>
        </p:nvSpPr>
        <p:spPr>
          <a:xfrm>
            <a:off x="714375" y="2690515"/>
            <a:ext cx="222818" cy="19236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999999"/>
                </a:solidFill>
                <a:latin typeface="Noto Sans KR" panose="020B0200000000000000" pitchFamily="34" charset="-128"/>
                <a:ea typeface="Noto Sans KR" panose="020B0200000000000000" pitchFamily="34" charset="-128"/>
                <a:cs typeface="Montserrat Bold" pitchFamily="34" charset="-120"/>
              </a:rPr>
              <a:t>02.</a:t>
            </a:r>
            <a:endParaRPr lang="en-US" sz="1250" dirty="0"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  <p:sp>
        <p:nvSpPr>
          <p:cNvPr id="7" name="Text 4"/>
          <p:cNvSpPr/>
          <p:nvPr/>
        </p:nvSpPr>
        <p:spPr>
          <a:xfrm>
            <a:off x="1214438" y="2673548"/>
            <a:ext cx="2327077" cy="4308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r>
              <a:rPr lang="ko-KR" altLang="en-US" sz="1400" dirty="0">
                <a:solidFill>
                  <a:srgbClr val="333333"/>
                </a:solidFill>
                <a:latin typeface="Noto Sans KR" panose="020B0200000000000000" pitchFamily="34" charset="-128"/>
                <a:ea typeface="Noto Sans KR" panose="020B0200000000000000" pitchFamily="34" charset="-128"/>
                <a:cs typeface="Montserrat Bold" pitchFamily="34" charset="-120"/>
              </a:rPr>
              <a:t>비용 구조 및 백테스트 가정</a:t>
            </a:r>
          </a:p>
          <a:p>
            <a:endParaRPr lang="en-US" sz="1400" dirty="0"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  <p:sp>
        <p:nvSpPr>
          <p:cNvPr id="8" name="Text 5"/>
          <p:cNvSpPr/>
          <p:nvPr/>
        </p:nvSpPr>
        <p:spPr>
          <a:xfrm>
            <a:off x="714375" y="3190577"/>
            <a:ext cx="222818" cy="19236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999999"/>
                </a:solidFill>
                <a:latin typeface="Noto Sans KR" panose="020B0200000000000000" pitchFamily="34" charset="-128"/>
                <a:ea typeface="Noto Sans KR" panose="020B0200000000000000" pitchFamily="34" charset="-128"/>
                <a:cs typeface="Montserrat Bold" pitchFamily="34" charset="-120"/>
              </a:rPr>
              <a:t>03.</a:t>
            </a:r>
            <a:endParaRPr lang="en-US" sz="1250" dirty="0"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  <p:sp>
        <p:nvSpPr>
          <p:cNvPr id="9" name="Text 6"/>
          <p:cNvSpPr/>
          <p:nvPr/>
        </p:nvSpPr>
        <p:spPr>
          <a:xfrm>
            <a:off x="1214438" y="3173611"/>
            <a:ext cx="2282428" cy="4308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r>
              <a:rPr lang="ko-KR" altLang="en-US" sz="1400" dirty="0">
                <a:solidFill>
                  <a:srgbClr val="333333"/>
                </a:solidFill>
                <a:latin typeface="Noto Sans KR" panose="020B0200000000000000" pitchFamily="34" charset="-128"/>
                <a:ea typeface="Noto Sans KR" panose="020B0200000000000000" pitchFamily="34" charset="-128"/>
                <a:cs typeface="Montserrat Bold" pitchFamily="34" charset="-120"/>
              </a:rPr>
              <a:t>추적오차 분석</a:t>
            </a:r>
          </a:p>
          <a:p>
            <a:endParaRPr lang="en-US" sz="1400" dirty="0"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  <p:sp>
        <p:nvSpPr>
          <p:cNvPr id="10" name="Text 7"/>
          <p:cNvSpPr/>
          <p:nvPr/>
        </p:nvSpPr>
        <p:spPr>
          <a:xfrm>
            <a:off x="714375" y="3690640"/>
            <a:ext cx="222818" cy="19236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999999"/>
                </a:solidFill>
                <a:latin typeface="Noto Sans KR" panose="020B0200000000000000" pitchFamily="34" charset="-128"/>
                <a:ea typeface="Noto Sans KR" panose="020B0200000000000000" pitchFamily="34" charset="-128"/>
                <a:cs typeface="Montserrat Bold" pitchFamily="34" charset="-120"/>
              </a:rPr>
              <a:t>04.</a:t>
            </a:r>
            <a:endParaRPr lang="en-US" sz="1250" dirty="0"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  <p:sp>
        <p:nvSpPr>
          <p:cNvPr id="11" name="Text 8"/>
          <p:cNvSpPr/>
          <p:nvPr/>
        </p:nvSpPr>
        <p:spPr>
          <a:xfrm>
            <a:off x="1214438" y="3673673"/>
            <a:ext cx="1673535" cy="43088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r>
              <a:rPr lang="en-US" sz="1400" dirty="0">
                <a:solidFill>
                  <a:srgbClr val="333333"/>
                </a:solidFill>
                <a:latin typeface="Noto Sans KR" panose="020B0200000000000000" pitchFamily="34" charset="-128"/>
                <a:ea typeface="Noto Sans KR" panose="020B0200000000000000" pitchFamily="34" charset="-128"/>
                <a:cs typeface="Montserrat Bold" pitchFamily="34" charset="-120"/>
              </a:rPr>
              <a:t>He – </a:t>
            </a:r>
            <a:r>
              <a:rPr lang="en-US" sz="1400" dirty="0" err="1">
                <a:solidFill>
                  <a:srgbClr val="333333"/>
                </a:solidFill>
                <a:latin typeface="Noto Sans KR" panose="020B0200000000000000" pitchFamily="34" charset="-128"/>
                <a:ea typeface="Noto Sans KR" panose="020B0200000000000000" pitchFamily="34" charset="-128"/>
                <a:cs typeface="Montserrat Bold" pitchFamily="34" charset="-120"/>
              </a:rPr>
              <a:t>literman</a:t>
            </a:r>
            <a:r>
              <a:rPr lang="en-US" sz="1400" dirty="0">
                <a:solidFill>
                  <a:srgbClr val="333333"/>
                </a:solidFill>
                <a:latin typeface="Noto Sans KR" panose="020B0200000000000000" pitchFamily="34" charset="-128"/>
                <a:ea typeface="Noto Sans KR" panose="020B0200000000000000" pitchFamily="34" charset="-128"/>
                <a:cs typeface="Montserrat Bold" pitchFamily="34" charset="-120"/>
              </a:rPr>
              <a:t> Model</a:t>
            </a:r>
          </a:p>
          <a:p>
            <a:endParaRPr lang="en-US" sz="1400" dirty="0"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7351212" y="0"/>
            <a:ext cx="2743200" cy="5143500"/>
          </a:xfrm>
          <a:prstGeom prst="rect">
            <a:avLst/>
          </a:prstGeom>
          <a:solidFill>
            <a:srgbClr val="8B2222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  <p:sp>
        <p:nvSpPr>
          <p:cNvPr id="13" name="Text 10"/>
          <p:cNvSpPr/>
          <p:nvPr/>
        </p:nvSpPr>
        <p:spPr>
          <a:xfrm rot="-5400000">
            <a:off x="6270215" y="1956196"/>
            <a:ext cx="4947047" cy="12311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0" b="1" kern="0" spc="8" dirty="0">
                <a:solidFill>
                  <a:srgbClr val="FFFFFF">
                    <a:alpha val="15000"/>
                  </a:srgbClr>
                </a:solidFill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QUANTIFI</a:t>
            </a:r>
            <a:endParaRPr lang="en-US" sz="8000" dirty="0"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81596" y="636554"/>
            <a:ext cx="1627048" cy="28437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2100" b="1" dirty="0" err="1">
                <a:solidFill>
                  <a:srgbClr val="8B2222"/>
                </a:solidFill>
                <a:latin typeface="Noto Sans KR" panose="020B0200000000000000" pitchFamily="34" charset="-128"/>
                <a:ea typeface="Noto Sans KR" panose="020B0200000000000000" pitchFamily="34" charset="-128"/>
                <a:cs typeface="Montserrat Bold" pitchFamily="34" charset="-120"/>
              </a:rPr>
              <a:t>프로젝트</a:t>
            </a:r>
            <a:r>
              <a:rPr lang="en-US" sz="2100" b="1" dirty="0">
                <a:solidFill>
                  <a:srgbClr val="8B2222"/>
                </a:solidFill>
                <a:latin typeface="Noto Sans KR" panose="020B0200000000000000" pitchFamily="34" charset="-128"/>
                <a:ea typeface="Noto Sans KR" panose="020B0200000000000000" pitchFamily="34" charset="-128"/>
                <a:cs typeface="Montserrat Bold" pitchFamily="34" charset="-120"/>
              </a:rPr>
              <a:t> </a:t>
            </a:r>
            <a:r>
              <a:rPr lang="en-US" sz="2100" b="1" dirty="0" err="1">
                <a:solidFill>
                  <a:srgbClr val="8B2222"/>
                </a:solidFill>
                <a:latin typeface="Noto Sans KR" panose="020B0200000000000000" pitchFamily="34" charset="-128"/>
                <a:ea typeface="Noto Sans KR" panose="020B0200000000000000" pitchFamily="34" charset="-128"/>
                <a:cs typeface="Montserrat Bold" pitchFamily="34" charset="-120"/>
              </a:rPr>
              <a:t>개요</a:t>
            </a:r>
            <a:endParaRPr lang="en-US" sz="2100" dirty="0"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  <p:sp>
        <p:nvSpPr>
          <p:cNvPr id="6" name="Text 2"/>
          <p:cNvSpPr/>
          <p:nvPr/>
        </p:nvSpPr>
        <p:spPr>
          <a:xfrm>
            <a:off x="452120" y="1591275"/>
            <a:ext cx="2286000" cy="1846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33333"/>
                </a:solidFill>
                <a:latin typeface="Noto Sans KR" panose="020B0200000000000000" pitchFamily="34" charset="-128"/>
                <a:ea typeface="Noto Sans KR" panose="020B0200000000000000" pitchFamily="34" charset="-128"/>
                <a:cs typeface="Montserrat Bold" pitchFamily="34" charset="-120"/>
              </a:rPr>
              <a:t>정교한 복제</a:t>
            </a:r>
            <a:endParaRPr lang="en-US" sz="1200" dirty="0"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  <p:sp>
        <p:nvSpPr>
          <p:cNvPr id="7" name="Text 3"/>
          <p:cNvSpPr/>
          <p:nvPr/>
        </p:nvSpPr>
        <p:spPr>
          <a:xfrm>
            <a:off x="491097" y="1940182"/>
            <a:ext cx="2286000" cy="4864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50" dirty="0">
                <a:solidFill>
                  <a:srgbClr val="666666"/>
                </a:solidFill>
                <a:latin typeface="Noto Sans KR" panose="020B0200000000000000" pitchFamily="34" charset="-128"/>
                <a:ea typeface="Noto Sans KR" panose="020B0200000000000000" pitchFamily="34" charset="-128"/>
                <a:cs typeface="Open Sans" pitchFamily="34" charset="-120"/>
              </a:rPr>
              <a:t>KODEX AI전력핵심설비 ETF의 기초지수 방법론과 실제 PDF 비중 데이터를 최대한 복제하여 분석의 기초를 마련합니다.</a:t>
            </a:r>
            <a:endParaRPr lang="en-US" sz="850" dirty="0"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2FDF2E10-47F4-BDF0-6614-145E1439F0E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02" y="4714129"/>
            <a:ext cx="1085140" cy="353756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B6E526DC-7A1D-7E83-7BEB-7694CA66BC1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70263" y="1176419"/>
            <a:ext cx="2868930" cy="1559595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E90DED65-B679-A637-BF33-1E963FF912D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07050" y="1176419"/>
            <a:ext cx="3073400" cy="1028700"/>
          </a:xfrm>
          <a:prstGeom prst="rect">
            <a:avLst/>
          </a:prstGeom>
        </p:spPr>
      </p:pic>
      <p:sp>
        <p:nvSpPr>
          <p:cNvPr id="17" name="Shape 2">
            <a:extLst>
              <a:ext uri="{FF2B5EF4-FFF2-40B4-BE49-F238E27FC236}">
                <a16:creationId xmlns:a16="http://schemas.microsoft.com/office/drawing/2014/main" id="{3149B69A-EB61-A80B-A25A-0768B41F529E}"/>
              </a:ext>
            </a:extLst>
          </p:cNvPr>
          <p:cNvSpPr/>
          <p:nvPr/>
        </p:nvSpPr>
        <p:spPr>
          <a:xfrm>
            <a:off x="560977" y="2779716"/>
            <a:ext cx="3893344" cy="930049"/>
          </a:xfrm>
          <a:prstGeom prst="rect">
            <a:avLst/>
          </a:prstGeom>
          <a:solidFill>
            <a:srgbClr val="FFFFFF"/>
          </a:solidFill>
          <a:ln w="9144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ko-KR" altLang="en-US"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  <p:sp>
        <p:nvSpPr>
          <p:cNvPr id="18" name="Text 3">
            <a:extLst>
              <a:ext uri="{FF2B5EF4-FFF2-40B4-BE49-F238E27FC236}">
                <a16:creationId xmlns:a16="http://schemas.microsoft.com/office/drawing/2014/main" id="{FA02E8D9-98C2-3D14-EF1E-56C6035988A4}"/>
              </a:ext>
            </a:extLst>
          </p:cNvPr>
          <p:cNvSpPr/>
          <p:nvPr/>
        </p:nvSpPr>
        <p:spPr>
          <a:xfrm>
            <a:off x="739570" y="2958309"/>
            <a:ext cx="3536155" cy="1692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8B2222"/>
                </a:solidFill>
                <a:latin typeface="Noto Sans KR" panose="020B0200000000000000" pitchFamily="34" charset="-128"/>
                <a:ea typeface="Noto Sans KR" panose="020B0200000000000000" pitchFamily="34" charset="-128"/>
                <a:cs typeface="Montserrat Bold" pitchFamily="34" charset="-120"/>
              </a:rPr>
              <a:t>PDF </a:t>
            </a:r>
            <a:r>
              <a:rPr lang="en-US" sz="1100" b="1" dirty="0" err="1">
                <a:solidFill>
                  <a:srgbClr val="8B2222"/>
                </a:solidFill>
                <a:latin typeface="Noto Sans KR" panose="020B0200000000000000" pitchFamily="34" charset="-128"/>
                <a:ea typeface="Noto Sans KR" panose="020B0200000000000000" pitchFamily="34" charset="-128"/>
                <a:cs typeface="Montserrat Bold" pitchFamily="34" charset="-120"/>
              </a:rPr>
              <a:t>복제</a:t>
            </a:r>
            <a:r>
              <a:rPr lang="en-US" sz="1100" b="1" dirty="0">
                <a:solidFill>
                  <a:srgbClr val="8B2222"/>
                </a:solidFill>
                <a:latin typeface="Noto Sans KR" panose="020B0200000000000000" pitchFamily="34" charset="-128"/>
                <a:ea typeface="Noto Sans KR" panose="020B0200000000000000" pitchFamily="34" charset="-128"/>
                <a:cs typeface="Montserrat Bold" pitchFamily="34" charset="-120"/>
              </a:rPr>
              <a:t> </a:t>
            </a:r>
            <a:r>
              <a:rPr lang="en-US" sz="1100" b="1" dirty="0" err="1">
                <a:solidFill>
                  <a:srgbClr val="8B2222"/>
                </a:solidFill>
                <a:latin typeface="Noto Sans KR" panose="020B0200000000000000" pitchFamily="34" charset="-128"/>
                <a:ea typeface="Noto Sans KR" panose="020B0200000000000000" pitchFamily="34" charset="-128"/>
                <a:cs typeface="Montserrat Bold" pitchFamily="34" charset="-120"/>
              </a:rPr>
              <a:t>포트폴리오</a:t>
            </a:r>
            <a:r>
              <a:rPr lang="ko-KR" altLang="en-US" sz="1100" b="1" dirty="0">
                <a:solidFill>
                  <a:srgbClr val="8B2222"/>
                </a:solidFill>
                <a:latin typeface="Noto Sans KR" panose="020B0200000000000000" pitchFamily="34" charset="-128"/>
                <a:ea typeface="Noto Sans KR" panose="020B0200000000000000" pitchFamily="34" charset="-128"/>
                <a:cs typeface="Montserrat Bold" pitchFamily="34" charset="-120"/>
              </a:rPr>
              <a:t> </a:t>
            </a:r>
            <a:r>
              <a:rPr lang="en-US" altLang="ko-KR" sz="1100" b="1" dirty="0">
                <a:solidFill>
                  <a:srgbClr val="8B2222"/>
                </a:solidFill>
                <a:latin typeface="Noto Sans KR" panose="020B0200000000000000" pitchFamily="34" charset="-128"/>
                <a:ea typeface="Noto Sans KR" panose="020B0200000000000000" pitchFamily="34" charset="-128"/>
                <a:cs typeface="Montserrat Bold" pitchFamily="34" charset="-120"/>
              </a:rPr>
              <a:t>(Portfolio Deposit File)</a:t>
            </a:r>
            <a:endParaRPr lang="en-US" sz="1100" dirty="0"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  <p:sp>
        <p:nvSpPr>
          <p:cNvPr id="19" name="Text 4">
            <a:extLst>
              <a:ext uri="{FF2B5EF4-FFF2-40B4-BE49-F238E27FC236}">
                <a16:creationId xmlns:a16="http://schemas.microsoft.com/office/drawing/2014/main" id="{C9C53CEC-DA5F-C2A8-F1F9-C7691D76553E}"/>
              </a:ext>
            </a:extLst>
          </p:cNvPr>
          <p:cNvSpPr/>
          <p:nvPr/>
        </p:nvSpPr>
        <p:spPr>
          <a:xfrm>
            <a:off x="739571" y="3277992"/>
            <a:ext cx="3536156" cy="3189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50" dirty="0">
                <a:solidFill>
                  <a:srgbClr val="555555"/>
                </a:solidFill>
                <a:latin typeface="Noto Sans KR" panose="020B0200000000000000" pitchFamily="34" charset="-128"/>
                <a:ea typeface="Noto Sans KR" panose="020B0200000000000000" pitchFamily="34" charset="-128"/>
                <a:cs typeface="Open Sans" pitchFamily="34" charset="-120"/>
              </a:rPr>
              <a:t>KRX PDF에서 수집한 실제 ETF 구성종목/비중을 사용하며, 당일 수익률 계산에는 전일 PDF 비중을 적용한 내부 복제 모델입니다.</a:t>
            </a:r>
            <a:endParaRPr lang="en-US" sz="850" dirty="0"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  <p:sp>
        <p:nvSpPr>
          <p:cNvPr id="20" name="Shape 5">
            <a:extLst>
              <a:ext uri="{FF2B5EF4-FFF2-40B4-BE49-F238E27FC236}">
                <a16:creationId xmlns:a16="http://schemas.microsoft.com/office/drawing/2014/main" id="{D45A44F7-3E4A-65BE-DE6F-553282E8F482}"/>
              </a:ext>
            </a:extLst>
          </p:cNvPr>
          <p:cNvSpPr/>
          <p:nvPr/>
        </p:nvSpPr>
        <p:spPr>
          <a:xfrm>
            <a:off x="4668633" y="2779716"/>
            <a:ext cx="3893344" cy="930049"/>
          </a:xfrm>
          <a:prstGeom prst="rect">
            <a:avLst/>
          </a:prstGeom>
          <a:solidFill>
            <a:srgbClr val="FFFFFF"/>
          </a:solidFill>
          <a:ln w="9144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ko-KR" altLang="en-US"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  <p:sp>
        <p:nvSpPr>
          <p:cNvPr id="21" name="Text 6">
            <a:extLst>
              <a:ext uri="{FF2B5EF4-FFF2-40B4-BE49-F238E27FC236}">
                <a16:creationId xmlns:a16="http://schemas.microsoft.com/office/drawing/2014/main" id="{8E434691-9792-E85F-FB3C-6638B4797AEA}"/>
              </a:ext>
            </a:extLst>
          </p:cNvPr>
          <p:cNvSpPr/>
          <p:nvPr/>
        </p:nvSpPr>
        <p:spPr>
          <a:xfrm>
            <a:off x="4847227" y="2913599"/>
            <a:ext cx="1301948" cy="1692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8B2222"/>
                </a:solidFill>
                <a:latin typeface="Noto Sans KR" panose="020B0200000000000000" pitchFamily="34" charset="-128"/>
                <a:ea typeface="Noto Sans KR" panose="020B0200000000000000" pitchFamily="34" charset="-128"/>
                <a:cs typeface="Montserrat Bold" pitchFamily="34" charset="-120"/>
              </a:rPr>
              <a:t>NAV (순자산가치)</a:t>
            </a:r>
            <a:endParaRPr lang="en-US" sz="1100" dirty="0"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  <p:sp>
        <p:nvSpPr>
          <p:cNvPr id="22" name="Text 7">
            <a:extLst>
              <a:ext uri="{FF2B5EF4-FFF2-40B4-BE49-F238E27FC236}">
                <a16:creationId xmlns:a16="http://schemas.microsoft.com/office/drawing/2014/main" id="{B945147E-3FD7-03AF-4895-C7152E57ABB0}"/>
              </a:ext>
            </a:extLst>
          </p:cNvPr>
          <p:cNvSpPr/>
          <p:nvPr/>
        </p:nvSpPr>
        <p:spPr>
          <a:xfrm>
            <a:off x="4847227" y="3277992"/>
            <a:ext cx="3536156" cy="1622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28000"/>
              </a:lnSpc>
            </a:pPr>
            <a:r>
              <a:rPr lang="en-US" sz="850" dirty="0">
                <a:solidFill>
                  <a:srgbClr val="555555"/>
                </a:solidFill>
                <a:latin typeface="Noto Sans KR" panose="020B0200000000000000" pitchFamily="34" charset="-128"/>
                <a:ea typeface="Noto Sans KR" panose="020B0200000000000000" pitchFamily="34" charset="-128"/>
                <a:cs typeface="Open Sans" pitchFamily="34" charset="-120"/>
              </a:rPr>
              <a:t>ETF 1좌당 순자산가치로</a:t>
            </a:r>
            <a:r>
              <a:rPr lang="en-US" sz="850" dirty="0">
                <a:solidFill>
                  <a:schemeClr val="bg2">
                    <a:lumMod val="25000"/>
                  </a:schemeClr>
                </a:solidFill>
                <a:latin typeface="Noto Sans KR" panose="020B0200000000000000" pitchFamily="34" charset="-128"/>
                <a:ea typeface="Noto Sans KR" panose="020B0200000000000000" pitchFamily="34" charset="-128"/>
                <a:cs typeface="Open Sans" pitchFamily="34" charset="-120"/>
              </a:rPr>
              <a:t>, </a:t>
            </a:r>
            <a:r>
              <a:rPr lang="en" altLang="ko-KR" sz="900" dirty="0">
                <a:solidFill>
                  <a:schemeClr val="bg2">
                    <a:lumMod val="50000"/>
                  </a:schemeClr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ETF </a:t>
            </a:r>
            <a:r>
              <a:rPr lang="ko-KR" altLang="en-US" sz="900" dirty="0">
                <a:solidFill>
                  <a:schemeClr val="bg2">
                    <a:lumMod val="50000"/>
                  </a:schemeClr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한 주가 실제로 품고 있는 자산가치입니다</a:t>
            </a:r>
            <a:r>
              <a:rPr lang="en-US" altLang="ko-KR" sz="900" dirty="0">
                <a:solidFill>
                  <a:schemeClr val="bg2">
                    <a:lumMod val="50000"/>
                  </a:schemeClr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.</a:t>
            </a:r>
            <a:endParaRPr lang="en-US" sz="850" dirty="0">
              <a:solidFill>
                <a:schemeClr val="bg2">
                  <a:lumMod val="50000"/>
                </a:schemeClr>
              </a:solidFill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  <p:sp>
        <p:nvSpPr>
          <p:cNvPr id="23" name="Shape 8">
            <a:extLst>
              <a:ext uri="{FF2B5EF4-FFF2-40B4-BE49-F238E27FC236}">
                <a16:creationId xmlns:a16="http://schemas.microsoft.com/office/drawing/2014/main" id="{8309218F-C282-E486-AC7B-5B2B266C5708}"/>
              </a:ext>
            </a:extLst>
          </p:cNvPr>
          <p:cNvSpPr/>
          <p:nvPr/>
        </p:nvSpPr>
        <p:spPr>
          <a:xfrm>
            <a:off x="560977" y="3725970"/>
            <a:ext cx="3893344" cy="827315"/>
          </a:xfrm>
          <a:prstGeom prst="rect">
            <a:avLst/>
          </a:prstGeom>
          <a:solidFill>
            <a:srgbClr val="FFFFFF"/>
          </a:solidFill>
          <a:ln w="9144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ko-KR" altLang="en-US"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  <p:sp>
        <p:nvSpPr>
          <p:cNvPr id="24" name="Text 9">
            <a:extLst>
              <a:ext uri="{FF2B5EF4-FFF2-40B4-BE49-F238E27FC236}">
                <a16:creationId xmlns:a16="http://schemas.microsoft.com/office/drawing/2014/main" id="{7D12B562-DF98-ADE1-D3B6-20189C3A139A}"/>
              </a:ext>
            </a:extLst>
          </p:cNvPr>
          <p:cNvSpPr/>
          <p:nvPr/>
        </p:nvSpPr>
        <p:spPr>
          <a:xfrm>
            <a:off x="715865" y="3835476"/>
            <a:ext cx="519373" cy="1692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8B2222"/>
                </a:solidFill>
                <a:latin typeface="Noto Sans KR" panose="020B0200000000000000" pitchFamily="34" charset="-128"/>
                <a:ea typeface="Noto Sans KR" panose="020B0200000000000000" pitchFamily="34" charset="-128"/>
                <a:cs typeface="Montserrat Bold" pitchFamily="34" charset="-120"/>
              </a:rPr>
              <a:t>기초지수</a:t>
            </a:r>
            <a:endParaRPr lang="en-US" sz="1100" dirty="0"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  <p:sp>
        <p:nvSpPr>
          <p:cNvPr id="25" name="Text 10">
            <a:extLst>
              <a:ext uri="{FF2B5EF4-FFF2-40B4-BE49-F238E27FC236}">
                <a16:creationId xmlns:a16="http://schemas.microsoft.com/office/drawing/2014/main" id="{46DB2329-9875-204D-A609-1FEF77A71FC0}"/>
              </a:ext>
            </a:extLst>
          </p:cNvPr>
          <p:cNvSpPr/>
          <p:nvPr/>
        </p:nvSpPr>
        <p:spPr>
          <a:xfrm>
            <a:off x="739571" y="4133419"/>
            <a:ext cx="3536156" cy="3189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50" dirty="0">
                <a:solidFill>
                  <a:srgbClr val="555555"/>
                </a:solidFill>
                <a:latin typeface="Noto Sans KR" panose="020B0200000000000000" pitchFamily="34" charset="-128"/>
                <a:ea typeface="Noto Sans KR" panose="020B0200000000000000" pitchFamily="34" charset="-128"/>
                <a:cs typeface="Open Sans" pitchFamily="34" charset="-120"/>
              </a:rPr>
              <a:t>ETF가 추종하는 iSelect AI전력핵심설비 지수로, 유동시가총액 가중 방식과 20% Ceiling 제약 조건이 </a:t>
            </a:r>
            <a:r>
              <a:rPr lang="en-US" sz="850" dirty="0" err="1">
                <a:solidFill>
                  <a:srgbClr val="555555"/>
                </a:solidFill>
                <a:latin typeface="Noto Sans KR" panose="020B0200000000000000" pitchFamily="34" charset="-128"/>
                <a:ea typeface="Noto Sans KR" panose="020B0200000000000000" pitchFamily="34" charset="-128"/>
                <a:cs typeface="Open Sans" pitchFamily="34" charset="-120"/>
              </a:rPr>
              <a:t>적용됩니다</a:t>
            </a:r>
            <a:r>
              <a:rPr lang="en-US" sz="850" dirty="0">
                <a:solidFill>
                  <a:srgbClr val="555555"/>
                </a:solidFill>
                <a:latin typeface="Noto Sans KR" panose="020B0200000000000000" pitchFamily="34" charset="-128"/>
                <a:ea typeface="Noto Sans KR" panose="020B0200000000000000" pitchFamily="34" charset="-128"/>
                <a:cs typeface="Open Sans" pitchFamily="34" charset="-120"/>
              </a:rPr>
              <a:t>.</a:t>
            </a:r>
            <a:endParaRPr lang="en-US" sz="850" dirty="0"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  <p:sp>
        <p:nvSpPr>
          <p:cNvPr id="26" name="Shape 11">
            <a:extLst>
              <a:ext uri="{FF2B5EF4-FFF2-40B4-BE49-F238E27FC236}">
                <a16:creationId xmlns:a16="http://schemas.microsoft.com/office/drawing/2014/main" id="{8DD67041-E402-D3B1-05CE-0A40981CA15E}"/>
              </a:ext>
            </a:extLst>
          </p:cNvPr>
          <p:cNvSpPr/>
          <p:nvPr/>
        </p:nvSpPr>
        <p:spPr>
          <a:xfrm>
            <a:off x="4668633" y="3725970"/>
            <a:ext cx="3893344" cy="827315"/>
          </a:xfrm>
          <a:prstGeom prst="rect">
            <a:avLst/>
          </a:prstGeom>
          <a:solidFill>
            <a:srgbClr val="FFFFFF"/>
          </a:solidFill>
          <a:ln w="9144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ko-KR" altLang="en-US"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  <p:sp>
        <p:nvSpPr>
          <p:cNvPr id="27" name="Text 12">
            <a:extLst>
              <a:ext uri="{FF2B5EF4-FFF2-40B4-BE49-F238E27FC236}">
                <a16:creationId xmlns:a16="http://schemas.microsoft.com/office/drawing/2014/main" id="{46E2CE99-A420-6DE8-0B1F-3737ACD636A9}"/>
              </a:ext>
            </a:extLst>
          </p:cNvPr>
          <p:cNvSpPr/>
          <p:nvPr/>
        </p:nvSpPr>
        <p:spPr>
          <a:xfrm>
            <a:off x="4851993" y="3843648"/>
            <a:ext cx="807913" cy="1692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8B2222"/>
                </a:solidFill>
                <a:latin typeface="Noto Sans KR" panose="020B0200000000000000" pitchFamily="34" charset="-128"/>
                <a:ea typeface="Noto Sans KR" panose="020B0200000000000000" pitchFamily="34" charset="-128"/>
                <a:cs typeface="Montserrat Bold" pitchFamily="34" charset="-120"/>
              </a:rPr>
              <a:t>ETF 시장가격</a:t>
            </a:r>
            <a:endParaRPr lang="en-US" sz="1100" dirty="0"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  <p:sp>
        <p:nvSpPr>
          <p:cNvPr id="28" name="Text 13">
            <a:extLst>
              <a:ext uri="{FF2B5EF4-FFF2-40B4-BE49-F238E27FC236}">
                <a16:creationId xmlns:a16="http://schemas.microsoft.com/office/drawing/2014/main" id="{C046305C-4739-E3CE-DCB2-CB7E250E3F5C}"/>
              </a:ext>
            </a:extLst>
          </p:cNvPr>
          <p:cNvSpPr/>
          <p:nvPr/>
        </p:nvSpPr>
        <p:spPr>
          <a:xfrm>
            <a:off x="4847227" y="4133419"/>
            <a:ext cx="3536156" cy="3189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50" dirty="0">
                <a:solidFill>
                  <a:srgbClr val="555555"/>
                </a:solidFill>
                <a:latin typeface="Noto Sans KR" panose="020B0200000000000000" pitchFamily="34" charset="-128"/>
                <a:ea typeface="Noto Sans KR" panose="020B0200000000000000" pitchFamily="34" charset="-128"/>
                <a:cs typeface="Open Sans" pitchFamily="34" charset="-120"/>
              </a:rPr>
              <a:t>장내에서 거래되는 ETF의 실제 종가로, 괴리율, 수급 상황, 호가 영향 등에 의해 NAV와 일시적으로 다를 수 있습니다.</a:t>
            </a:r>
            <a:endParaRPr lang="en-US" sz="850" dirty="0"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  <p:pic>
        <p:nvPicPr>
          <p:cNvPr id="29" name="그림 28">
            <a:extLst>
              <a:ext uri="{FF2B5EF4-FFF2-40B4-BE49-F238E27FC236}">
                <a16:creationId xmlns:a16="http://schemas.microsoft.com/office/drawing/2014/main" id="{AAE9E37B-CFBF-9AD4-2AFD-B8FB01E48A0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59906" y="2291570"/>
            <a:ext cx="2798294" cy="45755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501"/>
            <a:ext cx="914400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64381" y="622195"/>
            <a:ext cx="3606757" cy="28437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2100" b="1" dirty="0">
                <a:solidFill>
                  <a:srgbClr val="8B2222"/>
                </a:solidFill>
                <a:latin typeface="Noto Sans KR" panose="020B0200000000000000" pitchFamily="34" charset="-128"/>
                <a:ea typeface="Noto Sans KR" panose="020B0200000000000000" pitchFamily="34" charset="-128"/>
                <a:cs typeface="Montserrat Bold" pitchFamily="34" charset="-120"/>
              </a:rPr>
              <a:t>지수 방법론 및 기업 이벤트 처리</a:t>
            </a:r>
            <a:endParaRPr lang="en-US" sz="2100" dirty="0"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  <p:sp>
        <p:nvSpPr>
          <p:cNvPr id="5" name="Shape 2"/>
          <p:cNvSpPr/>
          <p:nvPr/>
        </p:nvSpPr>
        <p:spPr>
          <a:xfrm>
            <a:off x="571500" y="1371600"/>
            <a:ext cx="3857625" cy="1800225"/>
          </a:xfrm>
          <a:prstGeom prst="rect">
            <a:avLst/>
          </a:prstGeom>
          <a:solidFill>
            <a:srgbClr val="FFFFFF"/>
          </a:solidFill>
          <a:ln w="9144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ko-KR" altLang="en-US"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  <p:sp>
        <p:nvSpPr>
          <p:cNvPr id="6" name="Shape 3"/>
          <p:cNvSpPr/>
          <p:nvPr/>
        </p:nvSpPr>
        <p:spPr>
          <a:xfrm>
            <a:off x="571500" y="1371600"/>
            <a:ext cx="3857625" cy="357188"/>
          </a:xfrm>
          <a:prstGeom prst="rect">
            <a:avLst/>
          </a:prstGeom>
          <a:solidFill>
            <a:srgbClr val="8B2222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  <p:sp>
        <p:nvSpPr>
          <p:cNvPr id="7" name="Text 4"/>
          <p:cNvSpPr/>
          <p:nvPr/>
        </p:nvSpPr>
        <p:spPr>
          <a:xfrm>
            <a:off x="571500" y="1371600"/>
            <a:ext cx="3857625" cy="224420"/>
          </a:xfrm>
          <a:prstGeom prst="rect">
            <a:avLst/>
          </a:prstGeom>
          <a:noFill/>
          <a:ln/>
        </p:spPr>
        <p:txBody>
          <a:bodyPr wrap="square" lIns="170053" tIns="85090" rIns="170053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anose="020B0200000000000000" pitchFamily="34" charset="-128"/>
                <a:ea typeface="Noto Sans KR" panose="020B0200000000000000" pitchFamily="34" charset="-128"/>
                <a:cs typeface="Montserrat Bold" pitchFamily="34" charset="-120"/>
              </a:rPr>
              <a:t>iSelect 지수 방법론</a:t>
            </a:r>
            <a:endParaRPr lang="en-US" sz="900" dirty="0"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375" y="1907381"/>
            <a:ext cx="100013" cy="100013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00113" y="1871663"/>
            <a:ext cx="3386138" cy="2829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333333"/>
                </a:solidFill>
                <a:latin typeface="Noto Sans KR" panose="020B0200000000000000" pitchFamily="34" charset="-128"/>
                <a:ea typeface="Noto Sans KR" panose="020B0200000000000000" pitchFamily="34" charset="-128"/>
                <a:cs typeface="Open Sans SemiBold" pitchFamily="34" charset="-120"/>
              </a:rPr>
              <a:t>종목 선정:</a:t>
            </a:r>
            <a:r>
              <a:rPr lang="en-US" sz="800" dirty="0">
                <a:solidFill>
                  <a:srgbClr val="555555"/>
                </a:solidFill>
                <a:latin typeface="Noto Sans KR" panose="020B0200000000000000" pitchFamily="34" charset="-128"/>
                <a:ea typeface="Noto Sans KR" panose="020B0200000000000000" pitchFamily="34" charset="-128"/>
                <a:cs typeface="Open Sans" pitchFamily="34" charset="-120"/>
              </a:rPr>
              <a:t> NLP 키워드 필터와 정성평가를 병행하여 AI 전력설비 관련 핵심 기업을 유니버스로 선정합니다.</a:t>
            </a:r>
            <a:endParaRPr lang="en-US" sz="750" dirty="0"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375" y="2336006"/>
            <a:ext cx="100013" cy="100013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00113" y="2300288"/>
            <a:ext cx="3386138" cy="2829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333333"/>
                </a:solidFill>
                <a:latin typeface="Noto Sans KR" panose="020B0200000000000000" pitchFamily="34" charset="-128"/>
                <a:ea typeface="Noto Sans KR" panose="020B0200000000000000" pitchFamily="34" charset="-128"/>
                <a:cs typeface="Open Sans SemiBold" pitchFamily="34" charset="-120"/>
              </a:rPr>
              <a:t>비중 산출:</a:t>
            </a:r>
            <a:r>
              <a:rPr lang="en-US" sz="800" dirty="0">
                <a:solidFill>
                  <a:srgbClr val="555555"/>
                </a:solidFill>
                <a:latin typeface="Noto Sans KR" panose="020B0200000000000000" pitchFamily="34" charset="-128"/>
                <a:ea typeface="Noto Sans KR" panose="020B0200000000000000" pitchFamily="34" charset="-128"/>
                <a:cs typeface="Open Sans" pitchFamily="34" charset="-120"/>
              </a:rPr>
              <a:t> 유동시가총액 가중 방식을 적용하며, 리밸런싱 시점 기준 개별 종목 비중을 20%로 제한(Ceiling)합니다.</a:t>
            </a:r>
            <a:endParaRPr lang="en-US" sz="750" dirty="0"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375" y="2764631"/>
            <a:ext cx="100013" cy="100013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900113" y="2728913"/>
            <a:ext cx="3386138" cy="2829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333333"/>
                </a:solidFill>
                <a:latin typeface="Noto Sans KR" panose="020B0200000000000000" pitchFamily="34" charset="-128"/>
                <a:ea typeface="Noto Sans KR" panose="020B0200000000000000" pitchFamily="34" charset="-128"/>
                <a:cs typeface="Open Sans SemiBold" pitchFamily="34" charset="-120"/>
              </a:rPr>
              <a:t>정기 변경:</a:t>
            </a:r>
            <a:r>
              <a:rPr lang="en-US" sz="800" dirty="0">
                <a:solidFill>
                  <a:srgbClr val="555555"/>
                </a:solidFill>
                <a:latin typeface="Noto Sans KR" panose="020B0200000000000000" pitchFamily="34" charset="-128"/>
                <a:ea typeface="Noto Sans KR" panose="020B0200000000000000" pitchFamily="34" charset="-128"/>
                <a:cs typeface="Open Sans" pitchFamily="34" charset="-120"/>
              </a:rPr>
              <a:t> 매년 6월과 12월 옵션 만기일 익주 첫 영업일에 정기적인 종목 교체 및 비중 조정을 실시합니다.</a:t>
            </a:r>
            <a:endParaRPr lang="en-US" sz="750" dirty="0"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  <p:sp>
        <p:nvSpPr>
          <p:cNvPr id="14" name="Shape 8"/>
          <p:cNvSpPr/>
          <p:nvPr/>
        </p:nvSpPr>
        <p:spPr>
          <a:xfrm>
            <a:off x="4714875" y="1371600"/>
            <a:ext cx="3857625" cy="1800225"/>
          </a:xfrm>
          <a:prstGeom prst="rect">
            <a:avLst/>
          </a:prstGeom>
          <a:solidFill>
            <a:srgbClr val="FFFFFF"/>
          </a:solidFill>
          <a:ln w="9144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ko-KR" altLang="en-US"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  <p:sp>
        <p:nvSpPr>
          <p:cNvPr id="15" name="Shape 9"/>
          <p:cNvSpPr/>
          <p:nvPr/>
        </p:nvSpPr>
        <p:spPr>
          <a:xfrm>
            <a:off x="4714875" y="1371600"/>
            <a:ext cx="3857625" cy="357188"/>
          </a:xfrm>
          <a:prstGeom prst="rect">
            <a:avLst/>
          </a:prstGeom>
          <a:solidFill>
            <a:srgbClr val="8B2222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  <p:sp>
        <p:nvSpPr>
          <p:cNvPr id="16" name="Text 10"/>
          <p:cNvSpPr/>
          <p:nvPr/>
        </p:nvSpPr>
        <p:spPr>
          <a:xfrm>
            <a:off x="4714875" y="1371600"/>
            <a:ext cx="3857625" cy="224420"/>
          </a:xfrm>
          <a:prstGeom prst="rect">
            <a:avLst/>
          </a:prstGeom>
          <a:noFill/>
          <a:ln/>
        </p:spPr>
        <p:txBody>
          <a:bodyPr wrap="square" lIns="170053" tIns="85090" rIns="170053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anose="020B0200000000000000" pitchFamily="34" charset="-128"/>
                <a:ea typeface="Noto Sans KR" panose="020B0200000000000000" pitchFamily="34" charset="-128"/>
                <a:cs typeface="Montserrat Bold" pitchFamily="34" charset="-120"/>
              </a:rPr>
              <a:t>기업 이벤트 및 연속성 유지</a:t>
            </a:r>
            <a:endParaRPr lang="en-US" sz="900" dirty="0"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7750" y="1907381"/>
            <a:ext cx="100013" cy="100013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5043488" y="1871663"/>
            <a:ext cx="3386138" cy="2829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333333"/>
                </a:solidFill>
                <a:latin typeface="Noto Sans KR" panose="020B0200000000000000" pitchFamily="34" charset="-128"/>
                <a:ea typeface="Noto Sans KR" panose="020B0200000000000000" pitchFamily="34" charset="-128"/>
                <a:cs typeface="Open Sans SemiBold" pitchFamily="34" charset="-120"/>
              </a:rPr>
              <a:t>지수 연속성:</a:t>
            </a:r>
            <a:r>
              <a:rPr lang="en-US" sz="800" dirty="0">
                <a:solidFill>
                  <a:srgbClr val="555555"/>
                </a:solidFill>
                <a:latin typeface="Noto Sans KR" panose="020B0200000000000000" pitchFamily="34" charset="-128"/>
                <a:ea typeface="Noto Sans KR" panose="020B0200000000000000" pitchFamily="34" charset="-128"/>
                <a:cs typeface="Open Sans" pitchFamily="34" charset="-120"/>
              </a:rPr>
              <a:t> 유/무상증자, 액면분할 등 자본 변동 발생 시 기준시가총액 조정을 통해 지수의 연속성을 유지합니다.</a:t>
            </a:r>
            <a:endParaRPr lang="en-US" sz="750" dirty="0"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7750" y="2336006"/>
            <a:ext cx="100013" cy="100013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5043488" y="2300288"/>
            <a:ext cx="3386138" cy="2829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333333"/>
                </a:solidFill>
                <a:latin typeface="Noto Sans KR" panose="020B0200000000000000" pitchFamily="34" charset="-128"/>
                <a:ea typeface="Noto Sans KR" panose="020B0200000000000000" pitchFamily="34" charset="-128"/>
                <a:cs typeface="Open Sans SemiBold" pitchFamily="34" charset="-120"/>
              </a:rPr>
              <a:t>데이터 대용치:</a:t>
            </a:r>
            <a:r>
              <a:rPr lang="en-US" sz="800" dirty="0">
                <a:solidFill>
                  <a:srgbClr val="555555"/>
                </a:solidFill>
                <a:latin typeface="Noto Sans KR" panose="020B0200000000000000" pitchFamily="34" charset="-128"/>
                <a:ea typeface="Noto Sans KR" panose="020B0200000000000000" pitchFamily="34" charset="-128"/>
                <a:cs typeface="Open Sans" pitchFamily="34" charset="-120"/>
              </a:rPr>
              <a:t> NH 내부 데이터 부재로 FnGuide 유동주식수 및 수정주가를 활용하여 실제 PDF 비중을 최대한 재현합니다.</a:t>
            </a:r>
            <a:endParaRPr lang="en-US" sz="750" dirty="0"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  <p:pic>
        <p:nvPicPr>
          <p:cNvPr id="21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7750" y="2764631"/>
            <a:ext cx="100013" cy="100013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5043488" y="2728913"/>
            <a:ext cx="3386138" cy="2829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333333"/>
                </a:solidFill>
                <a:latin typeface="Noto Sans KR" panose="020B0200000000000000" pitchFamily="34" charset="-128"/>
                <a:ea typeface="Noto Sans KR" panose="020B0200000000000000" pitchFamily="34" charset="-128"/>
                <a:cs typeface="Open Sans SemiBold" pitchFamily="34" charset="-120"/>
              </a:rPr>
              <a:t>복제 한계:</a:t>
            </a:r>
            <a:r>
              <a:rPr lang="en-US" sz="800" dirty="0">
                <a:solidFill>
                  <a:srgbClr val="555555"/>
                </a:solidFill>
                <a:latin typeface="Noto Sans KR" panose="020B0200000000000000" pitchFamily="34" charset="-128"/>
                <a:ea typeface="Noto Sans KR" panose="020B0200000000000000" pitchFamily="34" charset="-128"/>
                <a:cs typeface="Open Sans" pitchFamily="34" charset="-120"/>
              </a:rPr>
              <a:t> 공식 지수 조정 내역의 미세한 차이로 인해 발생하는 복제 오차를 </a:t>
            </a:r>
            <a:r>
              <a:rPr lang="en-US" sz="800" dirty="0" err="1">
                <a:solidFill>
                  <a:srgbClr val="555555"/>
                </a:solidFill>
                <a:latin typeface="Noto Sans KR" panose="020B0200000000000000" pitchFamily="34" charset="-128"/>
                <a:ea typeface="Noto Sans KR" panose="020B0200000000000000" pitchFamily="34" charset="-128"/>
                <a:cs typeface="Open Sans" pitchFamily="34" charset="-120"/>
              </a:rPr>
              <a:t>인지하고</a:t>
            </a:r>
            <a:r>
              <a:rPr lang="en-US" sz="800" dirty="0">
                <a:solidFill>
                  <a:srgbClr val="555555"/>
                </a:solidFill>
                <a:latin typeface="Noto Sans KR" panose="020B0200000000000000" pitchFamily="34" charset="-128"/>
                <a:ea typeface="Noto Sans KR" panose="020B0200000000000000" pitchFamily="34" charset="-128"/>
                <a:cs typeface="Open Sans" pitchFamily="34" charset="-120"/>
              </a:rPr>
              <a:t> </a:t>
            </a:r>
            <a:r>
              <a:rPr lang="en-US" sz="800" dirty="0" err="1">
                <a:solidFill>
                  <a:srgbClr val="555555"/>
                </a:solidFill>
                <a:latin typeface="Noto Sans KR" panose="020B0200000000000000" pitchFamily="34" charset="-128"/>
                <a:ea typeface="Noto Sans KR" panose="020B0200000000000000" pitchFamily="34" charset="-128"/>
                <a:cs typeface="Open Sans" pitchFamily="34" charset="-120"/>
              </a:rPr>
              <a:t>접근합니다</a:t>
            </a:r>
            <a:r>
              <a:rPr lang="en-US" sz="800" dirty="0">
                <a:solidFill>
                  <a:srgbClr val="555555"/>
                </a:solidFill>
                <a:latin typeface="Noto Sans KR" panose="020B0200000000000000" pitchFamily="34" charset="-128"/>
                <a:ea typeface="Noto Sans KR" panose="020B0200000000000000" pitchFamily="34" charset="-128"/>
                <a:cs typeface="Open Sans" pitchFamily="34" charset="-120"/>
              </a:rPr>
              <a:t>.</a:t>
            </a:r>
            <a:endParaRPr lang="en-US" sz="750" dirty="0"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  <p:pic>
        <p:nvPicPr>
          <p:cNvPr id="23" name="그림 22">
            <a:extLst>
              <a:ext uri="{FF2B5EF4-FFF2-40B4-BE49-F238E27FC236}">
                <a16:creationId xmlns:a16="http://schemas.microsoft.com/office/drawing/2014/main" id="{232D73A9-9EE1-57B6-B24D-0EEBF357960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02" y="4714129"/>
            <a:ext cx="1085140" cy="35375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/>
          <p:nvPr/>
        </p:nvSpPr>
        <p:spPr>
          <a:xfrm>
            <a:off x="721519" y="636475"/>
            <a:ext cx="3034485" cy="28437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2100" b="1" dirty="0">
                <a:solidFill>
                  <a:srgbClr val="8B2222"/>
                </a:solidFill>
                <a:latin typeface="Noto Sans KR" panose="020B0200000000000000" pitchFamily="34" charset="-128"/>
                <a:ea typeface="Noto Sans KR" panose="020B0200000000000000" pitchFamily="34" charset="-128"/>
                <a:cs typeface="Montserrat Bold" pitchFamily="34" charset="-120"/>
              </a:rPr>
              <a:t>비용 구조 및 백테스트 가정</a:t>
            </a:r>
            <a:endParaRPr lang="en-US" sz="2100" dirty="0"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  <p:sp>
        <p:nvSpPr>
          <p:cNvPr id="5" name="Shape 2"/>
          <p:cNvSpPr/>
          <p:nvPr/>
        </p:nvSpPr>
        <p:spPr>
          <a:xfrm>
            <a:off x="238602" y="1162670"/>
            <a:ext cx="1487686" cy="342900"/>
          </a:xfrm>
          <a:prstGeom prst="rect">
            <a:avLst/>
          </a:prstGeom>
          <a:solidFill>
            <a:srgbClr val="8B2222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  <p:sp>
        <p:nvSpPr>
          <p:cNvPr id="6" name="Text 3"/>
          <p:cNvSpPr/>
          <p:nvPr/>
        </p:nvSpPr>
        <p:spPr>
          <a:xfrm>
            <a:off x="316002" y="1190076"/>
            <a:ext cx="1487686" cy="222625"/>
          </a:xfrm>
          <a:prstGeom prst="rect">
            <a:avLst/>
          </a:prstGeom>
          <a:noFill/>
          <a:ln/>
        </p:spPr>
        <p:txBody>
          <a:bodyPr wrap="square" lIns="212598" tIns="68072" rIns="212598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Fund Expenses</a:t>
            </a:r>
            <a:endParaRPr lang="en-US" sz="10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7" name="Text 4"/>
          <p:cNvSpPr/>
          <p:nvPr/>
        </p:nvSpPr>
        <p:spPr>
          <a:xfrm>
            <a:off x="610076" y="1604035"/>
            <a:ext cx="3557588" cy="1384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333333"/>
                </a:solidFill>
                <a:latin typeface="Noto Sans KR" panose="020B0200000000000000" pitchFamily="34" charset="-128"/>
                <a:ea typeface="Noto Sans KR" panose="020B0200000000000000" pitchFamily="34" charset="-128"/>
                <a:cs typeface="Open Sans SemiBold" pitchFamily="34" charset="-120"/>
              </a:rPr>
              <a:t>총보수 및 비용 (TER)</a:t>
            </a:r>
            <a:endParaRPr lang="en-US" sz="900" dirty="0"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  <p:sp>
        <p:nvSpPr>
          <p:cNvPr id="8" name="Text 5"/>
          <p:cNvSpPr/>
          <p:nvPr/>
        </p:nvSpPr>
        <p:spPr>
          <a:xfrm>
            <a:off x="610076" y="1820133"/>
            <a:ext cx="3557588" cy="2462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8B2222"/>
                </a:solidFill>
                <a:latin typeface="Noto Sans KR" panose="020B0200000000000000" pitchFamily="34" charset="-128"/>
                <a:ea typeface="Noto Sans KR" panose="020B0200000000000000" pitchFamily="34" charset="-128"/>
                <a:cs typeface="Montserrat Bold" pitchFamily="34" charset="-120"/>
              </a:rPr>
              <a:t>연 0.4586%</a:t>
            </a:r>
            <a:endParaRPr lang="en-US" sz="1600" dirty="0"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  <p:sp>
        <p:nvSpPr>
          <p:cNvPr id="9" name="Text 6"/>
          <p:cNvSpPr/>
          <p:nvPr/>
        </p:nvSpPr>
        <p:spPr>
          <a:xfrm>
            <a:off x="610076" y="2164819"/>
            <a:ext cx="3557588" cy="135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Noto Sans KR" panose="020B0200000000000000" pitchFamily="34" charset="-128"/>
                <a:ea typeface="Noto Sans KR" panose="020B0200000000000000" pitchFamily="34" charset="-128"/>
                <a:cs typeface="Open Sans" pitchFamily="34" charset="-120"/>
              </a:rPr>
              <a:t>총보수 0.39%에 기타 비용을 포함한 실제 비용을 일할 차감하여 반영했습니다.</a:t>
            </a:r>
            <a:endParaRPr lang="en-US" sz="800" dirty="0"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  <p:sp>
        <p:nvSpPr>
          <p:cNvPr id="10" name="Text 7"/>
          <p:cNvSpPr/>
          <p:nvPr/>
        </p:nvSpPr>
        <p:spPr>
          <a:xfrm>
            <a:off x="610076" y="2402141"/>
            <a:ext cx="3557588" cy="1384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333333"/>
                </a:solidFill>
                <a:latin typeface="Noto Sans KR" panose="020B0200000000000000" pitchFamily="34" charset="-128"/>
                <a:ea typeface="Noto Sans KR" panose="020B0200000000000000" pitchFamily="34" charset="-128"/>
                <a:cs typeface="Open Sans SemiBold" pitchFamily="34" charset="-120"/>
              </a:rPr>
              <a:t>기타 비용 및 지수이용료</a:t>
            </a:r>
            <a:endParaRPr lang="en-US" sz="900" dirty="0"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  <p:sp>
        <p:nvSpPr>
          <p:cNvPr id="11" name="Text 8"/>
          <p:cNvSpPr/>
          <p:nvPr/>
        </p:nvSpPr>
        <p:spPr>
          <a:xfrm>
            <a:off x="610076" y="2618239"/>
            <a:ext cx="3557588" cy="135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Noto Sans KR" panose="020B0200000000000000" pitchFamily="34" charset="-128"/>
                <a:ea typeface="Noto Sans KR" panose="020B0200000000000000" pitchFamily="34" charset="-128"/>
                <a:cs typeface="Open Sans" pitchFamily="34" charset="-120"/>
              </a:rPr>
              <a:t>투자설명서상 거래비용 비율(0.11%) 등을 고려하여 보수적으로 산정되었습니다.</a:t>
            </a:r>
            <a:endParaRPr lang="en-US" sz="800" dirty="0"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238602" y="2822849"/>
            <a:ext cx="1675209" cy="342900"/>
          </a:xfrm>
          <a:prstGeom prst="rect">
            <a:avLst/>
          </a:prstGeom>
          <a:solidFill>
            <a:srgbClr val="8B2222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316002" y="2842579"/>
            <a:ext cx="1675209" cy="222625"/>
          </a:xfrm>
          <a:prstGeom prst="rect">
            <a:avLst/>
          </a:prstGeom>
          <a:noFill/>
          <a:ln/>
        </p:spPr>
        <p:txBody>
          <a:bodyPr wrap="square" lIns="212598" tIns="68072" rIns="212598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Transaction Costs</a:t>
            </a:r>
            <a:endParaRPr lang="en-US" sz="10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610076" y="3249033"/>
            <a:ext cx="3557588" cy="1384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333333"/>
                </a:solidFill>
                <a:latin typeface="Noto Sans KR" panose="020B0200000000000000" pitchFamily="34" charset="-128"/>
                <a:ea typeface="Noto Sans KR" panose="020B0200000000000000" pitchFamily="34" charset="-128"/>
                <a:cs typeface="Open Sans SemiBold" pitchFamily="34" charset="-120"/>
              </a:rPr>
              <a:t>위탁매매수수료 (Commission)</a:t>
            </a:r>
            <a:endParaRPr lang="en-US" sz="900" dirty="0"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610076" y="3465131"/>
            <a:ext cx="3557588" cy="2462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8B2222"/>
                </a:solidFill>
                <a:latin typeface="Noto Sans KR" panose="020B0200000000000000" pitchFamily="34" charset="-128"/>
                <a:ea typeface="Noto Sans KR" panose="020B0200000000000000" pitchFamily="34" charset="-128"/>
                <a:cs typeface="Montserrat Bold" pitchFamily="34" charset="-120"/>
              </a:rPr>
              <a:t>0.030% (3bp)</a:t>
            </a:r>
            <a:endParaRPr lang="en-US" sz="1600" dirty="0"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610076" y="3794637"/>
            <a:ext cx="2388474" cy="1352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Noto Sans KR" panose="020B0200000000000000" pitchFamily="34" charset="-128"/>
                <a:ea typeface="Noto Sans KR" panose="020B0200000000000000" pitchFamily="34" charset="-128"/>
                <a:cs typeface="Open Sans" pitchFamily="34" charset="-120"/>
              </a:rPr>
              <a:t>매수/매도 시 발생하는 표준 위탁수수료를 적용했습니다.</a:t>
            </a:r>
            <a:endParaRPr lang="en-US" sz="800" dirty="0"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610076" y="4033294"/>
            <a:ext cx="3557588" cy="1384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333333"/>
                </a:solidFill>
                <a:latin typeface="Noto Sans KR" panose="020B0200000000000000" pitchFamily="34" charset="-128"/>
                <a:ea typeface="Noto Sans KR" panose="020B0200000000000000" pitchFamily="34" charset="-128"/>
                <a:cs typeface="Open Sans SemiBold" pitchFamily="34" charset="-120"/>
              </a:rPr>
              <a:t>유관기관 제비용 (Agency Fee)</a:t>
            </a:r>
            <a:endParaRPr lang="en-US" sz="900" dirty="0"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610076" y="4249393"/>
            <a:ext cx="3557588" cy="2462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8B2222"/>
                </a:solidFill>
                <a:latin typeface="Noto Sans KR" panose="020B0200000000000000" pitchFamily="34" charset="-128"/>
                <a:ea typeface="Noto Sans KR" panose="020B0200000000000000" pitchFamily="34" charset="-128"/>
                <a:cs typeface="Montserrat Bold" pitchFamily="34" charset="-120"/>
              </a:rPr>
              <a:t>0.0036% (0.36bp)</a:t>
            </a:r>
            <a:endParaRPr lang="en-US" sz="1600" dirty="0"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610076" y="4578899"/>
            <a:ext cx="2784417" cy="1352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Noto Sans KR" panose="020B0200000000000000" pitchFamily="34" charset="-128"/>
                <a:ea typeface="Noto Sans KR" panose="020B0200000000000000" pitchFamily="34" charset="-128"/>
                <a:cs typeface="Open Sans" pitchFamily="34" charset="-120"/>
              </a:rPr>
              <a:t>거래소 및 예탁원 등 유관기관에 납부하는 실비용을 포함했습니다.</a:t>
            </a:r>
            <a:endParaRPr lang="en-US" sz="800" dirty="0"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  <p:pic>
        <p:nvPicPr>
          <p:cNvPr id="21" name="그림 20">
            <a:extLst>
              <a:ext uri="{FF2B5EF4-FFF2-40B4-BE49-F238E27FC236}">
                <a16:creationId xmlns:a16="http://schemas.microsoft.com/office/drawing/2014/main" id="{9A1410EA-5CCC-9BA2-BDD4-2076EDDA89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3704" y="812924"/>
            <a:ext cx="4850296" cy="3701674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25825AB3-8357-89C1-9BD2-905DF5A150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3704" y="113527"/>
            <a:ext cx="3846036" cy="695409"/>
          </a:xfrm>
          <a:prstGeom prst="rect">
            <a:avLst/>
          </a:prstGeom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DCE2ABC6-3C65-A3B3-E32C-001A0FDF02E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02" y="4714129"/>
            <a:ext cx="1085140" cy="35375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6" name="Shape 2">
            <a:extLst>
              <a:ext uri="{FF2B5EF4-FFF2-40B4-BE49-F238E27FC236}">
                <a16:creationId xmlns:a16="http://schemas.microsoft.com/office/drawing/2014/main" id="{0059DD38-C05D-D856-B60E-D3780D68010B}"/>
              </a:ext>
            </a:extLst>
          </p:cNvPr>
          <p:cNvSpPr/>
          <p:nvPr/>
        </p:nvSpPr>
        <p:spPr>
          <a:xfrm>
            <a:off x="589360" y="3334364"/>
            <a:ext cx="3893344" cy="1210304"/>
          </a:xfrm>
          <a:prstGeom prst="rect">
            <a:avLst/>
          </a:prstGeom>
          <a:solidFill>
            <a:srgbClr val="FFFFFF"/>
          </a:solidFill>
          <a:ln w="9144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ko-KR" altLang="en-US"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  <p:sp>
        <p:nvSpPr>
          <p:cNvPr id="4" name="Text 1"/>
          <p:cNvSpPr/>
          <p:nvPr/>
        </p:nvSpPr>
        <p:spPr>
          <a:xfrm>
            <a:off x="742841" y="607106"/>
            <a:ext cx="1566134" cy="28437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2100" b="1" dirty="0" err="1">
                <a:solidFill>
                  <a:srgbClr val="8B2222"/>
                </a:solidFill>
                <a:latin typeface="Noto Sans KR" panose="020B0200000000000000" pitchFamily="34" charset="-128"/>
                <a:ea typeface="Noto Sans KR" panose="020B0200000000000000" pitchFamily="34" charset="-128"/>
                <a:cs typeface="Montserrat Bold" pitchFamily="34" charset="-120"/>
              </a:rPr>
              <a:t>추적오차</a:t>
            </a:r>
            <a:r>
              <a:rPr lang="en-US" sz="2100" b="1" dirty="0">
                <a:solidFill>
                  <a:srgbClr val="8B2222"/>
                </a:solidFill>
                <a:latin typeface="Noto Sans KR" panose="020B0200000000000000" pitchFamily="34" charset="-128"/>
                <a:ea typeface="Noto Sans KR" panose="020B0200000000000000" pitchFamily="34" charset="-128"/>
                <a:cs typeface="Montserrat Bold" pitchFamily="34" charset="-120"/>
              </a:rPr>
              <a:t> </a:t>
            </a:r>
            <a:r>
              <a:rPr lang="en-US" sz="2100" b="1" dirty="0" err="1">
                <a:solidFill>
                  <a:srgbClr val="8B2222"/>
                </a:solidFill>
                <a:latin typeface="Noto Sans KR" panose="020B0200000000000000" pitchFamily="34" charset="-128"/>
                <a:ea typeface="Noto Sans KR" panose="020B0200000000000000" pitchFamily="34" charset="-128"/>
                <a:cs typeface="Montserrat Bold" pitchFamily="34" charset="-120"/>
              </a:rPr>
              <a:t>분석</a:t>
            </a:r>
            <a:endParaRPr lang="en-US" sz="2100" dirty="0"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  <p:sp>
        <p:nvSpPr>
          <p:cNvPr id="18" name="Shape 14"/>
          <p:cNvSpPr/>
          <p:nvPr/>
        </p:nvSpPr>
        <p:spPr>
          <a:xfrm>
            <a:off x="5072063" y="1127327"/>
            <a:ext cx="3714750" cy="3710012"/>
          </a:xfrm>
          <a:prstGeom prst="rect">
            <a:avLst/>
          </a:prstGeom>
          <a:solidFill>
            <a:srgbClr val="F9F9F9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  <p:sp>
        <p:nvSpPr>
          <p:cNvPr id="19" name="Shape 15"/>
          <p:cNvSpPr/>
          <p:nvPr/>
        </p:nvSpPr>
        <p:spPr>
          <a:xfrm>
            <a:off x="5072063" y="1102519"/>
            <a:ext cx="3714750" cy="28575"/>
          </a:xfrm>
          <a:prstGeom prst="rect">
            <a:avLst/>
          </a:prstGeom>
          <a:solidFill>
            <a:srgbClr val="8B2222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  <p:sp>
        <p:nvSpPr>
          <p:cNvPr id="20" name="Text 16"/>
          <p:cNvSpPr/>
          <p:nvPr/>
        </p:nvSpPr>
        <p:spPr>
          <a:xfrm>
            <a:off x="5214938" y="1245394"/>
            <a:ext cx="3429000" cy="1692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8B2222"/>
                </a:solidFill>
                <a:latin typeface="Noto Sans KR" panose="020B0200000000000000" pitchFamily="34" charset="-128"/>
                <a:ea typeface="Noto Sans KR" panose="020B0200000000000000" pitchFamily="34" charset="-128"/>
                <a:cs typeface="Montserrat Bold" pitchFamily="34" charset="-120"/>
              </a:rPr>
              <a:t>Analysis &amp; Insights</a:t>
            </a:r>
            <a:endParaRPr lang="en-US" sz="1100" dirty="0"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  <p:sp>
        <p:nvSpPr>
          <p:cNvPr id="24" name="Text 20"/>
          <p:cNvSpPr/>
          <p:nvPr/>
        </p:nvSpPr>
        <p:spPr>
          <a:xfrm>
            <a:off x="5214938" y="1600857"/>
            <a:ext cx="3429000" cy="300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Noto Sans KR" panose="020B0200000000000000" pitchFamily="34" charset="-128"/>
                <a:ea typeface="Noto Sans KR" panose="020B0200000000000000" pitchFamily="34" charset="-128"/>
                <a:cs typeface="Open Sans" pitchFamily="34" charset="-120"/>
              </a:rPr>
              <a:t>운용사 공식 TE는 0.39%로 매우 정교하게 관리되고 있으며, 이는 기초지수에 대한 효율적인 트래킹이 이루어지고 있음을 증명합니다.</a:t>
            </a:r>
            <a:endParaRPr lang="en-US" sz="800" dirty="0"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  <p:pic>
        <p:nvPicPr>
          <p:cNvPr id="27" name="그림 26">
            <a:extLst>
              <a:ext uri="{FF2B5EF4-FFF2-40B4-BE49-F238E27FC236}">
                <a16:creationId xmlns:a16="http://schemas.microsoft.com/office/drawing/2014/main" id="{6300D6F9-F6B9-629A-401A-CF24957E0F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2063" y="2107512"/>
            <a:ext cx="3714750" cy="1450075"/>
          </a:xfrm>
          <a:prstGeom prst="rect">
            <a:avLst/>
          </a:prstGeom>
        </p:spPr>
      </p:pic>
      <p:sp>
        <p:nvSpPr>
          <p:cNvPr id="29" name="Shape 2">
            <a:extLst>
              <a:ext uri="{FF2B5EF4-FFF2-40B4-BE49-F238E27FC236}">
                <a16:creationId xmlns:a16="http://schemas.microsoft.com/office/drawing/2014/main" id="{B29E2FE6-4CA9-9031-72F8-CD2EFDBDEF59}"/>
              </a:ext>
            </a:extLst>
          </p:cNvPr>
          <p:cNvSpPr/>
          <p:nvPr/>
        </p:nvSpPr>
        <p:spPr>
          <a:xfrm>
            <a:off x="589360" y="1177463"/>
            <a:ext cx="3893344" cy="930049"/>
          </a:xfrm>
          <a:prstGeom prst="rect">
            <a:avLst/>
          </a:prstGeom>
          <a:solidFill>
            <a:srgbClr val="FFFFFF"/>
          </a:solidFill>
          <a:ln w="9144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ko-KR" altLang="en-US"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  <p:sp>
        <p:nvSpPr>
          <p:cNvPr id="30" name="Text 3">
            <a:extLst>
              <a:ext uri="{FF2B5EF4-FFF2-40B4-BE49-F238E27FC236}">
                <a16:creationId xmlns:a16="http://schemas.microsoft.com/office/drawing/2014/main" id="{123D04B5-50A8-46AD-865C-F80E88D1853C}"/>
              </a:ext>
            </a:extLst>
          </p:cNvPr>
          <p:cNvSpPr/>
          <p:nvPr/>
        </p:nvSpPr>
        <p:spPr>
          <a:xfrm>
            <a:off x="767953" y="1356056"/>
            <a:ext cx="3536155" cy="3385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r>
              <a:rPr lang="ko-KR" altLang="en-US" sz="1100" b="1" dirty="0">
                <a:solidFill>
                  <a:srgbClr val="8B2222"/>
                </a:solidFill>
                <a:latin typeface="Noto Sans KR" panose="020B0200000000000000" pitchFamily="34" charset="-128"/>
                <a:ea typeface="Noto Sans KR" panose="020B0200000000000000" pitchFamily="34" charset="-128"/>
                <a:cs typeface="Montserrat Bold" pitchFamily="34" charset="-120"/>
              </a:rPr>
              <a:t>유동시가총액 가중 </a:t>
            </a:r>
            <a:r>
              <a:rPr lang="en-US" altLang="ko-KR" sz="1100" b="1" dirty="0">
                <a:solidFill>
                  <a:srgbClr val="8B2222"/>
                </a:solidFill>
                <a:latin typeface="Noto Sans KR" panose="020B0200000000000000" pitchFamily="34" charset="-128"/>
                <a:ea typeface="Noto Sans KR" panose="020B0200000000000000" pitchFamily="34" charset="-128"/>
                <a:cs typeface="Montserrat Bold" pitchFamily="34" charset="-120"/>
              </a:rPr>
              <a:t>+ 20% </a:t>
            </a:r>
            <a:r>
              <a:rPr lang="en-US" sz="1100" b="1" dirty="0">
                <a:solidFill>
                  <a:srgbClr val="8B2222"/>
                </a:solidFill>
                <a:latin typeface="Noto Sans KR" panose="020B0200000000000000" pitchFamily="34" charset="-128"/>
                <a:ea typeface="Noto Sans KR" panose="020B0200000000000000" pitchFamily="34" charset="-128"/>
                <a:cs typeface="Montserrat Bold" pitchFamily="34" charset="-120"/>
              </a:rPr>
              <a:t>ceiling</a:t>
            </a:r>
            <a:r>
              <a:rPr lang="ko-KR" altLang="en-US" sz="1100" b="1" dirty="0">
                <a:solidFill>
                  <a:srgbClr val="8B2222"/>
                </a:solidFill>
                <a:latin typeface="Noto Sans KR" panose="020B0200000000000000" pitchFamily="34" charset="-128"/>
                <a:ea typeface="Noto Sans KR" panose="020B0200000000000000" pitchFamily="34" charset="-128"/>
                <a:cs typeface="Montserrat Bold" pitchFamily="34" charset="-120"/>
              </a:rPr>
              <a:t>을 적용한 방법론 모방 포트폴리오</a:t>
            </a:r>
          </a:p>
        </p:txBody>
      </p:sp>
      <p:sp>
        <p:nvSpPr>
          <p:cNvPr id="31" name="Text 4">
            <a:extLst>
              <a:ext uri="{FF2B5EF4-FFF2-40B4-BE49-F238E27FC236}">
                <a16:creationId xmlns:a16="http://schemas.microsoft.com/office/drawing/2014/main" id="{F7596A29-8091-087A-A1F7-F159DFD67F72}"/>
              </a:ext>
            </a:extLst>
          </p:cNvPr>
          <p:cNvSpPr/>
          <p:nvPr/>
        </p:nvSpPr>
        <p:spPr>
          <a:xfrm>
            <a:off x="767954" y="1675739"/>
            <a:ext cx="3536156" cy="3189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ko-KR" altLang="en-US" sz="850" dirty="0">
                <a:latin typeface="Noto Sans KR" panose="020B0200000000000000" pitchFamily="34" charset="-128"/>
                <a:ea typeface="Noto Sans KR" panose="020B0200000000000000" pitchFamily="34" charset="-128"/>
              </a:rPr>
              <a:t>데이터가이드의 유동시가총액 데이터와 비중조정일을 똑같이 적용해 만든 포트폴리오</a:t>
            </a:r>
            <a:endParaRPr lang="en-US" sz="850" dirty="0"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  <p:pic>
        <p:nvPicPr>
          <p:cNvPr id="32" name="그림 31">
            <a:extLst>
              <a:ext uri="{FF2B5EF4-FFF2-40B4-BE49-F238E27FC236}">
                <a16:creationId xmlns:a16="http://schemas.microsoft.com/office/drawing/2014/main" id="{4F9CEF97-3A91-BD08-DE3C-9E9E19F1682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48727" y="3757613"/>
            <a:ext cx="2823996" cy="98563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07FA113F-53B2-3004-A7C2-6E915E4F85C6}"/>
                  </a:ext>
                </a:extLst>
              </p:cNvPr>
              <p:cNvSpPr txBox="1"/>
              <p:nvPr/>
            </p:nvSpPr>
            <p:spPr>
              <a:xfrm>
                <a:off x="704320" y="3793404"/>
                <a:ext cx="3459114" cy="12518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ko-KR" altLang="en-US" sz="900" dirty="0">
                    <a:latin typeface="Noto Sans KR" panose="020B0200000000000000" pitchFamily="34" charset="-128"/>
                    <a:ea typeface="Noto Sans KR" panose="020B0200000000000000" pitchFamily="34" charset="-128"/>
                  </a:rPr>
                  <a:t>공식 방법론을 완전히 재현했다면 기초지수와 거의 같아야 하지만</a:t>
                </a:r>
                <a:endParaRPr lang="en-US" altLang="ko-KR" sz="900" dirty="0">
                  <a:latin typeface="Noto Sans KR" panose="020B0200000000000000" pitchFamily="34" charset="-128"/>
                  <a:ea typeface="Noto Sans KR" panose="020B0200000000000000" pitchFamily="34" charset="-128"/>
                </a:endParaRPr>
              </a:p>
              <a:p>
                <a:r>
                  <a:rPr lang="en" altLang="ko-KR" sz="900" dirty="0">
                    <a:latin typeface="Noto Sans KR" panose="020B0200000000000000" pitchFamily="34" charset="-128"/>
                    <a:ea typeface="Noto Sans KR" panose="020B0200000000000000" pitchFamily="34" charset="-128"/>
                  </a:rPr>
                  <a:t>NH </a:t>
                </a:r>
                <a:r>
                  <a:rPr lang="ko-KR" altLang="en-US" sz="900" dirty="0">
                    <a:latin typeface="Noto Sans KR" panose="020B0200000000000000" pitchFamily="34" charset="-128"/>
                    <a:ea typeface="Noto Sans KR" panose="020B0200000000000000" pitchFamily="34" charset="-128"/>
                  </a:rPr>
                  <a:t>내부 유동주식비율</a:t>
                </a:r>
                <a:r>
                  <a:rPr lang="en-US" altLang="ko-KR" sz="900" dirty="0">
                    <a:latin typeface="Noto Sans KR" panose="020B0200000000000000" pitchFamily="34" charset="-128"/>
                    <a:ea typeface="Noto Sans KR" panose="020B0200000000000000" pitchFamily="34" charset="-128"/>
                  </a:rPr>
                  <a:t>, </a:t>
                </a:r>
                <a:r>
                  <a:rPr lang="ko-KR" altLang="en-US" sz="900" dirty="0">
                    <a:latin typeface="Noto Sans KR" panose="020B0200000000000000" pitchFamily="34" charset="-128"/>
                    <a:ea typeface="Noto Sans KR" panose="020B0200000000000000" pitchFamily="34" charset="-128"/>
                  </a:rPr>
                  <a:t>지수 편입주식수</a:t>
                </a:r>
                <a:endParaRPr lang="en-US" altLang="ko-KR" sz="900" dirty="0">
                  <a:latin typeface="Noto Sans KR" panose="020B0200000000000000" pitchFamily="34" charset="-128"/>
                  <a:ea typeface="Noto Sans KR" panose="020B0200000000000000" pitchFamily="34" charset="-128"/>
                </a:endParaRPr>
              </a:p>
              <a:p>
                <a:r>
                  <a:rPr lang="en" altLang="ko-KR" sz="900" dirty="0">
                    <a:latin typeface="Noto Sans KR" panose="020B0200000000000000" pitchFamily="34" charset="-128"/>
                    <a:ea typeface="Noto Sans KR" panose="020B0200000000000000" pitchFamily="34" charset="-128"/>
                  </a:rPr>
                  <a:t>divisor </a:t>
                </a:r>
                <a:r>
                  <a:rPr lang="ko-KR" altLang="en-US" sz="900" dirty="0">
                    <a:latin typeface="Noto Sans KR" panose="020B0200000000000000" pitchFamily="34" charset="-128"/>
                    <a:ea typeface="Noto Sans KR" panose="020B0200000000000000" pitchFamily="34" charset="-128"/>
                  </a:rPr>
                  <a:t>및 기업이벤트 조정 데이터를 갖고 있지 않기 때문에</a:t>
                </a:r>
                <a:endParaRPr lang="en-US" altLang="ko-KR" sz="900" dirty="0">
                  <a:latin typeface="Noto Sans KR" panose="020B0200000000000000" pitchFamily="34" charset="-128"/>
                  <a:ea typeface="Noto Sans KR" panose="020B0200000000000000" pitchFamily="34" charset="-128"/>
                </a:endParaRPr>
              </a:p>
              <a:p>
                <a:r>
                  <a:rPr lang="en" altLang="ko-KR" sz="900" dirty="0" err="1">
                    <a:latin typeface="Noto Sans KR" panose="020B0200000000000000" pitchFamily="34" charset="-128"/>
                    <a:ea typeface="Noto Sans KR" panose="020B0200000000000000" pitchFamily="34" charset="-128"/>
                  </a:rPr>
                  <a:t>FnGuide</a:t>
                </a:r>
                <a:r>
                  <a:rPr lang="en" altLang="ko-KR" sz="900" dirty="0">
                    <a:latin typeface="Noto Sans KR" panose="020B0200000000000000" pitchFamily="34" charset="-128"/>
                    <a:ea typeface="Noto Sans KR" panose="020B0200000000000000" pitchFamily="34" charset="-128"/>
                  </a:rPr>
                  <a:t> </a:t>
                </a:r>
                <a:r>
                  <a:rPr lang="ko-KR" altLang="en-US" sz="900" dirty="0">
                    <a:latin typeface="Noto Sans KR" panose="020B0200000000000000" pitchFamily="34" charset="-128"/>
                    <a:ea typeface="Noto Sans KR" panose="020B0200000000000000" pitchFamily="34" charset="-128"/>
                  </a:rPr>
                  <a:t>유동주식수로 근사했기에 추적오차가 다르게 나옴</a:t>
                </a:r>
                <a:r>
                  <a:rPr lang="en-US" altLang="ko-KR" sz="900" dirty="0">
                    <a:latin typeface="Noto Sans KR" panose="020B0200000000000000" pitchFamily="34" charset="-128"/>
                    <a:ea typeface="Noto Sans KR" panose="020B0200000000000000" pitchFamily="34" charset="-128"/>
                  </a:rPr>
                  <a:t>.</a:t>
                </a:r>
              </a:p>
              <a:p>
                <a:endParaRPr lang="en-US" altLang="ko-KR" sz="900" dirty="0">
                  <a:latin typeface="Noto Sans KR" panose="020B0200000000000000" pitchFamily="34" charset="-128"/>
                  <a:ea typeface="Noto Sans KR" panose="020B0200000000000000" pitchFamily="34" charset="-128"/>
                </a:endParaRPr>
              </a:p>
              <a:p>
                <a:endParaRPr lang="en-US" altLang="ko-KR" sz="900" dirty="0">
                  <a:latin typeface="Noto Sans KR" panose="020B0200000000000000" pitchFamily="34" charset="-128"/>
                  <a:ea typeface="Noto Sans KR" panose="020B0200000000000000" pitchFamily="34" charset="-128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050" i="1" dirty="0" smtClean="0">
                          <a:latin typeface="Cambria Math" panose="02040503050406030204" pitchFamily="18" charset="0"/>
                          <a:ea typeface="Noto Sans KR" panose="020B0200000000000000" pitchFamily="34" charset="-128"/>
                        </a:rPr>
                        <m:t>𝑇</m:t>
                      </m:r>
                      <m:sSub>
                        <m:sSubPr>
                          <m:ctrlPr>
                            <a:rPr lang="en-US" altLang="ko-KR" sz="1050" i="1" dirty="0" smtClean="0">
                              <a:latin typeface="Cambria Math" panose="02040503050406030204" pitchFamily="18" charset="0"/>
                              <a:ea typeface="Noto Sans KR" panose="020B0200000000000000" pitchFamily="34" charset="-128"/>
                            </a:rPr>
                          </m:ctrlPr>
                        </m:sSubPr>
                        <m:e>
                          <m:r>
                            <a:rPr lang="en-US" altLang="ko-KR" sz="1050" i="1" dirty="0" smtClean="0">
                              <a:latin typeface="Cambria Math" panose="02040503050406030204" pitchFamily="18" charset="0"/>
                              <a:ea typeface="Noto Sans KR" panose="020B0200000000000000" pitchFamily="34" charset="-128"/>
                            </a:rPr>
                            <m:t>𝐸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altLang="ko-KR" sz="1050" i="0" dirty="0" smtClean="0">
                              <a:latin typeface="Cambria Math" panose="02040503050406030204" pitchFamily="18" charset="0"/>
                              <a:ea typeface="Noto Sans KR" panose="020B0200000000000000" pitchFamily="34" charset="-128"/>
                            </a:rPr>
                            <m:t>official</m:t>
                          </m:r>
                        </m:sub>
                      </m:sSub>
                      <m:r>
                        <a:rPr lang="en-US" altLang="ko-KR" sz="1050" b="0" i="1" dirty="0" smtClean="0">
                          <a:latin typeface="Cambria Math" panose="02040503050406030204" pitchFamily="18" charset="0"/>
                          <a:ea typeface="Noto Sans KR" panose="020B0200000000000000" pitchFamily="34" charset="-128"/>
                        </a:rPr>
                        <m:t> =</m:t>
                      </m:r>
                      <m:r>
                        <a:rPr lang="en-US" altLang="ko-KR" sz="1050" i="1" dirty="0" smtClean="0">
                          <a:latin typeface="Cambria Math" panose="02040503050406030204" pitchFamily="18" charset="0"/>
                          <a:ea typeface="Noto Sans KR" panose="020B0200000000000000" pitchFamily="34" charset="-128"/>
                        </a:rPr>
                        <m:t>𝑠𝑡𝑑</m:t>
                      </m:r>
                      <m:d>
                        <m:dPr>
                          <m:ctrlPr>
                            <a:rPr lang="en-US" altLang="ko-KR" sz="1050" i="1" dirty="0" smtClean="0">
                              <a:latin typeface="Cambria Math" panose="02040503050406030204" pitchFamily="18" charset="0"/>
                              <a:ea typeface="Noto Sans KR" panose="020B0200000000000000" pitchFamily="34" charset="-128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sz="1050" i="1" dirty="0" smtClean="0">
                                  <a:latin typeface="Cambria Math" panose="02040503050406030204" pitchFamily="18" charset="0"/>
                                  <a:ea typeface="Noto Sans KR" panose="020B0200000000000000" pitchFamily="34" charset="-128"/>
                                </a:rPr>
                              </m:ctrlPr>
                            </m:sSubPr>
                            <m:e>
                              <m:r>
                                <a:rPr lang="en-US" altLang="ko-KR" sz="1050" i="1" dirty="0" smtClean="0">
                                  <a:latin typeface="Cambria Math" panose="02040503050406030204" pitchFamily="18" charset="0"/>
                                  <a:ea typeface="Noto Sans KR" panose="020B0200000000000000" pitchFamily="34" charset="-128"/>
                                </a:rPr>
                                <m:t>𝑟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 altLang="ko-KR" sz="1050" i="0" dirty="0" smtClean="0">
                                  <a:latin typeface="Cambria Math" panose="02040503050406030204" pitchFamily="18" charset="0"/>
                                  <a:ea typeface="Noto Sans KR" panose="020B0200000000000000" pitchFamily="34" charset="-128"/>
                                </a:rPr>
                                <m:t>NAV</m:t>
                              </m:r>
                            </m:sub>
                          </m:sSub>
                          <m:r>
                            <a:rPr lang="en-US" altLang="ko-KR" sz="1050" i="1" dirty="0" smtClean="0">
                              <a:latin typeface="Cambria Math" panose="02040503050406030204" pitchFamily="18" charset="0"/>
                              <a:ea typeface="Noto Sans KR" panose="020B0200000000000000" pitchFamily="34" charset="-128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ko-KR" sz="1050" i="1" dirty="0" smtClean="0">
                                  <a:latin typeface="Cambria Math" panose="02040503050406030204" pitchFamily="18" charset="0"/>
                                  <a:ea typeface="Noto Sans KR" panose="020B0200000000000000" pitchFamily="34" charset="-128"/>
                                </a:rPr>
                              </m:ctrlPr>
                            </m:sSubPr>
                            <m:e>
                              <m:r>
                                <a:rPr lang="en-US" altLang="ko-KR" sz="1050" i="1" dirty="0" smtClean="0">
                                  <a:latin typeface="Cambria Math" panose="02040503050406030204" pitchFamily="18" charset="0"/>
                                  <a:ea typeface="Noto Sans KR" panose="020B0200000000000000" pitchFamily="34" charset="-128"/>
                                </a:rPr>
                                <m:t>𝑟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 altLang="ko-KR" sz="1050" i="0" dirty="0" smtClean="0">
                                  <a:latin typeface="Cambria Math" panose="02040503050406030204" pitchFamily="18" charset="0"/>
                                  <a:ea typeface="Noto Sans KR" panose="020B0200000000000000" pitchFamily="34" charset="-128"/>
                                </a:rPr>
                                <m:t>Index</m:t>
                              </m:r>
                            </m:sub>
                          </m:sSub>
                        </m:e>
                      </m:d>
                      <m:r>
                        <a:rPr lang="en-US" altLang="ko-KR" sz="1050" i="1" dirty="0" smtClean="0">
                          <a:latin typeface="Cambria Math" panose="02040503050406030204" pitchFamily="18" charset="0"/>
                          <a:ea typeface="Noto Sans KR" panose="020B0200000000000000" pitchFamily="34" charset="-128"/>
                        </a:rPr>
                        <m:t>×</m:t>
                      </m:r>
                      <m:rad>
                        <m:radPr>
                          <m:degHide m:val="on"/>
                          <m:ctrlPr>
                            <a:rPr lang="en-US" altLang="ko-KR" sz="1050" i="1" dirty="0" smtClean="0">
                              <a:latin typeface="Cambria Math" panose="02040503050406030204" pitchFamily="18" charset="0"/>
                              <a:ea typeface="Noto Sans KR" panose="020B0200000000000000" pitchFamily="34" charset="-128"/>
                            </a:rPr>
                          </m:ctrlPr>
                        </m:radPr>
                        <m:deg/>
                        <m:e>
                          <m:r>
                            <a:rPr lang="en-US" altLang="ko-KR" sz="1050" i="1" dirty="0" smtClean="0">
                              <a:latin typeface="Cambria Math" panose="02040503050406030204" pitchFamily="18" charset="0"/>
                              <a:ea typeface="Noto Sans KR" panose="020B0200000000000000" pitchFamily="34" charset="-128"/>
                            </a:rPr>
                            <m:t>252</m:t>
                          </m:r>
                        </m:e>
                      </m:rad>
                    </m:oMath>
                  </m:oMathPara>
                </a14:m>
              </a:p>
              <a:p>
                <a:endParaRPr lang="en-US" altLang="ko-KR" sz="900" dirty="0">
                  <a:latin typeface="Noto Sans KR" panose="020B0200000000000000" pitchFamily="34" charset="-128"/>
                  <a:ea typeface="Noto Sans KR" panose="020B0200000000000000" pitchFamily="34" charset="-128"/>
                </a:endParaRPr>
              </a:p>
            </p:txBody>
          </p:sp>
        </mc:Choice>
        <mc:Fallback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07FA113F-53B2-3004-A7C2-6E915E4F85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4320" y="3793404"/>
                <a:ext cx="3459114" cy="1251818"/>
              </a:xfrm>
              <a:prstGeom prst="rect">
                <a:avLst/>
              </a:prstGeom>
              <a:blipFill>
                <a:blip r:embed="rId6"/>
                <a:stretch>
                  <a:fillRect b="-1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Text 3">
            <a:extLst>
              <a:ext uri="{FF2B5EF4-FFF2-40B4-BE49-F238E27FC236}">
                <a16:creationId xmlns:a16="http://schemas.microsoft.com/office/drawing/2014/main" id="{E82C7DD5-8B20-70F6-1115-86D5FD02164D}"/>
              </a:ext>
            </a:extLst>
          </p:cNvPr>
          <p:cNvSpPr/>
          <p:nvPr/>
        </p:nvSpPr>
        <p:spPr>
          <a:xfrm>
            <a:off x="767952" y="3588113"/>
            <a:ext cx="3536155" cy="3385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r>
              <a:rPr lang="ko-KR" altLang="en-US" sz="1100" b="1" dirty="0">
                <a:solidFill>
                  <a:srgbClr val="8B2222"/>
                </a:solidFill>
                <a:latin typeface="Noto Sans KR" panose="020B0200000000000000" pitchFamily="34" charset="-128"/>
                <a:ea typeface="Noto Sans KR" panose="020B0200000000000000" pitchFamily="34" charset="-128"/>
                <a:cs typeface="Montserrat Bold" pitchFamily="34" charset="-120"/>
              </a:rPr>
              <a:t>방법론 복제의 기초지수 대비 추적오차 </a:t>
            </a:r>
            <a:r>
              <a:rPr lang="en-US" altLang="ko-KR" sz="1100" b="1" dirty="0">
                <a:solidFill>
                  <a:srgbClr val="8B2222"/>
                </a:solidFill>
                <a:latin typeface="Noto Sans KR" panose="020B0200000000000000" pitchFamily="34" charset="-128"/>
                <a:ea typeface="Noto Sans KR" panose="020B0200000000000000" pitchFamily="34" charset="-128"/>
                <a:cs typeface="Montserrat Bold" pitchFamily="34" charset="-120"/>
              </a:rPr>
              <a:t>1</a:t>
            </a:r>
            <a:r>
              <a:rPr lang="en" altLang="ko-KR" sz="1100" b="1" dirty="0">
                <a:solidFill>
                  <a:srgbClr val="8B2222"/>
                </a:solidFill>
                <a:latin typeface="Noto Sans KR" panose="020B0200000000000000" pitchFamily="34" charset="-128"/>
                <a:ea typeface="Noto Sans KR" panose="020B0200000000000000" pitchFamily="34" charset="-128"/>
                <a:cs typeface="Montserrat Bold" pitchFamily="34" charset="-120"/>
              </a:rPr>
              <a:t>Y 1.56%</a:t>
            </a:r>
          </a:p>
          <a:p>
            <a:endParaRPr lang="ko-KR" altLang="en-US" sz="1100" b="1" dirty="0">
              <a:solidFill>
                <a:srgbClr val="8B2222"/>
              </a:solidFill>
              <a:latin typeface="Noto Sans KR" panose="020B0200000000000000" pitchFamily="34" charset="-128"/>
              <a:ea typeface="Noto Sans KR" panose="020B0200000000000000" pitchFamily="34" charset="-128"/>
              <a:cs typeface="Montserrat Bold" pitchFamily="34" charset="-120"/>
            </a:endParaRPr>
          </a:p>
        </p:txBody>
      </p:sp>
      <p:pic>
        <p:nvPicPr>
          <p:cNvPr id="37" name="그림 36">
            <a:extLst>
              <a:ext uri="{FF2B5EF4-FFF2-40B4-BE49-F238E27FC236}">
                <a16:creationId xmlns:a16="http://schemas.microsoft.com/office/drawing/2014/main" id="{4A0B8875-5427-483A-A810-71EF471541B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02" y="4714129"/>
            <a:ext cx="1085140" cy="353756"/>
          </a:xfrm>
          <a:prstGeom prst="rect">
            <a:avLst/>
          </a:prstGeom>
        </p:spPr>
      </p:pic>
      <p:sp>
        <p:nvSpPr>
          <p:cNvPr id="38" name="Shape 2">
            <a:extLst>
              <a:ext uri="{FF2B5EF4-FFF2-40B4-BE49-F238E27FC236}">
                <a16:creationId xmlns:a16="http://schemas.microsoft.com/office/drawing/2014/main" id="{C3BEA8F9-925A-C87A-059A-ACFECBDDDB46}"/>
              </a:ext>
            </a:extLst>
          </p:cNvPr>
          <p:cNvSpPr/>
          <p:nvPr/>
        </p:nvSpPr>
        <p:spPr>
          <a:xfrm>
            <a:off x="589360" y="2115786"/>
            <a:ext cx="3893344" cy="1210304"/>
          </a:xfrm>
          <a:prstGeom prst="rect">
            <a:avLst/>
          </a:prstGeom>
          <a:solidFill>
            <a:srgbClr val="FFFFFF"/>
          </a:solidFill>
          <a:ln w="9144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ko-KR" altLang="en-US"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  <p:sp>
        <p:nvSpPr>
          <p:cNvPr id="40" name="Text 3">
            <a:extLst>
              <a:ext uri="{FF2B5EF4-FFF2-40B4-BE49-F238E27FC236}">
                <a16:creationId xmlns:a16="http://schemas.microsoft.com/office/drawing/2014/main" id="{1EBA6772-F460-C91D-027F-A449ED39C14A}"/>
              </a:ext>
            </a:extLst>
          </p:cNvPr>
          <p:cNvSpPr/>
          <p:nvPr/>
        </p:nvSpPr>
        <p:spPr>
          <a:xfrm>
            <a:off x="767952" y="2270016"/>
            <a:ext cx="3536155" cy="1692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r>
              <a:rPr lang="en-US" altLang="ko-KR" sz="1100" b="1" dirty="0">
                <a:solidFill>
                  <a:srgbClr val="8B2222"/>
                </a:solidFill>
                <a:latin typeface="Noto Sans KR" panose="020B0200000000000000" pitchFamily="34" charset="-128"/>
                <a:ea typeface="Noto Sans KR" panose="020B0200000000000000" pitchFamily="34" charset="-128"/>
                <a:cs typeface="Montserrat Bold" pitchFamily="34" charset="-120"/>
              </a:rPr>
              <a:t>PDF </a:t>
            </a:r>
            <a:r>
              <a:rPr lang="ko-KR" altLang="en-US" sz="1100" b="1" dirty="0">
                <a:solidFill>
                  <a:srgbClr val="8B2222"/>
                </a:solidFill>
                <a:latin typeface="Noto Sans KR" panose="020B0200000000000000" pitchFamily="34" charset="-128"/>
                <a:ea typeface="Noto Sans KR" panose="020B0200000000000000" pitchFamily="34" charset="-128"/>
                <a:cs typeface="Montserrat Bold" pitchFamily="34" charset="-120"/>
              </a:rPr>
              <a:t>복제의 기초지수 대비 추적오차 </a:t>
            </a:r>
            <a:r>
              <a:rPr lang="en-US" altLang="ko-KR" sz="1100" b="1" dirty="0">
                <a:solidFill>
                  <a:srgbClr val="8B2222"/>
                </a:solidFill>
                <a:latin typeface="Noto Sans KR" panose="020B0200000000000000" pitchFamily="34" charset="-128"/>
                <a:ea typeface="Noto Sans KR" panose="020B0200000000000000" pitchFamily="34" charset="-128"/>
                <a:cs typeface="Montserrat Bold" pitchFamily="34" charset="-120"/>
              </a:rPr>
              <a:t>1</a:t>
            </a:r>
            <a:r>
              <a:rPr lang="en" altLang="ko-KR" sz="1100" b="1" dirty="0">
                <a:solidFill>
                  <a:srgbClr val="8B2222"/>
                </a:solidFill>
                <a:latin typeface="Noto Sans KR" panose="020B0200000000000000" pitchFamily="34" charset="-128"/>
                <a:ea typeface="Noto Sans KR" panose="020B0200000000000000" pitchFamily="34" charset="-128"/>
                <a:cs typeface="Montserrat Bold" pitchFamily="34" charset="-120"/>
              </a:rPr>
              <a:t>Y </a:t>
            </a:r>
            <a:r>
              <a:rPr lang="en-US" altLang="ko-KR" sz="1100" b="1" dirty="0">
                <a:solidFill>
                  <a:srgbClr val="8B2222"/>
                </a:solidFill>
                <a:latin typeface="Noto Sans KR" panose="020B0200000000000000" pitchFamily="34" charset="-128"/>
                <a:ea typeface="Noto Sans KR" panose="020B0200000000000000" pitchFamily="34" charset="-128"/>
                <a:cs typeface="Montserrat Bold" pitchFamily="34" charset="-120"/>
              </a:rPr>
              <a:t>0.32</a:t>
            </a:r>
            <a:r>
              <a:rPr lang="en" altLang="ko-KR" sz="1100" b="1" dirty="0">
                <a:solidFill>
                  <a:srgbClr val="8B2222"/>
                </a:solidFill>
                <a:latin typeface="Noto Sans KR" panose="020B0200000000000000" pitchFamily="34" charset="-128"/>
                <a:ea typeface="Noto Sans KR" panose="020B0200000000000000" pitchFamily="34" charset="-128"/>
                <a:cs typeface="Montserrat Bold" pitchFamily="34" charset="-120"/>
              </a:rPr>
              <a:t>%</a:t>
            </a:r>
            <a:endParaRPr lang="ko-KR" altLang="en-US" sz="1100" b="1" dirty="0">
              <a:solidFill>
                <a:srgbClr val="8B2222"/>
              </a:solidFill>
              <a:latin typeface="Noto Sans KR" panose="020B0200000000000000" pitchFamily="34" charset="-128"/>
              <a:ea typeface="Noto Sans KR" panose="020B0200000000000000" pitchFamily="34" charset="-128"/>
              <a:cs typeface="Montserrat Bold" pitchFamily="34" charset="-120"/>
            </a:endParaRPr>
          </a:p>
        </p:txBody>
      </p:sp>
      <p:sp>
        <p:nvSpPr>
          <p:cNvPr id="42" name="Text 4">
            <a:extLst>
              <a:ext uri="{FF2B5EF4-FFF2-40B4-BE49-F238E27FC236}">
                <a16:creationId xmlns:a16="http://schemas.microsoft.com/office/drawing/2014/main" id="{30725519-6A8D-D995-5F16-57B1568A7ACC}"/>
              </a:ext>
            </a:extLst>
          </p:cNvPr>
          <p:cNvSpPr/>
          <p:nvPr/>
        </p:nvSpPr>
        <p:spPr>
          <a:xfrm>
            <a:off x="742841" y="2644584"/>
            <a:ext cx="3536156" cy="3189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" altLang="ko-KR" sz="850" dirty="0">
                <a:latin typeface="Noto Sans KR" panose="020B0200000000000000" pitchFamily="34" charset="-128"/>
                <a:ea typeface="Noto Sans KR" panose="020B0200000000000000" pitchFamily="34" charset="-128"/>
              </a:rPr>
              <a:t>KRX PDF</a:t>
            </a:r>
            <a:r>
              <a:rPr lang="ko-KR" altLang="en-US" sz="850" dirty="0">
                <a:latin typeface="Noto Sans KR" panose="020B0200000000000000" pitchFamily="34" charset="-128"/>
                <a:ea typeface="Noto Sans KR" panose="020B0200000000000000" pitchFamily="34" charset="-128"/>
              </a:rPr>
              <a:t>에서 수집한 실제 </a:t>
            </a:r>
            <a:r>
              <a:rPr lang="en" altLang="ko-KR" sz="850" dirty="0">
                <a:latin typeface="Noto Sans KR" panose="020B0200000000000000" pitchFamily="34" charset="-128"/>
                <a:ea typeface="Noto Sans KR" panose="020B0200000000000000" pitchFamily="34" charset="-128"/>
              </a:rPr>
              <a:t>ETF </a:t>
            </a:r>
            <a:r>
              <a:rPr lang="ko-KR" altLang="en-US" sz="850" dirty="0">
                <a:latin typeface="Noto Sans KR" panose="020B0200000000000000" pitchFamily="34" charset="-128"/>
                <a:ea typeface="Noto Sans KR" panose="020B0200000000000000" pitchFamily="34" charset="-128"/>
              </a:rPr>
              <a:t>구성종목</a:t>
            </a:r>
            <a:r>
              <a:rPr lang="en-US" altLang="ko-KR" sz="850" dirty="0">
                <a:latin typeface="Noto Sans KR" panose="020B0200000000000000" pitchFamily="34" charset="-128"/>
                <a:ea typeface="Noto Sans KR" panose="020B0200000000000000" pitchFamily="34" charset="-128"/>
              </a:rPr>
              <a:t>/</a:t>
            </a:r>
            <a:r>
              <a:rPr lang="ko-KR" altLang="en-US" sz="850" dirty="0">
                <a:latin typeface="Noto Sans KR" panose="020B0200000000000000" pitchFamily="34" charset="-128"/>
                <a:ea typeface="Noto Sans KR" panose="020B0200000000000000" pitchFamily="34" charset="-128"/>
              </a:rPr>
              <a:t>비중을 사용하며</a:t>
            </a:r>
            <a:r>
              <a:rPr lang="en-US" altLang="ko-KR" sz="850" dirty="0">
                <a:latin typeface="Noto Sans KR" panose="020B0200000000000000" pitchFamily="34" charset="-128"/>
                <a:ea typeface="Noto Sans KR" panose="020B0200000000000000" pitchFamily="34" charset="-128"/>
              </a:rPr>
              <a:t>, </a:t>
            </a:r>
            <a:r>
              <a:rPr lang="ko-KR" altLang="en-US" sz="850" dirty="0">
                <a:latin typeface="Noto Sans KR" panose="020B0200000000000000" pitchFamily="34" charset="-128"/>
                <a:ea typeface="Noto Sans KR" panose="020B0200000000000000" pitchFamily="34" charset="-128"/>
              </a:rPr>
              <a:t>당일 수익률 계산에는 전일 </a:t>
            </a:r>
            <a:r>
              <a:rPr lang="en" altLang="ko-KR" sz="850" dirty="0">
                <a:latin typeface="Noto Sans KR" panose="020B0200000000000000" pitchFamily="34" charset="-128"/>
                <a:ea typeface="Noto Sans KR" panose="020B0200000000000000" pitchFamily="34" charset="-128"/>
              </a:rPr>
              <a:t>PDF </a:t>
            </a:r>
            <a:r>
              <a:rPr lang="ko-KR" altLang="en-US" sz="850" dirty="0">
                <a:latin typeface="Noto Sans KR" panose="020B0200000000000000" pitchFamily="34" charset="-128"/>
                <a:ea typeface="Noto Sans KR" panose="020B0200000000000000" pitchFamily="34" charset="-128"/>
              </a:rPr>
              <a:t>비중을 적용한 내부 복제 모델</a:t>
            </a:r>
            <a:endParaRPr lang="en-US" sz="850" dirty="0"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E234D0CC-B335-FA77-7382-66BF106483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1">
            <a:extLst>
              <a:ext uri="{FF2B5EF4-FFF2-40B4-BE49-F238E27FC236}">
                <a16:creationId xmlns:a16="http://schemas.microsoft.com/office/drawing/2014/main" id="{566E9FCE-878D-642D-DC17-D417E388012A}"/>
              </a:ext>
            </a:extLst>
          </p:cNvPr>
          <p:cNvSpPr/>
          <p:nvPr/>
        </p:nvSpPr>
        <p:spPr>
          <a:xfrm>
            <a:off x="764381" y="622195"/>
            <a:ext cx="1814599" cy="28437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ct val="88000"/>
              </a:lnSpc>
            </a:pPr>
            <a:r>
              <a:rPr lang="ko-KR" altLang="en-US" sz="2100" b="1" dirty="0">
                <a:solidFill>
                  <a:srgbClr val="8B2222"/>
                </a:solidFill>
                <a:latin typeface="Noto Sans KR" panose="020B0200000000000000" pitchFamily="34" charset="-128"/>
                <a:ea typeface="Noto Sans KR" panose="020B0200000000000000" pitchFamily="34" charset="-128"/>
                <a:cs typeface="Montserrat Bold" pitchFamily="34" charset="-120"/>
              </a:rPr>
              <a:t>모방 포트폴리오</a:t>
            </a:r>
            <a:endParaRPr lang="en-US" sz="2100" dirty="0"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  <p:pic>
        <p:nvPicPr>
          <p:cNvPr id="5" name="그림 4" descr="텍스트, 그래프, 스크린샷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60BA3A4-4C63-F822-890F-6F431EFB28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323" y="1695741"/>
            <a:ext cx="4388546" cy="239123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5BE00467-4F03-B886-5430-61EFE5F7874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02" y="4714129"/>
            <a:ext cx="1085140" cy="353756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74EA144B-13A4-A6B4-EACD-9C83DA1A222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620" y="2018582"/>
            <a:ext cx="2742979" cy="14783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47131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9D9B85E1-1D2E-18C5-44B3-2808031B1A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1">
            <a:extLst>
              <a:ext uri="{FF2B5EF4-FFF2-40B4-BE49-F238E27FC236}">
                <a16:creationId xmlns:a16="http://schemas.microsoft.com/office/drawing/2014/main" id="{753AA0E8-F207-6787-2E4D-237791AD399D}"/>
              </a:ext>
            </a:extLst>
          </p:cNvPr>
          <p:cNvSpPr/>
          <p:nvPr/>
        </p:nvSpPr>
        <p:spPr>
          <a:xfrm>
            <a:off x="742841" y="607106"/>
            <a:ext cx="2641749" cy="28437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2100" b="1" dirty="0">
                <a:solidFill>
                  <a:srgbClr val="8B2222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He – </a:t>
            </a:r>
            <a:r>
              <a:rPr lang="en-US" sz="2100" b="1" dirty="0" err="1">
                <a:solidFill>
                  <a:srgbClr val="8B2222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literman</a:t>
            </a:r>
            <a:r>
              <a:rPr lang="en-US" sz="2100" b="1" dirty="0">
                <a:solidFill>
                  <a:srgbClr val="8B2222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 Model</a:t>
            </a:r>
            <a:endParaRPr lang="en-US" sz="2100" dirty="0"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Shape 1">
                <a:extLst>
                  <a:ext uri="{FF2B5EF4-FFF2-40B4-BE49-F238E27FC236}">
                    <a16:creationId xmlns:a16="http://schemas.microsoft.com/office/drawing/2014/main" id="{89D8B58F-16FA-B30F-78B3-5728577A80C9}"/>
                  </a:ext>
                </a:extLst>
              </p:cNvPr>
              <p:cNvSpPr/>
              <p:nvPr/>
            </p:nvSpPr>
            <p:spPr>
              <a:xfrm>
                <a:off x="485775" y="1504401"/>
                <a:ext cx="2521744" cy="971550"/>
              </a:xfrm>
              <a:prstGeom prst="rect">
                <a:avLst/>
              </a:prstGeom>
              <a:solidFill>
                <a:srgbClr val="FFFFFF">
                  <a:alpha val="3000"/>
                </a:srgbClr>
              </a:solidFill>
              <a:ln/>
            </p:spPr>
            <p:txBody>
              <a:bodyPr/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en-US" sz="1400" b="0" i="0" dirty="0" smtClean="0">
                          <a:latin typeface="Cambria Math" panose="02040503050406030204" pitchFamily="18" charset="0"/>
                        </a:rPr>
                        <m:t>   </m:t>
                      </m:r>
                      <m:r>
                        <m:rPr>
                          <m:sty m:val="p"/>
                        </m:rPr>
                        <a:rPr lang="en" altLang="ko-KR" sz="1400" i="0" dirty="0" smtClean="0">
                          <a:latin typeface="Cambria Math" panose="02040503050406030204" pitchFamily="18" charset="0"/>
                        </a:rPr>
                        <m:t>Π</m:t>
                      </m:r>
                      <m:r>
                        <a:rPr lang="en" altLang="ko-KR" sz="140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" altLang="ko-KR" sz="1400" i="1" dirty="0" smtClean="0">
                          <a:latin typeface="Cambria Math" panose="02040503050406030204" pitchFamily="18" charset="0"/>
                        </a:rPr>
                        <m:t>𝛿</m:t>
                      </m:r>
                      <m:r>
                        <m:rPr>
                          <m:sty m:val="p"/>
                        </m:rPr>
                        <a:rPr lang="en" altLang="ko-KR" sz="1400" i="0" dirty="0" smtClean="0">
                          <a:latin typeface="Cambria Math" panose="02040503050406030204" pitchFamily="18" charset="0"/>
                        </a:rPr>
                        <m:t>Σ</m:t>
                      </m:r>
                      <m:sSub>
                        <m:sSubPr>
                          <m:ctrlPr>
                            <a:rPr lang="en" altLang="ko-KR" sz="1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" altLang="ko-KR" sz="1400" i="1" dirty="0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" altLang="ko-KR" sz="1400" i="1" dirty="0" smtClean="0">
                              <a:latin typeface="Cambria Math" panose="02040503050406030204" pitchFamily="18" charset="0"/>
                            </a:rPr>
                            <m:t>𝑒𝑞</m:t>
                          </m:r>
                        </m:sub>
                      </m:sSub>
                    </m:oMath>
                  </m:oMathPara>
                </a14:m>
              </a:p>
              <a:p>
                <a:endParaRPr lang="ko-KR" altLang="en-US" dirty="0">
                  <a:latin typeface="Noto Sans KR" panose="020B0200000000000000" pitchFamily="34" charset="-128"/>
                  <a:ea typeface="Noto Sans KR" panose="020B0200000000000000" pitchFamily="34" charset="-128"/>
                </a:endParaRPr>
              </a:p>
            </p:txBody>
          </p:sp>
        </mc:Choice>
        <mc:Fallback>
          <p:sp>
            <p:nvSpPr>
              <p:cNvPr id="4" name="Shape 1">
                <a:extLst>
                  <a:ext uri="{FF2B5EF4-FFF2-40B4-BE49-F238E27FC236}">
                    <a16:creationId xmlns:a16="http://schemas.microsoft.com/office/drawing/2014/main" id="{89D8B58F-16FA-B30F-78B3-5728577A80C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5775" y="1504401"/>
                <a:ext cx="2521744" cy="971550"/>
              </a:xfrm>
              <a:prstGeom prst="rect">
                <a:avLst/>
              </a:prstGeom>
              <a:blipFill>
                <a:blip r:embed="rId3"/>
                <a:stretch>
                  <a:fillRect l="-2010" t="-1299"/>
                </a:stretch>
              </a:blipFill>
              <a:ln/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 3">
            <a:extLst>
              <a:ext uri="{FF2B5EF4-FFF2-40B4-BE49-F238E27FC236}">
                <a16:creationId xmlns:a16="http://schemas.microsoft.com/office/drawing/2014/main" id="{97CC32AE-7039-87DF-1C09-5A194A26DE6A}"/>
              </a:ext>
            </a:extLst>
          </p:cNvPr>
          <p:cNvSpPr/>
          <p:nvPr/>
        </p:nvSpPr>
        <p:spPr>
          <a:xfrm>
            <a:off x="571500" y="1931240"/>
            <a:ext cx="2350294" cy="1846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200" b="1" dirty="0">
                <a:latin typeface="Noto Sans KR" panose="020B0200000000000000" pitchFamily="34" charset="-128"/>
                <a:ea typeface="Noto Sans KR" panose="020B0200000000000000" pitchFamily="34" charset="-128"/>
                <a:cs typeface="Montserrat Bold" pitchFamily="34" charset="-120"/>
              </a:rPr>
              <a:t>Prior (균형 비중)</a:t>
            </a:r>
            <a:endParaRPr lang="en-US" sz="1200" dirty="0"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3AE795BD-F19E-8467-9FD8-95F89DE3B4AC}"/>
              </a:ext>
            </a:extLst>
          </p:cNvPr>
          <p:cNvSpPr/>
          <p:nvPr/>
        </p:nvSpPr>
        <p:spPr>
          <a:xfrm>
            <a:off x="571500" y="2220562"/>
            <a:ext cx="2350294" cy="6092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900" dirty="0">
                <a:latin typeface="Noto Sans KR" panose="020B0200000000000000" pitchFamily="34" charset="-128"/>
                <a:ea typeface="Noto Sans KR" panose="020B0200000000000000" pitchFamily="34" charset="-128"/>
                <a:cs typeface="Open Sans" pitchFamily="34" charset="-120"/>
              </a:rPr>
              <a:t>실제 </a:t>
            </a:r>
            <a:r>
              <a:rPr lang="en-US" sz="850" dirty="0">
                <a:latin typeface="Noto Sans KR" panose="020B0200000000000000" pitchFamily="34" charset="-128"/>
                <a:ea typeface="Noto Sans KR" panose="020B0200000000000000" pitchFamily="34" charset="-128"/>
                <a:cs typeface="Open Sans SemiBold" pitchFamily="34" charset="-120"/>
              </a:rPr>
              <a:t>ETF/PDF 비중</a:t>
            </a:r>
            <a:r>
              <a:rPr lang="en-US" sz="900" dirty="0">
                <a:latin typeface="Noto Sans KR" panose="020B0200000000000000" pitchFamily="34" charset="-128"/>
                <a:ea typeface="Noto Sans KR" panose="020B0200000000000000" pitchFamily="34" charset="-128"/>
                <a:cs typeface="Open Sans" pitchFamily="34" charset="-120"/>
              </a:rPr>
              <a:t>을 기준점으로 설정하여 벤치마크 </a:t>
            </a:r>
            <a:r>
              <a:rPr lang="en-US" sz="900" dirty="0" err="1">
                <a:latin typeface="Noto Sans KR" panose="020B0200000000000000" pitchFamily="34" charset="-128"/>
                <a:ea typeface="Noto Sans KR" panose="020B0200000000000000" pitchFamily="34" charset="-128"/>
                <a:cs typeface="Open Sans" pitchFamily="34" charset="-120"/>
              </a:rPr>
              <a:t>이탈을</a:t>
            </a:r>
            <a:r>
              <a:rPr lang="en-US" sz="900" dirty="0">
                <a:latin typeface="Noto Sans KR" panose="020B0200000000000000" pitchFamily="34" charset="-128"/>
                <a:ea typeface="Noto Sans KR" panose="020B0200000000000000" pitchFamily="34" charset="-128"/>
                <a:cs typeface="Open Sans" pitchFamily="34" charset="-120"/>
              </a:rPr>
              <a:t> </a:t>
            </a:r>
            <a:r>
              <a:rPr lang="en-US" sz="900" dirty="0" err="1">
                <a:latin typeface="Noto Sans KR" panose="020B0200000000000000" pitchFamily="34" charset="-128"/>
                <a:ea typeface="Noto Sans KR" panose="020B0200000000000000" pitchFamily="34" charset="-128"/>
                <a:cs typeface="Open Sans" pitchFamily="34" charset="-120"/>
              </a:rPr>
              <a:t>최소화</a:t>
            </a:r>
            <a:endParaRPr lang="en-US" sz="900" dirty="0">
              <a:latin typeface="Noto Sans KR" panose="020B0200000000000000" pitchFamily="34" charset="-128"/>
              <a:ea typeface="Noto Sans KR" panose="020B0200000000000000" pitchFamily="34" charset="-128"/>
              <a:cs typeface="Open Sans" pitchFamily="34" charset="-120"/>
            </a:endParaRPr>
          </a:p>
          <a:p>
            <a:pPr marL="0" indent="0" algn="ctr">
              <a:lnSpc>
                <a:spcPct val="112000"/>
              </a:lnSpc>
              <a:buNone/>
            </a:pPr>
            <a:r>
              <a:rPr lang="en-US" sz="900" dirty="0">
                <a:latin typeface="Noto Sans KR" panose="020B0200000000000000" pitchFamily="34" charset="-128"/>
                <a:ea typeface="Noto Sans KR" panose="020B0200000000000000" pitchFamily="34" charset="-128"/>
              </a:rPr>
              <a:t>\Pi: </a:t>
            </a:r>
            <a:r>
              <a:rPr lang="ko-KR" altLang="en-US" sz="900" dirty="0">
                <a:latin typeface="Noto Sans KR" panose="020B0200000000000000" pitchFamily="34" charset="-128"/>
                <a:ea typeface="Noto Sans KR" panose="020B0200000000000000" pitchFamily="34" charset="-128"/>
              </a:rPr>
              <a:t>그 비중을 정당화하는 암묵적 기대수익률</a:t>
            </a:r>
          </a:p>
          <a:p>
            <a:pPr marL="0" indent="0" algn="ctr">
              <a:lnSpc>
                <a:spcPct val="112000"/>
              </a:lnSpc>
              <a:buNone/>
            </a:pPr>
            <a:endParaRPr lang="en-US" sz="900" dirty="0"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Shape 5">
                <a:extLst>
                  <a:ext uri="{FF2B5EF4-FFF2-40B4-BE49-F238E27FC236}">
                    <a16:creationId xmlns:a16="http://schemas.microsoft.com/office/drawing/2014/main" id="{724A2FD8-729E-1F04-AC7F-6603565CECCA}"/>
                  </a:ext>
                </a:extLst>
              </p:cNvPr>
              <p:cNvSpPr/>
              <p:nvPr/>
            </p:nvSpPr>
            <p:spPr>
              <a:xfrm>
                <a:off x="3368278" y="1504401"/>
                <a:ext cx="2521744" cy="971550"/>
              </a:xfrm>
              <a:prstGeom prst="rect">
                <a:avLst/>
              </a:prstGeom>
              <a:solidFill>
                <a:srgbClr val="FFFFFF">
                  <a:alpha val="3000"/>
                </a:srgbClr>
              </a:solidFill>
              <a:ln/>
            </p:spPr>
            <p:txBody>
              <a:bodyPr/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" altLang="ko-KR" sz="1400" i="1" dirty="0" smtClean="0"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en" altLang="ko-KR" sz="1400" i="1" dirty="0" smtClean="0"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en" altLang="ko-KR" sz="1400" i="1" dirty="0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" altLang="ko-KR" sz="1400" i="1" dirty="0" smtClean="0"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" altLang="ko-KR" sz="1400" i="1" dirty="0" smtClean="0">
                          <a:latin typeface="Cambria Math" panose="02040503050406030204" pitchFamily="18" charset="0"/>
                        </a:rPr>
                        <m:t>+ </m:t>
                      </m:r>
                      <m:r>
                        <a:rPr lang="en" altLang="ko-KR" sz="1400" i="1" dirty="0" smtClean="0">
                          <a:latin typeface="Cambria Math" panose="02040503050406030204" pitchFamily="18" charset="0"/>
                        </a:rPr>
                        <m:t>𝜖</m:t>
                      </m:r>
                    </m:oMath>
                  </m:oMathPara>
                </a14:m>
              </a:p>
              <a:p>
                <a:endParaRPr lang="ko-KR" altLang="en-US" dirty="0">
                  <a:latin typeface="Noto Sans KR" panose="020B0200000000000000" pitchFamily="34" charset="-128"/>
                  <a:ea typeface="Noto Sans KR" panose="020B0200000000000000" pitchFamily="34" charset="-128"/>
                </a:endParaRPr>
              </a:p>
            </p:txBody>
          </p:sp>
        </mc:Choice>
        <mc:Fallback>
          <p:sp>
            <p:nvSpPr>
              <p:cNvPr id="7" name="Shape 5">
                <a:extLst>
                  <a:ext uri="{FF2B5EF4-FFF2-40B4-BE49-F238E27FC236}">
                    <a16:creationId xmlns:a16="http://schemas.microsoft.com/office/drawing/2014/main" id="{724A2FD8-729E-1F04-AC7F-6603565CECC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68278" y="1504401"/>
                <a:ext cx="2521744" cy="971550"/>
              </a:xfrm>
              <a:prstGeom prst="rect">
                <a:avLst/>
              </a:prstGeom>
              <a:blipFill>
                <a:blip r:embed="rId4"/>
                <a:stretch>
                  <a:fillRect l="-2010" t="-1299"/>
                </a:stretch>
              </a:blipFill>
              <a:ln/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 7">
            <a:extLst>
              <a:ext uri="{FF2B5EF4-FFF2-40B4-BE49-F238E27FC236}">
                <a16:creationId xmlns:a16="http://schemas.microsoft.com/office/drawing/2014/main" id="{D7B2BDEC-012B-8CF1-E93A-3DB2B3B5D75E}"/>
              </a:ext>
            </a:extLst>
          </p:cNvPr>
          <p:cNvSpPr/>
          <p:nvPr/>
        </p:nvSpPr>
        <p:spPr>
          <a:xfrm>
            <a:off x="3454003" y="1931240"/>
            <a:ext cx="2350294" cy="1846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200" b="1" dirty="0">
                <a:latin typeface="Noto Sans KR" panose="020B0200000000000000" pitchFamily="34" charset="-128"/>
                <a:ea typeface="Noto Sans KR" panose="020B0200000000000000" pitchFamily="34" charset="-128"/>
                <a:cs typeface="Montserrat Bold" pitchFamily="34" charset="-120"/>
              </a:rPr>
              <a:t>Investor View</a:t>
            </a:r>
            <a:endParaRPr lang="en-US" sz="1200" dirty="0"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 8">
                <a:extLst>
                  <a:ext uri="{FF2B5EF4-FFF2-40B4-BE49-F238E27FC236}">
                    <a16:creationId xmlns:a16="http://schemas.microsoft.com/office/drawing/2014/main" id="{F5F7A101-48D9-924A-AD0E-7433771E6555}"/>
                  </a:ext>
                </a:extLst>
              </p:cNvPr>
              <p:cNvSpPr/>
              <p:nvPr/>
            </p:nvSpPr>
            <p:spPr>
              <a:xfrm>
                <a:off x="3891770" y="2197345"/>
                <a:ext cx="1474763" cy="635751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>
                <a:spAutoFit/>
              </a:bodyPr>
              <a:lstStyle/>
              <a:p>
                <a:pPr marL="0" indent="0" algn="ctr">
                  <a:lnSpc>
                    <a:spcPct val="112000"/>
                  </a:lnSpc>
                  <a:buNone/>
                </a:pPr>
                <a:r>
                  <a:rPr lang="ko-KR" altLang="en-US" sz="850" dirty="0">
                    <a:latin typeface="Noto Sans KR" panose="020B0200000000000000" pitchFamily="34" charset="-128"/>
                    <a:ea typeface="Noto Sans KR" panose="020B0200000000000000" pitchFamily="34" charset="-128"/>
                  </a:rPr>
                  <a:t>데이터가이드의 </a:t>
                </a:r>
                <a:r>
                  <a:rPr lang="ko-KR" altLang="en-US" sz="850" dirty="0" err="1">
                    <a:latin typeface="Noto Sans KR" panose="020B0200000000000000" pitchFamily="34" charset="-128"/>
                    <a:ea typeface="Noto Sans KR" panose="020B0200000000000000" pitchFamily="34" charset="-128"/>
                  </a:rPr>
                  <a:t>컨센선스</a:t>
                </a:r>
                <a:r>
                  <a:rPr lang="ko-KR" altLang="en-US" sz="850" dirty="0">
                    <a:latin typeface="Noto Sans KR" panose="020B0200000000000000" pitchFamily="34" charset="-128"/>
                    <a:ea typeface="Noto Sans KR" panose="020B0200000000000000" pitchFamily="34" charset="-128"/>
                  </a:rPr>
                  <a:t> 데이터</a:t>
                </a:r>
                <a:endParaRPr lang="en-US" altLang="ko-KR" sz="850" dirty="0">
                  <a:latin typeface="Noto Sans KR" panose="020B0200000000000000" pitchFamily="34" charset="-128"/>
                  <a:ea typeface="Noto Sans KR" panose="020B0200000000000000" pitchFamily="34" charset="-128"/>
                </a:endParaRPr>
              </a:p>
              <a:p>
                <a:pPr marL="0" indent="0" algn="ctr">
                  <a:lnSpc>
                    <a:spcPct val="112000"/>
                  </a:lnSpc>
                  <a:buNone/>
                </a:pPr>
                <a:endParaRPr lang="en-US" sz="850" dirty="0">
                  <a:latin typeface="Noto Sans KR" panose="020B0200000000000000" pitchFamily="34" charset="-128"/>
                  <a:ea typeface="Noto Sans KR" panose="020B0200000000000000" pitchFamily="34" charset="-128"/>
                </a:endParaRPr>
              </a:p>
              <a:p>
                <a:pPr algn="ctr">
                  <a:lnSpc>
                    <a:spcPct val="112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" altLang="ko-KR" sz="1100" i="0" dirty="0" smtClean="0">
                          <a:latin typeface="Cambria Math" panose="02040503050406030204" pitchFamily="18" charset="0"/>
                        </a:rPr>
                        <m:t>Ω</m:t>
                      </m:r>
                      <m:r>
                        <a:rPr lang="en" altLang="ko-KR" sz="110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" altLang="ko-KR" sz="1100" i="1" dirty="0" err="1">
                          <a:latin typeface="Cambria Math" panose="02040503050406030204" pitchFamily="18" charset="0"/>
                        </a:rPr>
                        <m:t>𝑑𝑖𝑎𝑔</m:t>
                      </m:r>
                      <m:d>
                        <m:dPr>
                          <m:ctrlPr>
                            <a:rPr lang="en" altLang="ko-KR" sz="11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" altLang="ko-KR" sz="1100" i="1" dirty="0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" altLang="ko-KR" sz="1100" i="1" dirty="0">
                              <a:latin typeface="Cambria Math" panose="02040503050406030204" pitchFamily="18" charset="0"/>
                            </a:rPr>
                            <m:t>𝜏</m:t>
                          </m:r>
                          <m:r>
                            <m:rPr>
                              <m:sty m:val="p"/>
                            </m:rPr>
                            <a:rPr lang="en" altLang="ko-KR" sz="1100" i="0" dirty="0">
                              <a:latin typeface="Cambria Math" panose="02040503050406030204" pitchFamily="18" charset="0"/>
                            </a:rPr>
                            <m:t>Σ</m:t>
                          </m:r>
                          <m:sSup>
                            <m:sSupPr>
                              <m:ctrlPr>
                                <a:rPr lang="en" altLang="ko-KR" sz="11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" altLang="ko-KR" sz="1100" i="1" dirty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p>
                              <m:r>
                                <a:rPr lang="en" altLang="ko-KR" sz="1100" i="1" dirty="0">
                                  <a:latin typeface="Cambria Math" panose="02040503050406030204" pitchFamily="18" charset="0"/>
                                </a:rPr>
                                <m:t>⊤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</a:p>
              <a:p>
                <a:pPr marL="0" indent="0" algn="ctr">
                  <a:lnSpc>
                    <a:spcPct val="112000"/>
                  </a:lnSpc>
                  <a:buNone/>
                </a:pPr>
                <a:endParaRPr lang="en-US" sz="850" dirty="0">
                  <a:latin typeface="Noto Sans KR" panose="020B0200000000000000" pitchFamily="34" charset="-128"/>
                  <a:ea typeface="Noto Sans KR" panose="020B0200000000000000" pitchFamily="34" charset="-128"/>
                </a:endParaRPr>
              </a:p>
            </p:txBody>
          </p:sp>
        </mc:Choice>
        <mc:Fallback>
          <p:sp>
            <p:nvSpPr>
              <p:cNvPr id="9" name="Text 8">
                <a:extLst>
                  <a:ext uri="{FF2B5EF4-FFF2-40B4-BE49-F238E27FC236}">
                    <a16:creationId xmlns:a16="http://schemas.microsoft.com/office/drawing/2014/main" id="{F5F7A101-48D9-924A-AD0E-7433771E655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91770" y="2197345"/>
                <a:ext cx="1474763" cy="635751"/>
              </a:xfrm>
              <a:prstGeom prst="rect">
                <a:avLst/>
              </a:prstGeom>
              <a:blipFill>
                <a:blip r:embed="rId5"/>
                <a:stretch>
                  <a:fillRect l="-4274" t="-1923" r="-5983" b="-5769"/>
                </a:stretch>
              </a:blipFill>
              <a:ln/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Shape 9">
            <a:extLst>
              <a:ext uri="{FF2B5EF4-FFF2-40B4-BE49-F238E27FC236}">
                <a16:creationId xmlns:a16="http://schemas.microsoft.com/office/drawing/2014/main" id="{ABBCE2A4-0956-01BD-5644-8041E8DE3CD1}"/>
              </a:ext>
            </a:extLst>
          </p:cNvPr>
          <p:cNvSpPr/>
          <p:nvPr/>
        </p:nvSpPr>
        <p:spPr>
          <a:xfrm>
            <a:off x="6250781" y="1504401"/>
            <a:ext cx="2521744" cy="971550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  <p:sp>
        <p:nvSpPr>
          <p:cNvPr id="12" name="Text 11">
            <a:extLst>
              <a:ext uri="{FF2B5EF4-FFF2-40B4-BE49-F238E27FC236}">
                <a16:creationId xmlns:a16="http://schemas.microsoft.com/office/drawing/2014/main" id="{8A9B18F3-A52D-0525-7CC4-F977E1B14D47}"/>
              </a:ext>
            </a:extLst>
          </p:cNvPr>
          <p:cNvSpPr/>
          <p:nvPr/>
        </p:nvSpPr>
        <p:spPr>
          <a:xfrm>
            <a:off x="6336506" y="1931240"/>
            <a:ext cx="2350294" cy="1846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200" b="1" dirty="0">
                <a:latin typeface="Noto Sans KR" panose="020B0200000000000000" pitchFamily="34" charset="-128"/>
                <a:ea typeface="Noto Sans KR" panose="020B0200000000000000" pitchFamily="34" charset="-128"/>
                <a:cs typeface="Montserrat Bold" pitchFamily="34" charset="-120"/>
              </a:rPr>
              <a:t>Posterior (최종 비중)</a:t>
            </a:r>
            <a:endParaRPr lang="en-US" sz="1200" dirty="0"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  <p:sp>
        <p:nvSpPr>
          <p:cNvPr id="13" name="Text 12">
            <a:extLst>
              <a:ext uri="{FF2B5EF4-FFF2-40B4-BE49-F238E27FC236}">
                <a16:creationId xmlns:a16="http://schemas.microsoft.com/office/drawing/2014/main" id="{C9FE7572-D05A-5E59-1A3C-CEC34E1CC952}"/>
              </a:ext>
            </a:extLst>
          </p:cNvPr>
          <p:cNvSpPr/>
          <p:nvPr/>
        </p:nvSpPr>
        <p:spPr>
          <a:xfrm>
            <a:off x="6336506" y="2220562"/>
            <a:ext cx="2350294" cy="2909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900" dirty="0">
                <a:latin typeface="Noto Sans KR" panose="020B0200000000000000" pitchFamily="34" charset="-128"/>
                <a:ea typeface="Noto Sans KR" panose="020B0200000000000000" pitchFamily="34" charset="-128"/>
                <a:cs typeface="Open Sans" pitchFamily="34" charset="-120"/>
              </a:rPr>
              <a:t>균형 비중과 투자자 뷰를 결합하여 산출된 </a:t>
            </a:r>
            <a:r>
              <a:rPr lang="en-US" sz="850" dirty="0">
                <a:latin typeface="Noto Sans KR" panose="020B0200000000000000" pitchFamily="34" charset="-128"/>
                <a:ea typeface="Noto Sans KR" panose="020B0200000000000000" pitchFamily="34" charset="-128"/>
                <a:cs typeface="Open Sans SemiBold" pitchFamily="34" charset="-120"/>
              </a:rPr>
              <a:t>최적화 포트폴리오</a:t>
            </a:r>
            <a:endParaRPr lang="en-US" sz="900" dirty="0"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  <p:sp>
        <p:nvSpPr>
          <p:cNvPr id="14" name="Text 13">
            <a:extLst>
              <a:ext uri="{FF2B5EF4-FFF2-40B4-BE49-F238E27FC236}">
                <a16:creationId xmlns:a16="http://schemas.microsoft.com/office/drawing/2014/main" id="{3AF8EE38-8176-0D1A-5AD0-9F5A70293CBC}"/>
              </a:ext>
            </a:extLst>
          </p:cNvPr>
          <p:cNvSpPr/>
          <p:nvPr/>
        </p:nvSpPr>
        <p:spPr>
          <a:xfrm>
            <a:off x="642384" y="3686820"/>
            <a:ext cx="3936206" cy="1769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50" dirty="0">
                <a:latin typeface="Noto Sans KR" panose="020B0200000000000000" pitchFamily="34" charset="-128"/>
                <a:ea typeface="Noto Sans KR" panose="020B0200000000000000" pitchFamily="34" charset="-128"/>
                <a:cs typeface="Montserrat Bold" pitchFamily="34" charset="-120"/>
              </a:rPr>
              <a:t>He-Litterman 방식의 특징</a:t>
            </a:r>
            <a:endParaRPr lang="en-US" sz="1150" dirty="0"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  <p:sp>
        <p:nvSpPr>
          <p:cNvPr id="15" name="Text 14">
            <a:extLst>
              <a:ext uri="{FF2B5EF4-FFF2-40B4-BE49-F238E27FC236}">
                <a16:creationId xmlns:a16="http://schemas.microsoft.com/office/drawing/2014/main" id="{F315FD53-8206-8EE7-B7B7-A5222C8C729E}"/>
              </a:ext>
            </a:extLst>
          </p:cNvPr>
          <p:cNvSpPr/>
          <p:nvPr/>
        </p:nvSpPr>
        <p:spPr>
          <a:xfrm>
            <a:off x="642384" y="3970784"/>
            <a:ext cx="3936206" cy="6265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12000"/>
              </a:lnSpc>
            </a:pPr>
            <a:r>
              <a:rPr lang="en-US" sz="950" dirty="0">
                <a:latin typeface="Noto Sans KR" panose="020B0200000000000000" pitchFamily="34" charset="-128"/>
                <a:ea typeface="Noto Sans KR" panose="020B0200000000000000" pitchFamily="34" charset="-128"/>
                <a:cs typeface="Open Sans" pitchFamily="34" charset="-120"/>
              </a:rPr>
              <a:t>View의 불확실성(Omega)을 임의의 </a:t>
            </a:r>
            <a:r>
              <a:rPr lang="en-US" sz="950" dirty="0" err="1">
                <a:latin typeface="Noto Sans KR" panose="020B0200000000000000" pitchFamily="34" charset="-128"/>
                <a:ea typeface="Noto Sans KR" panose="020B0200000000000000" pitchFamily="34" charset="-128"/>
                <a:cs typeface="Open Sans" pitchFamily="34" charset="-120"/>
              </a:rPr>
              <a:t>숫자가</a:t>
            </a:r>
            <a:r>
              <a:rPr lang="en-US" sz="950" dirty="0">
                <a:latin typeface="Noto Sans KR" panose="020B0200000000000000" pitchFamily="34" charset="-128"/>
                <a:ea typeface="Noto Sans KR" panose="020B0200000000000000" pitchFamily="34" charset="-128"/>
                <a:cs typeface="Open Sans" pitchFamily="34" charset="-120"/>
              </a:rPr>
              <a:t> </a:t>
            </a:r>
            <a:r>
              <a:rPr lang="en-US" sz="950" dirty="0" err="1">
                <a:latin typeface="Noto Sans KR" panose="020B0200000000000000" pitchFamily="34" charset="-128"/>
                <a:ea typeface="Noto Sans KR" panose="020B0200000000000000" pitchFamily="34" charset="-128"/>
                <a:cs typeface="Open Sans" pitchFamily="34" charset="-120"/>
              </a:rPr>
              <a:t>아닌</a:t>
            </a:r>
            <a:endParaRPr lang="en-US" sz="950" dirty="0">
              <a:latin typeface="Noto Sans KR" panose="020B0200000000000000" pitchFamily="34" charset="-128"/>
              <a:ea typeface="Noto Sans KR" panose="020B0200000000000000" pitchFamily="34" charset="-128"/>
              <a:cs typeface="Open Sans" pitchFamily="34" charset="-120"/>
            </a:endParaRPr>
          </a:p>
          <a:p>
            <a:pPr>
              <a:lnSpc>
                <a:spcPct val="112000"/>
              </a:lnSpc>
            </a:pPr>
            <a:r>
              <a:rPr lang="en-US" altLang="ko-KR" sz="950" dirty="0">
                <a:latin typeface="Noto Sans KR" panose="020B0200000000000000" pitchFamily="34" charset="-128"/>
                <a:ea typeface="Noto Sans KR" panose="020B0200000000000000" pitchFamily="34" charset="-128"/>
                <a:cs typeface="Open Sans" pitchFamily="34" charset="-120"/>
              </a:rPr>
              <a:t>(</a:t>
            </a:r>
            <a:r>
              <a:rPr lang="ko-KR" altLang="en-US" sz="900" dirty="0">
                <a:latin typeface="Noto Sans KR" panose="020B0200000000000000" pitchFamily="34" charset="-128"/>
                <a:ea typeface="Noto Sans KR" panose="020B0200000000000000" pitchFamily="34" charset="-128"/>
                <a:cs typeface="Open Sans SemiBold" pitchFamily="34" charset="-120"/>
              </a:rPr>
              <a:t>이 </a:t>
            </a:r>
            <a:r>
              <a:rPr lang="en-US" sz="900" dirty="0">
                <a:latin typeface="Noto Sans KR" panose="020B0200000000000000" pitchFamily="34" charset="-128"/>
                <a:ea typeface="Noto Sans KR" panose="020B0200000000000000" pitchFamily="34" charset="-128"/>
                <a:cs typeface="Open Sans SemiBold" pitchFamily="34" charset="-120"/>
              </a:rPr>
              <a:t>view</a:t>
            </a:r>
            <a:r>
              <a:rPr lang="ko-KR" altLang="en-US" sz="900" dirty="0">
                <a:latin typeface="Noto Sans KR" panose="020B0200000000000000" pitchFamily="34" charset="-128"/>
                <a:ea typeface="Noto Sans KR" panose="020B0200000000000000" pitchFamily="34" charset="-128"/>
                <a:cs typeface="Open Sans SemiBold" pitchFamily="34" charset="-120"/>
              </a:rPr>
              <a:t>가 얼마나 불확실한지는 사람이 마음대로 정하는 대신</a:t>
            </a:r>
            <a:r>
              <a:rPr lang="en-US" altLang="ko-KR" sz="900" dirty="0">
                <a:latin typeface="Noto Sans KR" panose="020B0200000000000000" pitchFamily="34" charset="-128"/>
                <a:ea typeface="Noto Sans KR" panose="020B0200000000000000" pitchFamily="34" charset="-128"/>
                <a:cs typeface="Open Sans SemiBold" pitchFamily="34" charset="-120"/>
              </a:rPr>
              <a:t>),</a:t>
            </a:r>
          </a:p>
          <a:p>
            <a:pPr>
              <a:lnSpc>
                <a:spcPct val="112000"/>
              </a:lnSpc>
            </a:pPr>
            <a:r>
              <a:rPr lang="en-US" altLang="ko-KR" sz="900" dirty="0">
                <a:latin typeface="Noto Sans KR" panose="020B0200000000000000" pitchFamily="34" charset="-128"/>
                <a:ea typeface="Noto Sans KR" panose="020B0200000000000000" pitchFamily="34" charset="-128"/>
                <a:cs typeface="Open Sans SemiBold" pitchFamily="34" charset="-120"/>
              </a:rPr>
              <a:t> </a:t>
            </a:r>
            <a:r>
              <a:rPr lang="ko-KR" altLang="en-US" sz="900" dirty="0">
                <a:latin typeface="Noto Sans KR" panose="020B0200000000000000" pitchFamily="34" charset="-128"/>
                <a:ea typeface="Noto Sans KR" panose="020B0200000000000000" pitchFamily="34" charset="-128"/>
                <a:cs typeface="Open Sans SemiBold" pitchFamily="34" charset="-120"/>
              </a:rPr>
              <a:t>그 </a:t>
            </a:r>
            <a:r>
              <a:rPr lang="en-US" sz="900" dirty="0">
                <a:latin typeface="Noto Sans KR" panose="020B0200000000000000" pitchFamily="34" charset="-128"/>
                <a:ea typeface="Noto Sans KR" panose="020B0200000000000000" pitchFamily="34" charset="-128"/>
                <a:cs typeface="Open Sans SemiBold" pitchFamily="34" charset="-120"/>
              </a:rPr>
              <a:t>view</a:t>
            </a:r>
            <a:r>
              <a:rPr lang="ko-KR" altLang="en-US" sz="900" dirty="0">
                <a:latin typeface="Noto Sans KR" panose="020B0200000000000000" pitchFamily="34" charset="-128"/>
                <a:ea typeface="Noto Sans KR" panose="020B0200000000000000" pitchFamily="34" charset="-128"/>
                <a:cs typeface="Open Sans SemiBold" pitchFamily="34" charset="-120"/>
              </a:rPr>
              <a:t>가 묶고 있는 종목들이 과거에 얼마나 흔들렸고 서로 얼마나 같이 움직였는지를 보고 정했습니다</a:t>
            </a:r>
            <a:r>
              <a:rPr lang="en-US" altLang="ko-KR" sz="900" dirty="0">
                <a:latin typeface="Noto Sans KR" panose="020B0200000000000000" pitchFamily="34" charset="-128"/>
                <a:ea typeface="Noto Sans KR" panose="020B0200000000000000" pitchFamily="34" charset="-128"/>
                <a:cs typeface="Open Sans SemiBold" pitchFamily="34" charset="-120"/>
              </a:rPr>
              <a:t>.</a:t>
            </a:r>
            <a:endParaRPr lang="en-US" sz="950" dirty="0"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  <p:sp>
        <p:nvSpPr>
          <p:cNvPr id="16" name="Text 15">
            <a:extLst>
              <a:ext uri="{FF2B5EF4-FFF2-40B4-BE49-F238E27FC236}">
                <a16:creationId xmlns:a16="http://schemas.microsoft.com/office/drawing/2014/main" id="{EBE4A541-7843-A52B-0D65-11B51B35B73B}"/>
              </a:ext>
            </a:extLst>
          </p:cNvPr>
          <p:cNvSpPr/>
          <p:nvPr/>
        </p:nvSpPr>
        <p:spPr>
          <a:xfrm>
            <a:off x="4850053" y="3686820"/>
            <a:ext cx="3936206" cy="1769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50" dirty="0">
                <a:latin typeface="Noto Sans KR" panose="020B0200000000000000" pitchFamily="34" charset="-128"/>
                <a:ea typeface="Noto Sans KR" panose="020B0200000000000000" pitchFamily="34" charset="-128"/>
                <a:cs typeface="Montserrat Bold" pitchFamily="34" charset="-120"/>
              </a:rPr>
              <a:t>전략의 지향점</a:t>
            </a:r>
            <a:endParaRPr lang="en-US" sz="1150" dirty="0"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  <p:sp>
        <p:nvSpPr>
          <p:cNvPr id="17" name="Text 16">
            <a:extLst>
              <a:ext uri="{FF2B5EF4-FFF2-40B4-BE49-F238E27FC236}">
                <a16:creationId xmlns:a16="http://schemas.microsoft.com/office/drawing/2014/main" id="{E9D59390-F96C-75EA-A046-DD3B911E0C85}"/>
              </a:ext>
            </a:extLst>
          </p:cNvPr>
          <p:cNvSpPr/>
          <p:nvPr/>
        </p:nvSpPr>
        <p:spPr>
          <a:xfrm>
            <a:off x="4850053" y="3970784"/>
            <a:ext cx="3936206" cy="3156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latin typeface="Noto Sans KR" panose="020B0200000000000000" pitchFamily="34" charset="-128"/>
                <a:ea typeface="Noto Sans KR" panose="020B0200000000000000" pitchFamily="34" charset="-128"/>
                <a:cs typeface="Open Sans" pitchFamily="34" charset="-120"/>
              </a:rPr>
              <a:t>종목을 새로 고르지 않고, </a:t>
            </a:r>
            <a:r>
              <a:rPr lang="en-US" sz="950" dirty="0" err="1">
                <a:latin typeface="Noto Sans KR" panose="020B0200000000000000" pitchFamily="34" charset="-128"/>
                <a:ea typeface="Noto Sans KR" panose="020B0200000000000000" pitchFamily="34" charset="-128"/>
                <a:cs typeface="Open Sans" pitchFamily="34" charset="-120"/>
              </a:rPr>
              <a:t>기존</a:t>
            </a:r>
            <a:r>
              <a:rPr lang="en-US" sz="950" dirty="0">
                <a:latin typeface="Noto Sans KR" panose="020B0200000000000000" pitchFamily="34" charset="-128"/>
                <a:ea typeface="Noto Sans KR" panose="020B0200000000000000" pitchFamily="34" charset="-128"/>
                <a:cs typeface="Open Sans" pitchFamily="34" charset="-120"/>
              </a:rPr>
              <a:t> </a:t>
            </a:r>
            <a:r>
              <a:rPr lang="en-US" altLang="ko-KR" sz="950" dirty="0">
                <a:latin typeface="Noto Sans KR" panose="020B0200000000000000" pitchFamily="34" charset="-128"/>
                <a:ea typeface="Noto Sans KR" panose="020B0200000000000000" pitchFamily="34" charset="-128"/>
                <a:cs typeface="Open Sans" pitchFamily="34" charset="-120"/>
              </a:rPr>
              <a:t>11~</a:t>
            </a:r>
            <a:r>
              <a:rPr lang="en-US" sz="950" dirty="0">
                <a:latin typeface="Noto Sans KR" panose="020B0200000000000000" pitchFamily="34" charset="-128"/>
                <a:ea typeface="Noto Sans KR" panose="020B0200000000000000" pitchFamily="34" charset="-128"/>
                <a:cs typeface="Open Sans" pitchFamily="34" charset="-120"/>
              </a:rPr>
              <a:t>1</a:t>
            </a:r>
            <a:r>
              <a:rPr lang="en-US" altLang="ko-KR" sz="950" dirty="0">
                <a:latin typeface="Noto Sans KR" panose="020B0200000000000000" pitchFamily="34" charset="-128"/>
                <a:ea typeface="Noto Sans KR" panose="020B0200000000000000" pitchFamily="34" charset="-128"/>
                <a:cs typeface="Open Sans" pitchFamily="34" charset="-120"/>
              </a:rPr>
              <a:t>3</a:t>
            </a:r>
            <a:r>
              <a:rPr lang="en-US" sz="950" dirty="0">
                <a:latin typeface="Noto Sans KR" panose="020B0200000000000000" pitchFamily="34" charset="-128"/>
                <a:ea typeface="Noto Sans KR" panose="020B0200000000000000" pitchFamily="34" charset="-128"/>
                <a:cs typeface="Open Sans" pitchFamily="34" charset="-120"/>
              </a:rPr>
              <a:t>개 종목 내에서 </a:t>
            </a:r>
            <a:r>
              <a:rPr lang="en-US" sz="900" dirty="0">
                <a:latin typeface="Noto Sans KR" panose="020B0200000000000000" pitchFamily="34" charset="-128"/>
                <a:ea typeface="Noto Sans KR" panose="020B0200000000000000" pitchFamily="34" charset="-128"/>
                <a:cs typeface="Open Sans SemiBold" pitchFamily="34" charset="-120"/>
              </a:rPr>
              <a:t>비중 조절</a:t>
            </a:r>
            <a:r>
              <a:rPr lang="en-US" sz="950" dirty="0">
                <a:latin typeface="Noto Sans KR" panose="020B0200000000000000" pitchFamily="34" charset="-128"/>
                <a:ea typeface="Noto Sans KR" panose="020B0200000000000000" pitchFamily="34" charset="-128"/>
                <a:cs typeface="Open Sans" pitchFamily="34" charset="-120"/>
              </a:rPr>
              <a:t>만으로 ETF 대비 초과 수익(Alpha)을 창출하는 것을 목표로 합니다.</a:t>
            </a:r>
            <a:endParaRPr lang="en-US" sz="950" dirty="0"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D8BF6B1-06C5-6B46-7416-AC911629CC62}"/>
              </a:ext>
            </a:extLst>
          </p:cNvPr>
          <p:cNvSpPr txBox="1"/>
          <p:nvPr/>
        </p:nvSpPr>
        <p:spPr>
          <a:xfrm>
            <a:off x="3156857" y="1931240"/>
            <a:ext cx="2971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dirty="0"/>
              <a:t>x</a:t>
            </a:r>
            <a:endParaRPr kumimoji="1" lang="ko-KR" alt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5E51664-9AEB-4057-EA29-C468CBD154D6}"/>
              </a:ext>
            </a:extLst>
          </p:cNvPr>
          <p:cNvSpPr txBox="1"/>
          <p:nvPr/>
        </p:nvSpPr>
        <p:spPr>
          <a:xfrm>
            <a:off x="5890022" y="1931240"/>
            <a:ext cx="3607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dirty="0"/>
              <a:t>=</a:t>
            </a:r>
            <a:endParaRPr kumimoji="1" lang="ko-KR" altLang="en-US" dirty="0"/>
          </a:p>
        </p:txBody>
      </p:sp>
      <p:pic>
        <p:nvPicPr>
          <p:cNvPr id="21" name="그림 20">
            <a:extLst>
              <a:ext uri="{FF2B5EF4-FFF2-40B4-BE49-F238E27FC236}">
                <a16:creationId xmlns:a16="http://schemas.microsoft.com/office/drawing/2014/main" id="{37C21E04-F560-645A-6DFF-55BED64F389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02" y="4714129"/>
            <a:ext cx="1085140" cy="353756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993F9F8A-377A-C487-F648-33A7F5E4EF18}"/>
                  </a:ext>
                </a:extLst>
              </p:cNvPr>
              <p:cNvSpPr txBox="1"/>
              <p:nvPr/>
            </p:nvSpPr>
            <p:spPr>
              <a:xfrm>
                <a:off x="5199806" y="1591869"/>
                <a:ext cx="4623693" cy="5539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" altLang="ko-KR" sz="1200" i="1" dirty="0" err="1" smtClean="0"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" altLang="ko-KR" sz="12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" altLang="ko-KR" sz="1200" i="1" dirty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</m:d>
                      <m:r>
                        <m:rPr>
                          <m:lit/>
                        </m:rPr>
                        <a:rPr lang="en" altLang="ko-KR" sz="12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" altLang="ko-KR" sz="1200" i="1" dirty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sepChr m:val="∣"/>
                          <m:ctrlPr>
                            <a:rPr lang="en" altLang="ko-KR" sz="12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" altLang="ko-KR" sz="1200" i="1" dirty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e>
                          <m:r>
                            <a:rPr lang="en" altLang="ko-KR" sz="1200" i="1" dirty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</m:d>
                      <m:r>
                        <a:rPr lang="en" altLang="ko-KR" sz="12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∝</m:t>
                      </m:r>
                      <m:r>
                        <a:rPr lang="en" altLang="ko-KR" sz="1200" i="1" dirty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sepChr m:val="∣"/>
                          <m:ctrlPr>
                            <a:rPr lang="en" altLang="ko-KR" sz="12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" altLang="ko-KR" sz="1200" i="1" dirty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e>
                          <m:r>
                            <a:rPr lang="en" altLang="ko-KR" sz="1200" i="1" dirty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</m:d>
                    </m:oMath>
                  </m:oMathPara>
                </a14:m>
              </a:p>
              <a:p>
                <a:endParaRPr kumimoji="1" lang="ko-KR" altLang="en-US" dirty="0"/>
              </a:p>
            </p:txBody>
          </p:sp>
        </mc:Choice>
        <mc:Fallback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993F9F8A-377A-C487-F648-33A7F5E4EF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99806" y="1591869"/>
                <a:ext cx="4623693" cy="55399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683806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E2589B72-85BF-C042-972E-C338CA072F04}">
  <we:reference id="wa200005566" version="3.0.1.2" store="ko-KR" storeType="OMEX"/>
  <we:alternateReferences>
    <we:reference id="wa200005566" version="3.0.1.2" store="wa200005566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386</TotalTime>
  <Words>635</Words>
  <Application>Microsoft Macintosh PowerPoint</Application>
  <PresentationFormat>화면 슬라이드 쇼(16:9)</PresentationFormat>
  <Paragraphs>91</Paragraphs>
  <Slides>8</Slides>
  <Notes>6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5" baseType="lpstr">
      <vt:lpstr>Noto Sans KR</vt:lpstr>
      <vt:lpstr>Pretendard</vt:lpstr>
      <vt:lpstr>Pretendard Variable Black</vt:lpstr>
      <vt:lpstr>Pretendard Variable Medium</vt:lpstr>
      <vt:lpstr>Arial</vt:lpstr>
      <vt:lpstr>Cambria Math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류지연</cp:lastModifiedBy>
  <cp:revision>12</cp:revision>
  <dcterms:created xsi:type="dcterms:W3CDTF">2026-05-08T06:22:51Z</dcterms:created>
  <dcterms:modified xsi:type="dcterms:W3CDTF">2026-05-08T12:54:12Z</dcterms:modified>
</cp:coreProperties>
</file>