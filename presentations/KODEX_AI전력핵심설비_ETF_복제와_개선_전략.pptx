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1744247"/>
            <a:ext cx="73437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spc="-1" kern="0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KODEX AI전력핵심설비 ETF</a:t>
            </a:r>
            <a:r>
              <a:rPr lang="en-US" sz="3300" b="1" spc="-1" kern="0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3300" b="1" spc="-1" kern="0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복제와 개선 전략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900113" y="2892940"/>
            <a:ext cx="7343775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Black-Litterman 및 He-Litterman 모델을 활용한 포트폴리오 최적화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011216" y="3416219"/>
            <a:ext cx="1121569" cy="289322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발표자: Manus 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827531"/>
            <a:ext cx="82867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프로젝트 목적 및 핵심 메시지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610664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1525" y="1575839"/>
            <a:ext cx="208061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먼저 복제, 그 다음 개선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85775" y="1902665"/>
            <a:ext cx="4057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ETF의 움직임을 완벽히 이해하고 복제한 뒤, 검증된 팩터로 비중을 소폭 개선하여 안정적인 초과 수익을 추구합니다.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80416"/>
            <a:ext cx="175022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6522" y="2445590"/>
            <a:ext cx="151447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기반 검증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85775" y="2772417"/>
            <a:ext cx="4057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FnGuide 컨센서스 및 가격 데이터를 활용하여 다음 달 수익률과의 상관관계(IC)를 분석하고 유효한 지표만 선별합니다.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350168"/>
            <a:ext cx="200025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525" y="3315342"/>
            <a:ext cx="151447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보수적 전략 수립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85775" y="3642168"/>
            <a:ext cx="4057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He-Litterman 모델을 통해 기존 ETF 비중을 존중하면서도, 검증된 뷰를 반영하여 포트폴리오를 최적화합니다.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714875" y="1575839"/>
            <a:ext cx="4057650" cy="2471738"/>
          </a:xfrm>
          <a:prstGeom prst="rect">
            <a:avLst/>
          </a:prstGeom>
          <a:solidFill>
            <a:srgbClr val="E63946">
              <a:alpha val="5000"/>
            </a:srgbClr>
          </a:solidFill>
          <a:ln w="9144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189209" y="1661564"/>
            <a:ext cx="3108954" cy="364331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9"/>
          <p:cNvSpPr/>
          <p:nvPr/>
        </p:nvSpPr>
        <p:spPr>
          <a:xfrm>
            <a:off x="5189209" y="1661564"/>
            <a:ext cx="3108954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1. ETF PDF 복제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941" y="2099118"/>
            <a:ext cx="137517" cy="157163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189209" y="2622398"/>
            <a:ext cx="3108954" cy="364331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1"/>
          <p:cNvSpPr/>
          <p:nvPr/>
        </p:nvSpPr>
        <p:spPr>
          <a:xfrm>
            <a:off x="5189209" y="2622398"/>
            <a:ext cx="3108954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2. Factor IC 검증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941" y="3059953"/>
            <a:ext cx="137517" cy="157163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189209" y="3583232"/>
            <a:ext cx="3108954" cy="364331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3"/>
          <p:cNvSpPr/>
          <p:nvPr/>
        </p:nvSpPr>
        <p:spPr>
          <a:xfrm>
            <a:off x="5189209" y="3583232"/>
            <a:ext cx="3108954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3. He-Litterman 최적화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827531"/>
            <a:ext cx="82867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ETF 복제 및 주요 개념 정의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575839"/>
            <a:ext cx="4057650" cy="13573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85775" y="1575839"/>
            <a:ext cx="4057650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686567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975" y="1661564"/>
            <a:ext cx="180915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PDF 복제 포트폴리오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57225" y="1983032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KRX PDF에서 수집한 실제 ETF 구성종목 및 비중 데이터를 기반으로 구축한 내부 복제 모델입니다.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14875" y="1575839"/>
            <a:ext cx="4057650" cy="13573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1575839"/>
            <a:ext cx="4057650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686567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2075" y="1661564"/>
            <a:ext cx="153769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 (순자산가치)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86325" y="1983032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ETF 1좌당 순자산가치로, 운용사의 공식 추적오차(Tracking Error)를 산출할 때 기준이 되는 핵심 지표입니다.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5775" y="3104601"/>
            <a:ext cx="4057650" cy="13573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85775" y="3104601"/>
            <a:ext cx="4057650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215329"/>
            <a:ext cx="200025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2975" y="3190326"/>
            <a:ext cx="7429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기초지수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57225" y="3511795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iSelect AI전력핵심설비 지수로, 유동시가총액 가중 방식을 사용하며 개별 종목에 20% 비중 캡을 적용합니다.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714875" y="3104601"/>
            <a:ext cx="4057650" cy="13573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714875" y="3104601"/>
            <a:ext cx="4057650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215329"/>
            <a:ext cx="175022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47072" y="3190326"/>
            <a:ext cx="7429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시장가격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86325" y="3511795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장내에서 거래되는 ETF의 실제 종가입니다. 괴리율, 수급 상황, 호가 영향 등으로 인해 NAV와 차이가 발생할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70381"/>
            <a:ext cx="82867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지수 방법론 및 비용 구조 분석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518689"/>
            <a:ext cx="1823442" cy="35540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iSelect 지수 방법론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981247"/>
            <a:ext cx="128588" cy="164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2938" y="1981247"/>
            <a:ext cx="378618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전력설비 관련 기업 대상, </a:t>
            </a:r>
            <a:r>
              <a:rPr lang="en-US" sz="95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NLP 키워드 필터</a:t>
            </a: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및 정성평가로 12</a:t>
            </a: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 선정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488453"/>
            <a:ext cx="128588" cy="1643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2938" y="2488453"/>
            <a:ext cx="378618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유동시가총액 가중 방식</a:t>
            </a: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적용, 개별 종목 비중은 리밸런싱 시점 </a:t>
            </a: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기준 </a:t>
            </a:r>
            <a:r>
              <a:rPr lang="en-US" sz="95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20% 캡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995659"/>
            <a:ext cx="128588" cy="16430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2938" y="2995659"/>
            <a:ext cx="378618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매년 6월, 12월 정기변경 실시. 리밸런싱 이후 주가 변화에 따른 비중 드리프트는 허용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714875" y="1518689"/>
            <a:ext cx="1714500" cy="35540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백테스트 비용 구조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714875" y="2038397"/>
            <a:ext cx="2400300" cy="326827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총보수 및 비용 (연)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7115175" y="2038397"/>
            <a:ext cx="1600200" cy="326827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0.4586%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714875" y="2365223"/>
            <a:ext cx="24003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위탁수수료 (Commission)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7115175" y="2365223"/>
            <a:ext cx="16002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3.0 bp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714875" y="2695622"/>
            <a:ext cx="24003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유관기관제비용 (Agency Fee)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7115175" y="2695622"/>
            <a:ext cx="16002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0.36 bp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14875" y="3026020"/>
            <a:ext cx="24003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매매 슬리피지 (Slippage)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115175" y="3026020"/>
            <a:ext cx="16002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3.0 bp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714875" y="3356418"/>
            <a:ext cx="24003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증권거래세 (2025년 기준)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115175" y="3356418"/>
            <a:ext cx="1600200" cy="330398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15.0 bp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27531"/>
            <a:ext cx="800100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ETF 복제 성과 분석 (공통 날짜 기준)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32222" y="1550836"/>
            <a:ext cx="2694868" cy="305395"/>
          </a:xfrm>
          <a:prstGeom prst="rect">
            <a:avLst/>
          </a:prstGeom>
          <a:solidFill>
            <a:srgbClr val="E63946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2222" y="1550836"/>
            <a:ext cx="2694868" cy="30539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AE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구분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327090" y="1550836"/>
            <a:ext cx="1546873" cy="305395"/>
          </a:xfrm>
          <a:prstGeom prst="rect">
            <a:avLst/>
          </a:prstGeom>
          <a:solidFill>
            <a:srgbClr val="E63946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27090" y="1550836"/>
            <a:ext cx="1546873" cy="30539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AE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누적 수익률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70921" y="1550836"/>
            <a:ext cx="1262518" cy="305395"/>
          </a:xfrm>
          <a:prstGeom prst="rect">
            <a:avLst/>
          </a:prstGeom>
          <a:solidFill>
            <a:srgbClr val="E63946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70921" y="1550836"/>
            <a:ext cx="1262518" cy="305395"/>
          </a:xfrm>
          <a:prstGeom prst="rect">
            <a:avLst/>
          </a:prstGeom>
          <a:noFill/>
          <a:ln/>
        </p:spPr>
        <p:txBody>
          <a:bodyPr wrap="non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AE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샤프 지수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9393" y="1550836"/>
            <a:ext cx="2496685" cy="305395"/>
          </a:xfrm>
          <a:prstGeom prst="rect">
            <a:avLst/>
          </a:prstGeom>
          <a:solidFill>
            <a:srgbClr val="E63946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9393" y="1550836"/>
            <a:ext cx="2496685" cy="30539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AE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추적오차 (vs PDF)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2222" y="1849087"/>
            <a:ext cx="2708067" cy="314325"/>
          </a:xfrm>
          <a:prstGeom prst="rect">
            <a:avLst/>
          </a:prstGeom>
          <a:solidFill>
            <a:srgbClr val="E63946">
              <a:alpha val="10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222" y="1849087"/>
            <a:ext cx="2708067" cy="31432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PDF 복제 (내부 모델)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5964" y="1849087"/>
            <a:ext cx="1542659" cy="310753"/>
          </a:xfrm>
          <a:prstGeom prst="rect">
            <a:avLst/>
          </a:prstGeom>
          <a:solidFill>
            <a:srgbClr val="E63946">
              <a:alpha val="10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5964" y="1849087"/>
            <a:ext cx="1542659" cy="310753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439.56%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75554" y="1849087"/>
            <a:ext cx="1256686" cy="310753"/>
          </a:xfrm>
          <a:prstGeom prst="rect">
            <a:avLst/>
          </a:prstGeom>
          <a:solidFill>
            <a:srgbClr val="E63946">
              <a:alpha val="10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5554" y="1849087"/>
            <a:ext cx="1256686" cy="310753"/>
          </a:xfrm>
          <a:prstGeom prst="rect">
            <a:avLst/>
          </a:prstGeom>
          <a:noFill/>
          <a:ln/>
        </p:spPr>
        <p:txBody>
          <a:bodyPr wrap="non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3.02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32240" y="1849087"/>
            <a:ext cx="2493838" cy="310753"/>
          </a:xfrm>
          <a:prstGeom prst="rect">
            <a:avLst/>
          </a:prstGeom>
          <a:solidFill>
            <a:srgbClr val="E63946">
              <a:alpha val="10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32240" y="1849087"/>
            <a:ext cx="2493838" cy="310753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-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2222" y="2156268"/>
            <a:ext cx="2699417" cy="31432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222" y="2156268"/>
            <a:ext cx="2699417" cy="31432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기초지수 (iSelect)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331639" y="2152697"/>
            <a:ext cx="1543915" cy="31075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31639" y="2152697"/>
            <a:ext cx="1543915" cy="310753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458.42%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875554" y="2152697"/>
            <a:ext cx="1256686" cy="31075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5554" y="2152697"/>
            <a:ext cx="1256686" cy="310753"/>
          </a:xfrm>
          <a:prstGeom prst="rect">
            <a:avLst/>
          </a:prstGeom>
          <a:noFill/>
          <a:ln/>
        </p:spPr>
        <p:txBody>
          <a:bodyPr wrap="non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3.10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32240" y="2152697"/>
            <a:ext cx="2493838" cy="31075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32240" y="2152697"/>
            <a:ext cx="2493838" cy="310753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2.37%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2222" y="2463450"/>
            <a:ext cx="2699417" cy="31432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222" y="2463450"/>
            <a:ext cx="2699417" cy="31432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 (순자산가치)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331639" y="2459878"/>
            <a:ext cx="1543915" cy="31075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31639" y="2459878"/>
            <a:ext cx="1543915" cy="310753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456.72%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75554" y="2459878"/>
            <a:ext cx="1256686" cy="31075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75554" y="2459878"/>
            <a:ext cx="1256686" cy="310753"/>
          </a:xfrm>
          <a:prstGeom prst="rect">
            <a:avLst/>
          </a:prstGeom>
          <a:noFill/>
          <a:ln/>
        </p:spPr>
        <p:txBody>
          <a:bodyPr wrap="non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3.10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32240" y="2459878"/>
            <a:ext cx="2493838" cy="31075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32240" y="2459878"/>
            <a:ext cx="2493838" cy="310753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2.60%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32222" y="2770631"/>
            <a:ext cx="2699417" cy="31432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2222" y="2770631"/>
            <a:ext cx="2699417" cy="314325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ETF 시장가격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3329267" y="2767059"/>
            <a:ext cx="1544613" cy="30718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29267" y="2767059"/>
            <a:ext cx="1544613" cy="307181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461.38%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873879" y="2767059"/>
            <a:ext cx="1257244" cy="30718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73879" y="2767059"/>
            <a:ext cx="1257244" cy="307181"/>
          </a:xfrm>
          <a:prstGeom prst="rect">
            <a:avLst/>
          </a:prstGeom>
          <a:noFill/>
          <a:ln/>
        </p:spPr>
        <p:txBody>
          <a:bodyPr wrap="non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3.14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131123" y="2767059"/>
            <a:ext cx="2494955" cy="30718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31123" y="2767059"/>
            <a:ext cx="2494955" cy="307181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4.44%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28650" y="3217115"/>
            <a:ext cx="39433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복제 정확도 분석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628650" y="3506437"/>
            <a:ext cx="39433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복제 모델과 기초지수 간의 상관관계는 </a:t>
            </a:r>
            <a:r>
              <a:rPr lang="en-US" sz="900" b="1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0.999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로 매우 높으며, 추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적오차는 </a:t>
            </a:r>
            <a:r>
              <a:rPr lang="en-US" sz="900" b="1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2.37%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수준으로 안정적인 복제 성능을 확인했습니다.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4686300" y="3217115"/>
            <a:ext cx="39433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시장가격 괴리 분석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4686300" y="3506437"/>
            <a:ext cx="39433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시장가격의 추적오차(</a:t>
            </a:r>
            <a:r>
              <a:rPr lang="en-US" sz="900" b="1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4.44%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)가 NAV 대비 높게 나타나는데, 이는 장내 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수급 및 괴리율 영향이 반영된 결과로 해석됩니다.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70381"/>
            <a:ext cx="82867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FACTOR 검증: IC 분석 결과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04389"/>
            <a:ext cx="8286750" cy="497160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404389"/>
            <a:ext cx="35719" cy="497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90114"/>
            <a:ext cx="8001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Information Coefficient (IC):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팩터 점수 순위와 다음 달 수익률 순위 간의 상관관계입니다. 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IC &gt; 0이면 예측 방향이 일치함을 의미하며, </a:t>
            </a:r>
            <a:r>
              <a:rPr lang="en-US" sz="900" b="1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Hit Ratio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는 예측이 적중한 달의 비율을 나타냅니다.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8625" y="2044424"/>
            <a:ext cx="4071938" cy="1714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2925" y="2158724"/>
            <a:ext cx="25110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Size &amp; Coverage Factors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2177476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925" y="2467691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 Market Cap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614488" y="2481086"/>
            <a:ext cx="2185988" cy="1285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8"/>
          <p:cNvSpPr/>
          <p:nvPr/>
        </p:nvSpPr>
        <p:spPr>
          <a:xfrm>
            <a:off x="3886200" y="2467691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 0.151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42925" y="2680218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 Coverage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614488" y="2693612"/>
            <a:ext cx="2185988" cy="1285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1"/>
          <p:cNvSpPr/>
          <p:nvPr/>
        </p:nvSpPr>
        <p:spPr>
          <a:xfrm>
            <a:off x="3886200" y="2680218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 0.147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42925" y="2892744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Confidence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614488" y="2906139"/>
            <a:ext cx="2185988" cy="1285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4"/>
          <p:cNvSpPr/>
          <p:nvPr/>
        </p:nvSpPr>
        <p:spPr>
          <a:xfrm>
            <a:off x="3886200" y="2892744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 0.147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42925" y="3183852"/>
            <a:ext cx="8192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Hit Ratio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447893" y="3183852"/>
            <a:ext cx="293836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72.7% (High Consistency)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643438" y="2044424"/>
            <a:ext cx="4071938" cy="1714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757738" y="2158724"/>
            <a:ext cx="20574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Consensus Factors</a:t>
            </a:r>
            <a:endParaRPr lang="en-US" sz="12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63" y="2177476"/>
            <a:ext cx="214313" cy="171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7738" y="2467691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 Total Count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829300" y="2481086"/>
            <a:ext cx="2185988" cy="1285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1"/>
          <p:cNvSpPr/>
          <p:nvPr/>
        </p:nvSpPr>
        <p:spPr>
          <a:xfrm>
            <a:off x="8101013" y="2467691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 0.150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757738" y="2680218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Total Count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829300" y="2693612"/>
            <a:ext cx="2185988" cy="1285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4"/>
          <p:cNvSpPr/>
          <p:nvPr/>
        </p:nvSpPr>
        <p:spPr>
          <a:xfrm>
            <a:off x="8101013" y="2680218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 0.149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757738" y="2892744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FY1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829300" y="2906139"/>
            <a:ext cx="2185988" cy="1285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Text 27"/>
          <p:cNvSpPr/>
          <p:nvPr/>
        </p:nvSpPr>
        <p:spPr>
          <a:xfrm>
            <a:off x="8101013" y="2892744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 0.142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4757738" y="3183852"/>
            <a:ext cx="8192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Hit Ratio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662706" y="3183852"/>
            <a:ext cx="293836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68.2% (Strong Signal)</a:t>
            </a:r>
            <a:endParaRPr lang="en-US" sz="8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542" y="3901799"/>
            <a:ext cx="107156" cy="14287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587698" y="3873224"/>
            <a:ext cx="6075759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단순 EPS 레벨보다 성장성(Forward EPS) 및 시장 관심도 지표가 수익률과 높은 상관관계를 보임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827531"/>
            <a:ext cx="82867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SELECTED HE-LITTERMAN 전략 개요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504401"/>
            <a:ext cx="2521744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85775" y="1504401"/>
            <a:ext cx="2521744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72" y="1606200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931240"/>
            <a:ext cx="235029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Prior (균형 비중)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220562"/>
            <a:ext cx="23502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실제 </a:t>
            </a:r>
            <a:r>
              <a:rPr lang="en-US" sz="85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ETF/PDF 비중</a:t>
            </a:r>
            <a:r>
              <a:rPr lang="en-US" sz="9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을 기준점으로 설정하여 </a:t>
            </a:r>
            <a:r>
              <a:rPr lang="en-US" sz="9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벤치마크 이탈을 최소화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244" y="1885699"/>
            <a:ext cx="189309" cy="214313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368278" y="1504401"/>
            <a:ext cx="2521744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3368278" y="1504401"/>
            <a:ext cx="2521744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1606200"/>
            <a:ext cx="257175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54003" y="1931240"/>
            <a:ext cx="23502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Investor View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454003" y="2197345"/>
            <a:ext cx="23502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IC로 검증된 팩터</a:t>
            </a:r>
            <a:r>
              <a:rPr lang="en-US" sz="9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를 투자 의견으로 반영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47" y="1885699"/>
            <a:ext cx="189309" cy="214313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250781" y="1504401"/>
            <a:ext cx="2521744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6250781" y="1504401"/>
            <a:ext cx="2521744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066" y="1606200"/>
            <a:ext cx="257175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336506" y="1931240"/>
            <a:ext cx="235029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Posterior (최종 비중)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336506" y="2220562"/>
            <a:ext cx="23502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균형 비중과 투자자 뷰를 결합하여 산출된 </a:t>
            </a:r>
            <a:r>
              <a:rPr lang="en-US" sz="85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최적화 포트폴리오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628650" y="2718839"/>
            <a:ext cx="39362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He-Litterman 방식의 특징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628650" y="3002803"/>
            <a:ext cx="39362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View의 불확실성(Omega)을 임의의 숫자가 아닌,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View Portfolio의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Prior Variance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에서 직접 계산하여 모델의 객관성을 확보합니다.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4836319" y="2718839"/>
            <a:ext cx="39362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전략의 지향점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4836319" y="3002803"/>
            <a:ext cx="39362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종목을 새로 고르지 않고, 기존 12개 종목 내에서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비중 조절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만으로 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ETF 대비 초과 수익(Alpha)을 창출하는 것을 목표로 합니다.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827531"/>
            <a:ext cx="82867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모델 파라미터 및 제약 조건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575839"/>
            <a:ext cx="4071938" cy="2286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85775" y="1575839"/>
            <a:ext cx="4071938" cy="28575"/>
          </a:xfrm>
          <a:prstGeom prst="rect">
            <a:avLst/>
          </a:prstGeom>
          <a:solidFill>
            <a:srgbClr val="A8DAD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1696389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1538" y="1661564"/>
            <a:ext cx="17145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핵심 모델 파라미터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85788" y="2077687"/>
            <a:ext cx="14412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Black-Litterman Tau (τ)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113014" y="2074115"/>
            <a:ext cx="3446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0.05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85788" y="2404514"/>
            <a:ext cx="1403747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Aversion Delta (δ)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248745" y="2400942"/>
            <a:ext cx="2089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1.0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85788" y="2731340"/>
            <a:ext cx="1337667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Covariance Lookback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48683" y="2727768"/>
            <a:ext cx="70901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Days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85788" y="3058167"/>
            <a:ext cx="121979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Diagonal Shrinkage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120158" y="3054595"/>
            <a:ext cx="33754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20%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0588" y="1575839"/>
            <a:ext cx="4071938" cy="2286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700588" y="1575839"/>
            <a:ext cx="4071938" cy="28575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96389"/>
            <a:ext cx="200025" cy="2000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6350" y="1661564"/>
            <a:ext cx="131445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운용 제약 조건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800600" y="2077687"/>
            <a:ext cx="13787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Active Limit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09942" y="2074115"/>
            <a:ext cx="56257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±3.5%p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00600" y="2404514"/>
            <a:ext cx="139838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Max Weight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190309" y="2400942"/>
            <a:ext cx="48220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30.0%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800600" y="2731340"/>
            <a:ext cx="152161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One-way Turnover Limit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529513" y="2727768"/>
            <a:ext cx="11430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10.0% / Month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00600" y="3058167"/>
            <a:ext cx="146625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Rebalancing Frequency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992070" y="3054595"/>
            <a:ext cx="68044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Monthly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85775" y="3861839"/>
            <a:ext cx="8286750" cy="26610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AEE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모든 파라미터는 ETF 기존 비중을 존중하며 보수적으로 설정되었습니다.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27531"/>
            <a:ext cx="800100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최종 전략 성과 비교 (SELECTED HL VS PDF)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390101"/>
            <a:ext cx="2619356" cy="985838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390101"/>
            <a:ext cx="2619356" cy="285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432964"/>
            <a:ext cx="261935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누적 수익률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8650" y="1697282"/>
            <a:ext cx="2619356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518.27%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28650" y="2209847"/>
            <a:ext cx="2619356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대비 </a:t>
            </a:r>
            <a:r>
              <a:rPr lang="en-US" sz="900" b="1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+33.30%p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19444" y="1390101"/>
            <a:ext cx="2619384" cy="985838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19444" y="1390101"/>
            <a:ext cx="2619384" cy="285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8"/>
          <p:cNvSpPr/>
          <p:nvPr/>
        </p:nvSpPr>
        <p:spPr>
          <a:xfrm>
            <a:off x="3319444" y="1432964"/>
            <a:ext cx="261938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샤프 지수 (Sharpe)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19444" y="1697282"/>
            <a:ext cx="2619384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3.39</a:t>
            </a:r>
            <a:endParaRPr lang="en-US" sz="2750" dirty="0"/>
          </a:p>
        </p:txBody>
      </p:sp>
      <p:sp>
        <p:nvSpPr>
          <p:cNvPr id="13" name="Text 10"/>
          <p:cNvSpPr/>
          <p:nvPr/>
        </p:nvSpPr>
        <p:spPr>
          <a:xfrm>
            <a:off x="3319444" y="2209847"/>
            <a:ext cx="2619384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위험 대비 수익성 개선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10266" y="1390101"/>
            <a:ext cx="2619356" cy="985838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010266" y="1390101"/>
            <a:ext cx="2619356" cy="285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3"/>
          <p:cNvSpPr/>
          <p:nvPr/>
        </p:nvSpPr>
        <p:spPr>
          <a:xfrm>
            <a:off x="6010266" y="1432964"/>
            <a:ext cx="261935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정보 비율 (IR)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10266" y="1697282"/>
            <a:ext cx="2619356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0.86</a:t>
            </a:r>
            <a:endParaRPr lang="en-US" sz="2750" dirty="0"/>
          </a:p>
        </p:txBody>
      </p:sp>
      <p:sp>
        <p:nvSpPr>
          <p:cNvPr id="18" name="Text 15"/>
          <p:cNvSpPr/>
          <p:nvPr/>
        </p:nvSpPr>
        <p:spPr>
          <a:xfrm>
            <a:off x="6010266" y="2209847"/>
            <a:ext cx="2619356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안정적 초과 수익 창출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8650" y="2418801"/>
            <a:ext cx="3141883" cy="3536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650" y="2758129"/>
            <a:ext cx="3141883" cy="142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8"/>
          <p:cNvSpPr/>
          <p:nvPr/>
        </p:nvSpPr>
        <p:spPr>
          <a:xfrm>
            <a:off x="628650" y="2418801"/>
            <a:ext cx="3141883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성과 지표 (Performance Metrics)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70533" y="2418801"/>
            <a:ext cx="1333119" cy="3536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Shape 20"/>
          <p:cNvSpPr/>
          <p:nvPr/>
        </p:nvSpPr>
        <p:spPr>
          <a:xfrm>
            <a:off x="3770533" y="2758129"/>
            <a:ext cx="1333119" cy="142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1"/>
          <p:cNvSpPr/>
          <p:nvPr/>
        </p:nvSpPr>
        <p:spPr>
          <a:xfrm>
            <a:off x="3770533" y="2418801"/>
            <a:ext cx="1333119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PDF 복제 모델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03651" y="2418801"/>
            <a:ext cx="2112457" cy="3536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5103651" y="2758129"/>
            <a:ext cx="2112457" cy="142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4"/>
          <p:cNvSpPr/>
          <p:nvPr/>
        </p:nvSpPr>
        <p:spPr>
          <a:xfrm>
            <a:off x="5103651" y="2418801"/>
            <a:ext cx="2112457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Selected He-Litterman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16108" y="2418801"/>
            <a:ext cx="1413542" cy="3536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Shape 26"/>
          <p:cNvSpPr/>
          <p:nvPr/>
        </p:nvSpPr>
        <p:spPr>
          <a:xfrm>
            <a:off x="7216108" y="2758129"/>
            <a:ext cx="1413542" cy="142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7"/>
          <p:cNvSpPr/>
          <p:nvPr/>
        </p:nvSpPr>
        <p:spPr>
          <a:xfrm>
            <a:off x="7216108" y="2418801"/>
            <a:ext cx="1413542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개선 효과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8650" y="2765273"/>
            <a:ext cx="3141883" cy="35004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연율화 수익률 (Annualized Return)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770533" y="2765273"/>
            <a:ext cx="1333119" cy="35004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162.58%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103651" y="2765273"/>
            <a:ext cx="2112457" cy="35004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183.21%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16108" y="2765273"/>
            <a:ext cx="1413542" cy="35004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+20.63%p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8650" y="3115317"/>
            <a:ext cx="3141883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연율화 변동성 (Annualized Volatility)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770533" y="3115317"/>
            <a:ext cx="1333119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53.83%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103651" y="3115317"/>
            <a:ext cx="2112457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54.10%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216108" y="3115317"/>
            <a:ext cx="1413542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+0.27%p (유사)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28650" y="3468932"/>
            <a:ext cx="3141883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최대 낙폭 (MDD)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770533" y="3468932"/>
            <a:ext cx="1333119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-36.67%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103651" y="3468932"/>
            <a:ext cx="2112457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-36.84%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216108" y="3468932"/>
            <a:ext cx="1413542" cy="353616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-0.17%p (유사)</a:t>
            </a:r>
            <a:endParaRPr lang="en-US" sz="105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933276"/>
            <a:ext cx="128588" cy="157163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42963" y="3933276"/>
            <a:ext cx="7786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He-Litterman 전략은 기존 PDF 복제 모델과 유사한 위험 수준을 유지하면서도, </a:t>
            </a:r>
            <a:r>
              <a:rPr lang="en-US" sz="900" b="1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연율화 수익률을 약 20%p 이상 개선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하는 탁월한 </a:t>
            </a:r>
            <a:r>
              <a:rPr lang="en-US" sz="950" dirty="0">
                <a:solidFill>
                  <a:srgbClr val="F1FA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성과를 보였습니다. 이는 IC 검증을 통한 유효 팩터 선별과 보수적인 비중 최적화가 결합된 결과입니다.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27531"/>
            <a:ext cx="800100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394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결론 및 시사점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53539"/>
            <a:ext cx="225028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0834" y="1718714"/>
            <a:ext cx="85725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주요 결론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28650" y="2102690"/>
            <a:ext cx="3914775" cy="7929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28650" y="2102690"/>
            <a:ext cx="28575" cy="79295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4"/>
          <p:cNvSpPr/>
          <p:nvPr/>
        </p:nvSpPr>
        <p:spPr>
          <a:xfrm>
            <a:off x="771525" y="2159840"/>
            <a:ext cx="362902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복제의 정교화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1525" y="2452734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정확한 벤치마크 복제가 선행되어야 신뢰할 수 있는 개선 전략 수립이 가능함을 입증하였습니다.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28650" y="2981372"/>
            <a:ext cx="3914775" cy="7929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28650" y="2981372"/>
            <a:ext cx="28575" cy="79295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8"/>
          <p:cNvSpPr/>
          <p:nvPr/>
        </p:nvSpPr>
        <p:spPr>
          <a:xfrm>
            <a:off x="771525" y="3038522"/>
            <a:ext cx="362902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유효 팩터 선별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71525" y="3331415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IC 검증을 통과한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성장성 및 시장 관심도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지표만을 선별 적용하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여 모델의 강건성을 확보하였습니다.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8650" y="3860053"/>
            <a:ext cx="3914775" cy="7929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8650" y="3860053"/>
            <a:ext cx="28575" cy="79295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2"/>
          <p:cNvSpPr/>
          <p:nvPr/>
        </p:nvSpPr>
        <p:spPr>
          <a:xfrm>
            <a:off x="771525" y="3917203"/>
            <a:ext cx="362902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합리적 최적화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71525" y="4210097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He-Litterman 모델을 통해 투자자 뷰와 통계적 불확실성을 결합한 합리적 비중을 도출하였습니다.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753539"/>
            <a:ext cx="200025" cy="2000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2056" y="1718714"/>
            <a:ext cx="131445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향후 개선 과제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714875" y="2102690"/>
            <a:ext cx="3914775" cy="1857375"/>
          </a:xfrm>
          <a:prstGeom prst="rect">
            <a:avLst/>
          </a:prstGeom>
          <a:solidFill>
            <a:srgbClr val="A8DADC">
              <a:alpha val="5000"/>
            </a:srgbClr>
          </a:solidFill>
          <a:ln w="9144">
            <a:solidFill>
              <a:srgbClr val="A8DADC"/>
            </a:solidFill>
            <a:prstDash val="dash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188415"/>
            <a:ext cx="100013" cy="1500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43488" y="2188415"/>
            <a:ext cx="3443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유상증자, 합병 등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기업 이벤트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의 정교한 반영을 통한 복제 오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차 추가 감소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659903"/>
            <a:ext cx="100013" cy="15001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43488" y="2659903"/>
            <a:ext cx="3443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다양한 거시경제 지표 및 대체 데이터를 활용한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추가 팩터 발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굴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및 검증</a:t>
            </a:r>
            <a:endParaRPr lang="en-US" sz="9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3131390"/>
            <a:ext cx="100013" cy="15001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43488" y="3131390"/>
            <a:ext cx="33914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시장 상황에 따른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동적 파라미터(Tau, Delta)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조정 로직 검토</a:t>
            </a:r>
            <a:endParaRPr lang="en-US" sz="9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409997"/>
            <a:ext cx="100013" cy="15001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43488" y="3409997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거래 비용 및 슬리피지 최소화를 위한 </a:t>
            </a:r>
            <a:r>
              <a:rPr lang="en-US" sz="900" dirty="0">
                <a:solidFill>
                  <a:srgbClr val="E6394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실행 알고리즘</a:t>
            </a:r>
            <a:r>
              <a:rPr lang="en-US" sz="950" dirty="0">
                <a:solidFill>
                  <a:srgbClr val="F1FAE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고도화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2026-05-08T06:06:28Z</dcterms:created>
  <dcterms:modified xsi:type="dcterms:W3CDTF">2026-05-08T06:06:28Z</dcterms:modified>
</cp:coreProperties>
</file>